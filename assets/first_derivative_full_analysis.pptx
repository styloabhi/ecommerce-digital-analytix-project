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sldIdLst>
    <p:sldId id="1119" r:id="rId2"/>
    <p:sldId id="1496" r:id="rId3"/>
    <p:sldId id="1497" r:id="rId4"/>
    <p:sldId id="1505" r:id="rId5"/>
    <p:sldId id="1509" r:id="rId6"/>
    <p:sldId id="1525" r:id="rId7"/>
    <p:sldId id="1747" r:id="rId8"/>
    <p:sldId id="1748" r:id="rId9"/>
    <p:sldId id="1749" r:id="rId10"/>
    <p:sldId id="1513" r:id="rId11"/>
    <p:sldId id="1503" r:id="rId12"/>
    <p:sldId id="1504" r:id="rId13"/>
    <p:sldId id="1508" r:id="rId14"/>
    <p:sldId id="1750" r:id="rId15"/>
    <p:sldId id="1736" r:id="rId16"/>
    <p:sldId id="1752" r:id="rId17"/>
    <p:sldId id="1751" r:id="rId18"/>
    <p:sldId id="1754" r:id="rId19"/>
    <p:sldId id="1755" r:id="rId20"/>
    <p:sldId id="1756" r:id="rId21"/>
    <p:sldId id="1757" r:id="rId22"/>
    <p:sldId id="1758" r:id="rId23"/>
    <p:sldId id="1759" r:id="rId24"/>
    <p:sldId id="1764" r:id="rId25"/>
    <p:sldId id="1765" r:id="rId26"/>
    <p:sldId id="1644" r:id="rId27"/>
    <p:sldId id="1772" r:id="rId28"/>
    <p:sldId id="1773" r:id="rId29"/>
    <p:sldId id="1753" r:id="rId30"/>
    <p:sldId id="1501" r:id="rId31"/>
    <p:sldId id="1744" r:id="rId32"/>
    <p:sldId id="1745" r:id="rId33"/>
    <p:sldId id="1746" r:id="rId34"/>
    <p:sldId id="1715" r:id="rId35"/>
    <p:sldId id="1554" r:id="rId36"/>
    <p:sldId id="1766" r:id="rId37"/>
    <p:sldId id="1767" r:id="rId38"/>
    <p:sldId id="1770" r:id="rId39"/>
    <p:sldId id="1768" r:id="rId40"/>
    <p:sldId id="1769" r:id="rId41"/>
    <p:sldId id="1780" r:id="rId42"/>
    <p:sldId id="1781" r:id="rId43"/>
    <p:sldId id="1782" r:id="rId44"/>
    <p:sldId id="1783" r:id="rId45"/>
    <p:sldId id="1784" r:id="rId46"/>
    <p:sldId id="1790" r:id="rId47"/>
    <p:sldId id="1791" r:id="rId48"/>
    <p:sldId id="1792" r:id="rId49"/>
    <p:sldId id="1793" r:id="rId50"/>
    <p:sldId id="1794" r:id="rId51"/>
    <p:sldId id="1795" r:id="rId52"/>
    <p:sldId id="1796" r:id="rId53"/>
    <p:sldId id="1797" r:id="rId54"/>
    <p:sldId id="1798" r:id="rId55"/>
    <p:sldId id="301"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DB7D5F8-F8D4-4CA5-BA8B-7323F58F9366}">
          <p14:sldIdLst>
            <p14:sldId id="1119"/>
            <p14:sldId id="1496"/>
            <p14:sldId id="1497"/>
            <p14:sldId id="1505"/>
            <p14:sldId id="1509"/>
            <p14:sldId id="1525"/>
            <p14:sldId id="1747"/>
            <p14:sldId id="1748"/>
            <p14:sldId id="1749"/>
            <p14:sldId id="1513"/>
            <p14:sldId id="1503"/>
            <p14:sldId id="1504"/>
            <p14:sldId id="1508"/>
            <p14:sldId id="1750"/>
            <p14:sldId id="1736"/>
            <p14:sldId id="1752"/>
            <p14:sldId id="1751"/>
            <p14:sldId id="1754"/>
            <p14:sldId id="1755"/>
            <p14:sldId id="1756"/>
            <p14:sldId id="1757"/>
            <p14:sldId id="1758"/>
            <p14:sldId id="1759"/>
            <p14:sldId id="1764"/>
            <p14:sldId id="1765"/>
            <p14:sldId id="1644"/>
            <p14:sldId id="1772"/>
            <p14:sldId id="1773"/>
            <p14:sldId id="1753"/>
            <p14:sldId id="1501"/>
            <p14:sldId id="1744"/>
            <p14:sldId id="1745"/>
            <p14:sldId id="1746"/>
            <p14:sldId id="1715"/>
            <p14:sldId id="1554"/>
            <p14:sldId id="1766"/>
            <p14:sldId id="1767"/>
            <p14:sldId id="1770"/>
            <p14:sldId id="1768"/>
            <p14:sldId id="1769"/>
            <p14:sldId id="1780"/>
            <p14:sldId id="1781"/>
            <p14:sldId id="1782"/>
            <p14:sldId id="1783"/>
            <p14:sldId id="1784"/>
            <p14:sldId id="1790"/>
            <p14:sldId id="1791"/>
            <p14:sldId id="1792"/>
            <p14:sldId id="1793"/>
            <p14:sldId id="1794"/>
            <p14:sldId id="1795"/>
            <p14:sldId id="1796"/>
            <p14:sldId id="1797"/>
            <p14:sldId id="1798"/>
            <p14:sldId id="301"/>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mol" initials="A" lastIdx="4" clrIdx="0">
    <p:extLst>
      <p:ext uri="{19B8F6BF-5375-455C-9EA6-DF929625EA0E}">
        <p15:presenceInfo xmlns:p15="http://schemas.microsoft.com/office/powerpoint/2012/main" userId="Anmo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9900"/>
    <a:srgbClr val="E0C1FF"/>
    <a:srgbClr val="FF99FF"/>
    <a:srgbClr val="000000"/>
    <a:srgbClr val="CC0066"/>
    <a:srgbClr val="2CB22F"/>
    <a:srgbClr val="DCE4D6"/>
    <a:srgbClr val="6699FF"/>
    <a:srgbClr val="996600"/>
    <a:srgbClr val="DEC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49" autoAdjust="0"/>
    <p:restoredTop sz="95529" autoAdjust="0"/>
  </p:normalViewPr>
  <p:slideViewPr>
    <p:cSldViewPr snapToGrid="0">
      <p:cViewPr varScale="1">
        <p:scale>
          <a:sx n="91" d="100"/>
          <a:sy n="91" d="100"/>
        </p:scale>
        <p:origin x="31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5813B3-6425-4A6D-806E-021B84DD5758}" type="datetimeFigureOut">
              <a:rPr lang="en-IN" smtClean="0"/>
              <a:t>12-03-2026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193CE8-3B10-43B2-8860-AFD8154600F8}" type="slidenum">
              <a:rPr lang="en-IN" smtClean="0"/>
              <a:t>‹#›</a:t>
            </a:fld>
            <a:endParaRPr lang="en-IN"/>
          </a:p>
        </p:txBody>
      </p:sp>
    </p:spTree>
    <p:extLst>
      <p:ext uri="{BB962C8B-B14F-4D97-AF65-F5344CB8AC3E}">
        <p14:creationId xmlns:p14="http://schemas.microsoft.com/office/powerpoint/2010/main" val="730557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10843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93CE8-3B10-43B2-8860-AFD8154600F8}" type="slidenum">
              <a:rPr lang="en-IN" smtClean="0"/>
              <a:t>26</a:t>
            </a:fld>
            <a:endParaRPr lang="en-IN"/>
          </a:p>
        </p:txBody>
      </p:sp>
    </p:spTree>
    <p:extLst>
      <p:ext uri="{BB962C8B-B14F-4D97-AF65-F5344CB8AC3E}">
        <p14:creationId xmlns:p14="http://schemas.microsoft.com/office/powerpoint/2010/main" val="3306056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D5042-D135-57E4-9976-32F36CE81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671999-E252-2E5F-4A3B-B7C23550B02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F938776-4576-0B75-C92B-DA4CD4258C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F280DCA-28BA-2686-15B9-CC2733015ABC}"/>
              </a:ext>
            </a:extLst>
          </p:cNvPr>
          <p:cNvSpPr>
            <a:spLocks noGrp="1"/>
          </p:cNvSpPr>
          <p:nvPr>
            <p:ph type="sldNum" sz="quarter" idx="5"/>
          </p:nvPr>
        </p:nvSpPr>
        <p:spPr/>
        <p:txBody>
          <a:bodyPr/>
          <a:lstStyle/>
          <a:p>
            <a:fld id="{87193CE8-3B10-43B2-8860-AFD8154600F8}" type="slidenum">
              <a:rPr lang="en-IN" smtClean="0"/>
              <a:t>27</a:t>
            </a:fld>
            <a:endParaRPr lang="en-IN"/>
          </a:p>
        </p:txBody>
      </p:sp>
    </p:spTree>
    <p:extLst>
      <p:ext uri="{BB962C8B-B14F-4D97-AF65-F5344CB8AC3E}">
        <p14:creationId xmlns:p14="http://schemas.microsoft.com/office/powerpoint/2010/main" val="973052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18380-3091-7B5C-E0E0-8A92E3F14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7BC79A-5C2B-8569-08D8-B0CCC0DF38A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1A740F6-7BCA-0C4C-AF82-930D1F21AB2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E53E6E1-B47F-0706-65A8-D9B0CDC79830}"/>
              </a:ext>
            </a:extLst>
          </p:cNvPr>
          <p:cNvSpPr>
            <a:spLocks noGrp="1"/>
          </p:cNvSpPr>
          <p:nvPr>
            <p:ph type="sldNum" sz="quarter" idx="5"/>
          </p:nvPr>
        </p:nvSpPr>
        <p:spPr/>
        <p:txBody>
          <a:bodyPr/>
          <a:lstStyle/>
          <a:p>
            <a:fld id="{87193CE8-3B10-43B2-8860-AFD8154600F8}" type="slidenum">
              <a:rPr lang="en-IN" smtClean="0"/>
              <a:t>28</a:t>
            </a:fld>
            <a:endParaRPr lang="en-IN"/>
          </a:p>
        </p:txBody>
      </p:sp>
    </p:spTree>
    <p:extLst>
      <p:ext uri="{BB962C8B-B14F-4D97-AF65-F5344CB8AC3E}">
        <p14:creationId xmlns:p14="http://schemas.microsoft.com/office/powerpoint/2010/main" val="2899641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6" name="Google Shape;1206;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8655428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caletrix Title Page">
    <p:spTree>
      <p:nvGrpSpPr>
        <p:cNvPr id="1" name=""/>
        <p:cNvGrpSpPr/>
        <p:nvPr/>
      </p:nvGrpSpPr>
      <p:grpSpPr>
        <a:xfrm>
          <a:off x="0" y="0"/>
          <a:ext cx="0" cy="0"/>
          <a:chOff x="0" y="0"/>
          <a:chExt cx="0" cy="0"/>
        </a:xfrm>
      </p:grpSpPr>
      <p:sp>
        <p:nvSpPr>
          <p:cNvPr id="2" name="Google Shape;22;p3">
            <a:extLst>
              <a:ext uri="{FF2B5EF4-FFF2-40B4-BE49-F238E27FC236}">
                <a16:creationId xmlns:a16="http://schemas.microsoft.com/office/drawing/2014/main" id="{2F306997-3B2B-2B65-053F-A3D89D2F2DA0}"/>
              </a:ext>
            </a:extLst>
          </p:cNvPr>
          <p:cNvSpPr/>
          <p:nvPr userDrawn="1"/>
        </p:nvSpPr>
        <p:spPr>
          <a:xfrm>
            <a:off x="-67" y="0"/>
            <a:ext cx="12192000" cy="6327976"/>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pic>
        <p:nvPicPr>
          <p:cNvPr id="3" name="Picture 2">
            <a:extLst>
              <a:ext uri="{FF2B5EF4-FFF2-40B4-BE49-F238E27FC236}">
                <a16:creationId xmlns:a16="http://schemas.microsoft.com/office/drawing/2014/main" id="{03AD558F-750C-7F7A-EF36-7477B28E6647}"/>
              </a:ext>
            </a:extLst>
          </p:cNvPr>
          <p:cNvPicPr>
            <a:picLocks noChangeAspect="1"/>
          </p:cNvPicPr>
          <p:nvPr userDrawn="1"/>
        </p:nvPicPr>
        <p:blipFill rotWithShape="1">
          <a:blip r:embed="rId2"/>
          <a:srcRect r="5636" b="4250"/>
          <a:stretch/>
        </p:blipFill>
        <p:spPr>
          <a:xfrm flipH="1">
            <a:off x="937527" y="1260005"/>
            <a:ext cx="5091797" cy="4486363"/>
          </a:xfrm>
          <a:prstGeom prst="rect">
            <a:avLst/>
          </a:prstGeom>
        </p:spPr>
      </p:pic>
      <p:sp>
        <p:nvSpPr>
          <p:cNvPr id="10" name="Rectangle 9">
            <a:extLst>
              <a:ext uri="{FF2B5EF4-FFF2-40B4-BE49-F238E27FC236}">
                <a16:creationId xmlns:a16="http://schemas.microsoft.com/office/drawing/2014/main" id="{41D13BBF-8BF9-58E8-2D48-8C25E8436E1D}"/>
              </a:ext>
            </a:extLst>
          </p:cNvPr>
          <p:cNvSpPr/>
          <p:nvPr userDrawn="1"/>
        </p:nvSpPr>
        <p:spPr>
          <a:xfrm>
            <a:off x="0" y="0"/>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12" name="Google Shape;37;p60">
            <a:extLst>
              <a:ext uri="{FF2B5EF4-FFF2-40B4-BE49-F238E27FC236}">
                <a16:creationId xmlns:a16="http://schemas.microsoft.com/office/drawing/2014/main" id="{E6481E89-02DE-7518-CF7A-DC982067B7A2}"/>
              </a:ext>
            </a:extLst>
          </p:cNvPr>
          <p:cNvSpPr txBox="1">
            <a:spLocks noGrp="1"/>
          </p:cNvSpPr>
          <p:nvPr>
            <p:ph type="subTitle" idx="1"/>
          </p:nvPr>
        </p:nvSpPr>
        <p:spPr>
          <a:xfrm>
            <a:off x="6279060" y="2107188"/>
            <a:ext cx="545574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endParaRPr/>
          </a:p>
        </p:txBody>
      </p:sp>
    </p:spTree>
    <p:extLst>
      <p:ext uri="{BB962C8B-B14F-4D97-AF65-F5344CB8AC3E}">
        <p14:creationId xmlns:p14="http://schemas.microsoft.com/office/powerpoint/2010/main" val="3918365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1"/>
        <p:cNvGrpSpPr/>
        <p:nvPr/>
      </p:nvGrpSpPr>
      <p:grpSpPr>
        <a:xfrm>
          <a:off x="0" y="0"/>
          <a:ext cx="0" cy="0"/>
          <a:chOff x="0" y="0"/>
          <a:chExt cx="0" cy="0"/>
        </a:xfrm>
      </p:grpSpPr>
      <p:sp>
        <p:nvSpPr>
          <p:cNvPr id="23" name="Google Shape;23;p3"/>
          <p:cNvSpPr txBox="1">
            <a:spLocks noGrp="1"/>
          </p:cNvSpPr>
          <p:nvPr>
            <p:ph type="title"/>
          </p:nvPr>
        </p:nvSpPr>
        <p:spPr>
          <a:xfrm>
            <a:off x="415600" y="4289085"/>
            <a:ext cx="11428400" cy="1256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atin typeface="Raleway" pitchFamily="2" charset="0"/>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dirty="0"/>
          </a:p>
        </p:txBody>
      </p:sp>
      <p:sp>
        <p:nvSpPr>
          <p:cNvPr id="2" name="Google Shape;8;p1">
            <a:extLst>
              <a:ext uri="{FF2B5EF4-FFF2-40B4-BE49-F238E27FC236}">
                <a16:creationId xmlns:a16="http://schemas.microsoft.com/office/drawing/2014/main" id="{9DF37ADA-1D1E-F64E-723D-3F6E9A12009A}"/>
              </a:ext>
            </a:extLst>
          </p:cNvPr>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rmAutofit/>
          </a:bodyPr>
          <a:lstStyle>
            <a:lvl1pPr lvl="0" algn="r">
              <a:buNone/>
              <a:defRPr sz="1333">
                <a:solidFill>
                  <a:schemeClr val="bg1"/>
                </a:solidFill>
                <a:latin typeface="Raleway" pitchFamily="2" charset="0"/>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3313620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1"/>
        <p:cNvGrpSpPr/>
        <p:nvPr/>
      </p:nvGrpSpPr>
      <p:grpSpPr>
        <a:xfrm>
          <a:off x="0" y="0"/>
          <a:ext cx="0" cy="0"/>
          <a:chOff x="0" y="0"/>
          <a:chExt cx="0" cy="0"/>
        </a:xfrm>
      </p:grpSpPr>
      <p:sp>
        <p:nvSpPr>
          <p:cNvPr id="62" name="Google Shape;62;p10"/>
          <p:cNvSpPr txBox="1">
            <a:spLocks noGrp="1"/>
          </p:cNvSpPr>
          <p:nvPr>
            <p:ph type="body" idx="1"/>
          </p:nvPr>
        </p:nvSpPr>
        <p:spPr>
          <a:xfrm>
            <a:off x="1081404" y="5270123"/>
            <a:ext cx="7998400" cy="7984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2400"/>
              <a:buFont typeface="PT Sans Narrow"/>
              <a:buNone/>
              <a:defRPr sz="3200">
                <a:latin typeface="Raleway" pitchFamily="2" charset="0"/>
                <a:ea typeface="Raleway" pitchFamily="2" charset="0"/>
                <a:cs typeface="Raleway" pitchFamily="2" charset="0"/>
                <a:sym typeface="PT Sans Narrow"/>
              </a:defRPr>
            </a:lvl1pPr>
          </a:lstStyle>
          <a:p>
            <a:endParaRPr dirty="0"/>
          </a:p>
        </p:txBody>
      </p:sp>
      <p:sp>
        <p:nvSpPr>
          <p:cNvPr id="6" name="Slide Number Placeholder 5">
            <a:extLst>
              <a:ext uri="{FF2B5EF4-FFF2-40B4-BE49-F238E27FC236}">
                <a16:creationId xmlns:a16="http://schemas.microsoft.com/office/drawing/2014/main" id="{2D49176E-C771-72C8-F8E5-906AAEAB5941}"/>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499187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userDrawn="1">
  <p:cSld name="One column text">
    <p:spTree>
      <p:nvGrpSpPr>
        <p:cNvPr id="1" name="Shape 44"/>
        <p:cNvGrpSpPr/>
        <p:nvPr/>
      </p:nvGrpSpPr>
      <p:grpSpPr>
        <a:xfrm>
          <a:off x="0" y="0"/>
          <a:ext cx="0" cy="0"/>
          <a:chOff x="0" y="0"/>
          <a:chExt cx="0" cy="0"/>
        </a:xfrm>
      </p:grpSpPr>
      <p:sp>
        <p:nvSpPr>
          <p:cNvPr id="46" name="Google Shape;46;p7"/>
          <p:cNvSpPr txBox="1">
            <a:spLocks noGrp="1"/>
          </p:cNvSpPr>
          <p:nvPr>
            <p:ph type="body" idx="1"/>
          </p:nvPr>
        </p:nvSpPr>
        <p:spPr>
          <a:xfrm>
            <a:off x="415600" y="1672836"/>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333">
                <a:latin typeface="Calibri" panose="020F0502020204030204" pitchFamily="34" charset="0"/>
                <a:cs typeface="Calibri" panose="020F0502020204030204" pitchFamily="34" charset="0"/>
              </a:defRPr>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dirty="0"/>
          </a:p>
        </p:txBody>
      </p:sp>
      <p:sp>
        <p:nvSpPr>
          <p:cNvPr id="5" name="Google Shape;45;p7">
            <a:extLst>
              <a:ext uri="{FF2B5EF4-FFF2-40B4-BE49-F238E27FC236}">
                <a16:creationId xmlns:a16="http://schemas.microsoft.com/office/drawing/2014/main" id="{482C3779-B2BB-CEE4-3E2C-334B9C6C7D8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7" name="Slide Number Placeholder 5">
            <a:extLst>
              <a:ext uri="{FF2B5EF4-FFF2-40B4-BE49-F238E27FC236}">
                <a16:creationId xmlns:a16="http://schemas.microsoft.com/office/drawing/2014/main" id="{E53AC460-69CA-8F48-E3C8-414742235405}"/>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228013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9630DA-C8F6-4DCB-07B4-8474A714CA0E}"/>
              </a:ext>
            </a:extLst>
          </p:cNvPr>
          <p:cNvSpPr>
            <a:spLocks noGrp="1"/>
          </p:cNvSpPr>
          <p:nvPr>
            <p:ph type="pic" idx="1"/>
          </p:nvPr>
        </p:nvSpPr>
        <p:spPr>
          <a:xfrm>
            <a:off x="5183188" y="2049463"/>
            <a:ext cx="6172200" cy="3811588"/>
          </a:xfrm>
          <a:prstGeom prst="rect">
            <a:avLst/>
          </a:prstGeom>
        </p:spPr>
        <p:txBody>
          <a:bodyPr>
            <a:normAutofit/>
          </a:bodyPr>
          <a:lstStyle>
            <a:lvl1pPr marL="0" indent="0">
              <a:buNone/>
              <a:defRPr sz="1333">
                <a:latin typeface="Calibri" panose="020F0502020204030204" pitchFamily="34" charset="0"/>
                <a:cs typeface="Calibri" panose="020F0502020204030204" pitchFamily="34"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dirty="0"/>
          </a:p>
        </p:txBody>
      </p:sp>
      <p:sp>
        <p:nvSpPr>
          <p:cNvPr id="4" name="Text Placeholder 3">
            <a:extLst>
              <a:ext uri="{FF2B5EF4-FFF2-40B4-BE49-F238E27FC236}">
                <a16:creationId xmlns:a16="http://schemas.microsoft.com/office/drawing/2014/main" id="{2D23ABE9-772D-629A-0846-B8D8655E488F}"/>
              </a:ext>
            </a:extLst>
          </p:cNvPr>
          <p:cNvSpPr>
            <a:spLocks noGrp="1"/>
          </p:cNvSpPr>
          <p:nvPr>
            <p:ph type="body" sz="half" idx="2"/>
          </p:nvPr>
        </p:nvSpPr>
        <p:spPr>
          <a:xfrm>
            <a:off x="839788" y="2057401"/>
            <a:ext cx="3932237" cy="3811588"/>
          </a:xfrm>
          <a:prstGeom prst="rect">
            <a:avLst/>
          </a:prstGeom>
        </p:spPr>
        <p:txBody>
          <a:bodyPr/>
          <a:lstStyle>
            <a:lvl1pPr marL="0" indent="0">
              <a:buNone/>
              <a:defRPr sz="1333">
                <a:latin typeface="Calibri" panose="020F0502020204030204" pitchFamily="34" charset="0"/>
                <a:cs typeface="Calibri" panose="020F0502020204030204" pitchFamily="34"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11" name="Google Shape;45;p7">
            <a:extLst>
              <a:ext uri="{FF2B5EF4-FFF2-40B4-BE49-F238E27FC236}">
                <a16:creationId xmlns:a16="http://schemas.microsoft.com/office/drawing/2014/main" id="{2DDA5E8B-7438-C891-2771-F57700CCD3F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3" name="Slide Number Placeholder 5">
            <a:extLst>
              <a:ext uri="{FF2B5EF4-FFF2-40B4-BE49-F238E27FC236}">
                <a16:creationId xmlns:a16="http://schemas.microsoft.com/office/drawing/2014/main" id="{BE10E01B-527E-6CF6-D575-6D430AD2824D}"/>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2061382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userDrawn="1">
  <p:cSld name="Title and Content">
    <p:spTree>
      <p:nvGrpSpPr>
        <p:cNvPr id="1" name="Shape 91"/>
        <p:cNvGrpSpPr/>
        <p:nvPr/>
      </p:nvGrpSpPr>
      <p:grpSpPr>
        <a:xfrm>
          <a:off x="0" y="0"/>
          <a:ext cx="0" cy="0"/>
          <a:chOff x="0" y="0"/>
          <a:chExt cx="0" cy="0"/>
        </a:xfrm>
      </p:grpSpPr>
      <p:sp>
        <p:nvSpPr>
          <p:cNvPr id="93" name="Google Shape;93;p15"/>
          <p:cNvSpPr txBox="1">
            <a:spLocks noGrp="1"/>
          </p:cNvSpPr>
          <p:nvPr>
            <p:ph type="body" idx="1"/>
          </p:nvPr>
        </p:nvSpPr>
        <p:spPr>
          <a:xfrm>
            <a:off x="838200" y="2023409"/>
            <a:ext cx="10515600" cy="3955636"/>
          </a:xfrm>
          <a:prstGeom prst="rect">
            <a:avLst/>
          </a:prstGeom>
          <a:noFill/>
          <a:ln>
            <a:noFill/>
          </a:ln>
        </p:spPr>
        <p:txBody>
          <a:bodyPr spcFirstLastPara="1" wrap="square" lIns="68575" tIns="34275" rIns="68575" bIns="34275" anchor="t" anchorCtr="0">
            <a:normAutofit/>
          </a:bodyPr>
          <a:lstStyle>
            <a:lvl1pPr marL="609585" lvl="0" indent="-423323" algn="l" rtl="0">
              <a:lnSpc>
                <a:spcPct val="90000"/>
              </a:lnSpc>
              <a:spcBef>
                <a:spcPts val="1067"/>
              </a:spcBef>
              <a:spcAft>
                <a:spcPts val="0"/>
              </a:spcAft>
              <a:buClr>
                <a:schemeClr val="dk1"/>
              </a:buClr>
              <a:buSzPts val="1400"/>
              <a:buChar char="•"/>
              <a:defRPr>
                <a:latin typeface="Calibri" panose="020F0502020204030204" pitchFamily="34" charset="0"/>
                <a:cs typeface="Calibri" panose="020F0502020204030204" pitchFamily="34" charset="0"/>
              </a:defRPr>
            </a:lvl1pPr>
            <a:lvl2pPr marL="1219170" lvl="1" indent="-423323" algn="l" rtl="0">
              <a:lnSpc>
                <a:spcPct val="90000"/>
              </a:lnSpc>
              <a:spcBef>
                <a:spcPts val="533"/>
              </a:spcBef>
              <a:spcAft>
                <a:spcPts val="0"/>
              </a:spcAft>
              <a:buClr>
                <a:schemeClr val="dk1"/>
              </a:buClr>
              <a:buSzPts val="1400"/>
              <a:buChar char="•"/>
              <a:defRPr/>
            </a:lvl2pPr>
            <a:lvl3pPr marL="1828754" lvl="2" indent="-423323" algn="l" rtl="0">
              <a:lnSpc>
                <a:spcPct val="90000"/>
              </a:lnSpc>
              <a:spcBef>
                <a:spcPts val="533"/>
              </a:spcBef>
              <a:spcAft>
                <a:spcPts val="0"/>
              </a:spcAft>
              <a:buClr>
                <a:schemeClr val="dk1"/>
              </a:buClr>
              <a:buSzPts val="1400"/>
              <a:buChar char="•"/>
              <a:defRPr/>
            </a:lvl3pPr>
            <a:lvl4pPr marL="2438339" lvl="3" indent="-423323" algn="l" rtl="0">
              <a:lnSpc>
                <a:spcPct val="90000"/>
              </a:lnSpc>
              <a:spcBef>
                <a:spcPts val="533"/>
              </a:spcBef>
              <a:spcAft>
                <a:spcPts val="0"/>
              </a:spcAft>
              <a:buClr>
                <a:schemeClr val="dk1"/>
              </a:buClr>
              <a:buSzPts val="1400"/>
              <a:buChar char="•"/>
              <a:defRPr/>
            </a:lvl4pPr>
            <a:lvl5pPr marL="3047924" lvl="4" indent="-423323" algn="l" rtl="0">
              <a:lnSpc>
                <a:spcPct val="90000"/>
              </a:lnSpc>
              <a:spcBef>
                <a:spcPts val="533"/>
              </a:spcBef>
              <a:spcAft>
                <a:spcPts val="0"/>
              </a:spcAft>
              <a:buClr>
                <a:schemeClr val="dk1"/>
              </a:buClr>
              <a:buSzPts val="1400"/>
              <a:buChar char="•"/>
              <a:defRPr/>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0"/>
              </a:spcAft>
              <a:buClr>
                <a:schemeClr val="dk1"/>
              </a:buClr>
              <a:buSzPts val="1400"/>
              <a:buChar char="•"/>
              <a:defRPr/>
            </a:lvl9pPr>
          </a:lstStyle>
          <a:p>
            <a:endParaRPr dirty="0"/>
          </a:p>
        </p:txBody>
      </p:sp>
      <p:sp>
        <p:nvSpPr>
          <p:cNvPr id="4" name="Google Shape;45;p7">
            <a:extLst>
              <a:ext uri="{FF2B5EF4-FFF2-40B4-BE49-F238E27FC236}">
                <a16:creationId xmlns:a16="http://schemas.microsoft.com/office/drawing/2014/main" id="{EB44CB0A-F4B1-A402-3759-2C3528AB8E4F}"/>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9" name="Slide Number Placeholder 5">
            <a:extLst>
              <a:ext uri="{FF2B5EF4-FFF2-40B4-BE49-F238E27FC236}">
                <a16:creationId xmlns:a16="http://schemas.microsoft.com/office/drawing/2014/main" id="{876617F3-2402-6614-1A74-28C7B4C54B24}"/>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2932584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6E896A-68C9-7523-8C07-666BD0EFBA84}"/>
              </a:ext>
            </a:extLst>
          </p:cNvPr>
          <p:cNvSpPr>
            <a:spLocks noGrp="1"/>
          </p:cNvSpPr>
          <p:nvPr>
            <p:ph idx="1"/>
          </p:nvPr>
        </p:nvSpPr>
        <p:spPr>
          <a:xfrm>
            <a:off x="415600" y="2602499"/>
            <a:ext cx="11360800" cy="3153216"/>
          </a:xfrm>
          <a:prstGeom prst="rect">
            <a:avLst/>
          </a:prstGeom>
        </p:spPr>
        <p:txBody>
          <a:bodyPr/>
          <a:lstStyle>
            <a:lvl1pPr>
              <a:defRPr>
                <a:latin typeface="Calibri" panose="020F0502020204030204" pitchFamily="34" charset="0"/>
                <a:cs typeface="Calibri" panose="020F0502020204030204" pitchFamily="34" charset="0"/>
              </a:defRPr>
            </a:lvl1pPr>
            <a:lvl2pPr>
              <a:defRPr>
                <a:latin typeface="Raleway" pitchFamily="2" charset="0"/>
              </a:defRPr>
            </a:lvl2pPr>
            <a:lvl3pPr>
              <a:defRPr>
                <a:latin typeface="Raleway" pitchFamily="2" charset="0"/>
              </a:defRPr>
            </a:lvl3pPr>
            <a:lvl4pPr>
              <a:defRPr>
                <a:latin typeface="Raleway" pitchFamily="2" charset="0"/>
              </a:defRPr>
            </a:lvl4pPr>
            <a:lvl5pPr>
              <a:defRPr>
                <a:latin typeface="Raleway"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Google Shape;45;p7">
            <a:extLst>
              <a:ext uri="{FF2B5EF4-FFF2-40B4-BE49-F238E27FC236}">
                <a16:creationId xmlns:a16="http://schemas.microsoft.com/office/drawing/2014/main" id="{2B1567C0-4287-5016-773D-60FC6944785E}"/>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2" name="Slide Number Placeholder 5">
            <a:extLst>
              <a:ext uri="{FF2B5EF4-FFF2-40B4-BE49-F238E27FC236}">
                <a16:creationId xmlns:a16="http://schemas.microsoft.com/office/drawing/2014/main" id="{54CBDA10-C463-8A5E-0969-8CFE1D30C617}"/>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416484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1" userDrawn="1">
  <p:cSld name="Title and two columns 1">
    <p:spTree>
      <p:nvGrpSpPr>
        <p:cNvPr id="1" name="Shape 76"/>
        <p:cNvGrpSpPr/>
        <p:nvPr/>
      </p:nvGrpSpPr>
      <p:grpSpPr>
        <a:xfrm>
          <a:off x="0" y="0"/>
          <a:ext cx="0" cy="0"/>
          <a:chOff x="0" y="0"/>
          <a:chExt cx="0" cy="0"/>
        </a:xfrm>
      </p:grpSpPr>
      <p:sp>
        <p:nvSpPr>
          <p:cNvPr id="77" name="Google Shape;77;p13"/>
          <p:cNvSpPr txBox="1">
            <a:spLocks noGrp="1"/>
          </p:cNvSpPr>
          <p:nvPr>
            <p:ph type="subTitle" idx="1"/>
          </p:nvPr>
        </p:nvSpPr>
        <p:spPr>
          <a:xfrm>
            <a:off x="18027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endParaRPr dirty="0"/>
          </a:p>
        </p:txBody>
      </p:sp>
      <p:sp>
        <p:nvSpPr>
          <p:cNvPr id="78" name="Google Shape;78;p13"/>
          <p:cNvSpPr txBox="1">
            <a:spLocks noGrp="1"/>
          </p:cNvSpPr>
          <p:nvPr>
            <p:ph type="subTitle" idx="2"/>
          </p:nvPr>
        </p:nvSpPr>
        <p:spPr>
          <a:xfrm>
            <a:off x="18027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endParaRPr dirty="0"/>
          </a:p>
        </p:txBody>
      </p:sp>
      <p:sp>
        <p:nvSpPr>
          <p:cNvPr id="79" name="Google Shape;79;p13"/>
          <p:cNvSpPr txBox="1">
            <a:spLocks noGrp="1"/>
          </p:cNvSpPr>
          <p:nvPr>
            <p:ph type="subTitle" idx="3"/>
          </p:nvPr>
        </p:nvSpPr>
        <p:spPr>
          <a:xfrm>
            <a:off x="67430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endParaRPr dirty="0"/>
          </a:p>
        </p:txBody>
      </p:sp>
      <p:sp>
        <p:nvSpPr>
          <p:cNvPr id="80" name="Google Shape;80;p13"/>
          <p:cNvSpPr txBox="1">
            <a:spLocks noGrp="1"/>
          </p:cNvSpPr>
          <p:nvPr>
            <p:ph type="subTitle" idx="4"/>
          </p:nvPr>
        </p:nvSpPr>
        <p:spPr>
          <a:xfrm>
            <a:off x="67430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endParaRPr/>
          </a:p>
        </p:txBody>
      </p:sp>
      <p:sp>
        <p:nvSpPr>
          <p:cNvPr id="3" name="Google Shape;45;p7">
            <a:extLst>
              <a:ext uri="{FF2B5EF4-FFF2-40B4-BE49-F238E27FC236}">
                <a16:creationId xmlns:a16="http://schemas.microsoft.com/office/drawing/2014/main" id="{D0B48D13-027A-4AFE-4CD9-AAE135E2BABD}"/>
              </a:ext>
            </a:extLst>
          </p:cNvPr>
          <p:cNvSpPr txBox="1">
            <a:spLocks noGrp="1"/>
          </p:cNvSpPr>
          <p:nvPr>
            <p:ph type="title"/>
          </p:nvPr>
        </p:nvSpPr>
        <p:spPr>
          <a:xfrm>
            <a:off x="403199" y="115200"/>
            <a:ext cx="10550999"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9" name="Slide Number Placeholder 5">
            <a:extLst>
              <a:ext uri="{FF2B5EF4-FFF2-40B4-BE49-F238E27FC236}">
                <a16:creationId xmlns:a16="http://schemas.microsoft.com/office/drawing/2014/main" id="{9432BB4C-0FFD-F107-637F-62075DD566B0}"/>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265085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6"/>
        <p:cNvGrpSpPr/>
        <p:nvPr/>
      </p:nvGrpSpPr>
      <p:grpSpPr>
        <a:xfrm>
          <a:off x="0" y="0"/>
          <a:ext cx="0" cy="0"/>
          <a:chOff x="0" y="0"/>
          <a:chExt cx="0" cy="0"/>
        </a:xfrm>
      </p:grpSpPr>
      <p:sp>
        <p:nvSpPr>
          <p:cNvPr id="67" name="Google Shape;67;p11"/>
          <p:cNvSpPr txBox="1">
            <a:spLocks noGrp="1"/>
          </p:cNvSpPr>
          <p:nvPr>
            <p:ph type="title" hasCustomPrompt="1"/>
          </p:nvPr>
        </p:nvSpPr>
        <p:spPr>
          <a:xfrm>
            <a:off x="415600" y="2236481"/>
            <a:ext cx="11360800" cy="20512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7333">
                <a:solidFill>
                  <a:schemeClr val="accent3"/>
                </a:solidFill>
                <a:latin typeface="Calibri" panose="020F0502020204030204" pitchFamily="34" charset="0"/>
                <a:cs typeface="Calibri" panose="020F0502020204030204" pitchFamily="34" charset="0"/>
              </a:defRPr>
            </a:lvl1pPr>
            <a:lvl2pPr lvl="1" algn="ctr">
              <a:spcBef>
                <a:spcPts val="0"/>
              </a:spcBef>
              <a:spcAft>
                <a:spcPts val="0"/>
              </a:spcAft>
              <a:buClr>
                <a:schemeClr val="accent3"/>
              </a:buClr>
              <a:buSzPts val="13000"/>
              <a:buNone/>
              <a:defRPr sz="17333">
                <a:solidFill>
                  <a:schemeClr val="accent3"/>
                </a:solidFill>
              </a:defRPr>
            </a:lvl2pPr>
            <a:lvl3pPr lvl="2" algn="ctr">
              <a:spcBef>
                <a:spcPts val="0"/>
              </a:spcBef>
              <a:spcAft>
                <a:spcPts val="0"/>
              </a:spcAft>
              <a:buClr>
                <a:schemeClr val="accent3"/>
              </a:buClr>
              <a:buSzPts val="13000"/>
              <a:buNone/>
              <a:defRPr sz="17333">
                <a:solidFill>
                  <a:schemeClr val="accent3"/>
                </a:solidFill>
              </a:defRPr>
            </a:lvl3pPr>
            <a:lvl4pPr lvl="3" algn="ctr">
              <a:spcBef>
                <a:spcPts val="0"/>
              </a:spcBef>
              <a:spcAft>
                <a:spcPts val="0"/>
              </a:spcAft>
              <a:buClr>
                <a:schemeClr val="accent3"/>
              </a:buClr>
              <a:buSzPts val="13000"/>
              <a:buNone/>
              <a:defRPr sz="17333">
                <a:solidFill>
                  <a:schemeClr val="accent3"/>
                </a:solidFill>
              </a:defRPr>
            </a:lvl4pPr>
            <a:lvl5pPr lvl="4" algn="ctr">
              <a:spcBef>
                <a:spcPts val="0"/>
              </a:spcBef>
              <a:spcAft>
                <a:spcPts val="0"/>
              </a:spcAft>
              <a:buClr>
                <a:schemeClr val="accent3"/>
              </a:buClr>
              <a:buSzPts val="13000"/>
              <a:buNone/>
              <a:defRPr sz="17333">
                <a:solidFill>
                  <a:schemeClr val="accent3"/>
                </a:solidFill>
              </a:defRPr>
            </a:lvl5pPr>
            <a:lvl6pPr lvl="5" algn="ctr">
              <a:spcBef>
                <a:spcPts val="0"/>
              </a:spcBef>
              <a:spcAft>
                <a:spcPts val="0"/>
              </a:spcAft>
              <a:buClr>
                <a:schemeClr val="accent3"/>
              </a:buClr>
              <a:buSzPts val="13000"/>
              <a:buNone/>
              <a:defRPr sz="17333">
                <a:solidFill>
                  <a:schemeClr val="accent3"/>
                </a:solidFill>
              </a:defRPr>
            </a:lvl6pPr>
            <a:lvl7pPr lvl="6" algn="ctr">
              <a:spcBef>
                <a:spcPts val="0"/>
              </a:spcBef>
              <a:spcAft>
                <a:spcPts val="0"/>
              </a:spcAft>
              <a:buClr>
                <a:schemeClr val="accent3"/>
              </a:buClr>
              <a:buSzPts val="13000"/>
              <a:buNone/>
              <a:defRPr sz="17333">
                <a:solidFill>
                  <a:schemeClr val="accent3"/>
                </a:solidFill>
              </a:defRPr>
            </a:lvl7pPr>
            <a:lvl8pPr lvl="7" algn="ctr">
              <a:spcBef>
                <a:spcPts val="0"/>
              </a:spcBef>
              <a:spcAft>
                <a:spcPts val="0"/>
              </a:spcAft>
              <a:buClr>
                <a:schemeClr val="accent3"/>
              </a:buClr>
              <a:buSzPts val="13000"/>
              <a:buNone/>
              <a:defRPr sz="17333">
                <a:solidFill>
                  <a:schemeClr val="accent3"/>
                </a:solidFill>
              </a:defRPr>
            </a:lvl8pPr>
            <a:lvl9pPr lvl="8" algn="ctr">
              <a:spcBef>
                <a:spcPts val="0"/>
              </a:spcBef>
              <a:spcAft>
                <a:spcPts val="0"/>
              </a:spcAft>
              <a:buClr>
                <a:schemeClr val="accent3"/>
              </a:buClr>
              <a:buSzPts val="13000"/>
              <a:buNone/>
              <a:defRPr sz="17333">
                <a:solidFill>
                  <a:schemeClr val="accent3"/>
                </a:solidFill>
              </a:defRPr>
            </a:lvl9pPr>
          </a:lstStyle>
          <a:p>
            <a:r>
              <a:rPr dirty="0"/>
              <a:t>xx%</a:t>
            </a:r>
          </a:p>
        </p:txBody>
      </p:sp>
      <p:sp>
        <p:nvSpPr>
          <p:cNvPr id="68" name="Google Shape;68;p11"/>
          <p:cNvSpPr txBox="1">
            <a:spLocks noGrp="1"/>
          </p:cNvSpPr>
          <p:nvPr>
            <p:ph type="body" idx="1"/>
          </p:nvPr>
        </p:nvSpPr>
        <p:spPr>
          <a:xfrm>
            <a:off x="415600" y="4490881"/>
            <a:ext cx="11360800" cy="14288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atin typeface="Calibri" panose="020F0502020204030204" pitchFamily="34" charset="0"/>
                <a:cs typeface="Calibri" panose="020F0502020204030204" pitchFamily="34" charset="0"/>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dirty="0"/>
          </a:p>
        </p:txBody>
      </p:sp>
      <p:sp>
        <p:nvSpPr>
          <p:cNvPr id="8" name="Slide Number Placeholder 5">
            <a:extLst>
              <a:ext uri="{FF2B5EF4-FFF2-40B4-BE49-F238E27FC236}">
                <a16:creationId xmlns:a16="http://schemas.microsoft.com/office/drawing/2014/main" id="{FEF22A34-8630-7179-6BE7-3A5ED218F444}"/>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836081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Google Shape;45;p7">
            <a:extLst>
              <a:ext uri="{FF2B5EF4-FFF2-40B4-BE49-F238E27FC236}">
                <a16:creationId xmlns:a16="http://schemas.microsoft.com/office/drawing/2014/main" id="{564256A3-4B60-B37C-3C15-AB3FE9B6DA43}"/>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1" name="Slide Number Placeholder 5">
            <a:extLst>
              <a:ext uri="{FF2B5EF4-FFF2-40B4-BE49-F238E27FC236}">
                <a16:creationId xmlns:a16="http://schemas.microsoft.com/office/drawing/2014/main" id="{4B24C27D-E9CF-52B2-895E-3ABEC7ADC878}"/>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560623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83060A7-945A-2E96-761C-7E7F8D3C45F9}"/>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8711376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
        <p:cNvGrpSpPr/>
        <p:nvPr/>
      </p:nvGrpSpPr>
      <p:grpSpPr>
        <a:xfrm>
          <a:off x="0" y="0"/>
          <a:ext cx="0" cy="0"/>
          <a:chOff x="0" y="0"/>
          <a:chExt cx="0" cy="0"/>
        </a:xfrm>
      </p:grpSpPr>
      <p:sp>
        <p:nvSpPr>
          <p:cNvPr id="37" name="Google Shape;37;p60"/>
          <p:cNvSpPr txBox="1">
            <a:spLocks noGrp="1"/>
          </p:cNvSpPr>
          <p:nvPr>
            <p:ph type="subTitle" idx="1"/>
          </p:nvPr>
        </p:nvSpPr>
        <p:spPr>
          <a:xfrm>
            <a:off x="2840535" y="4195828"/>
            <a:ext cx="649400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endParaRPr/>
          </a:p>
        </p:txBody>
      </p:sp>
      <p:sp>
        <p:nvSpPr>
          <p:cNvPr id="38" name="Google Shape;38;p60"/>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1pPr>
            <a:lvl2pPr marL="0" lvl="1"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2pPr>
            <a:lvl3pPr marL="0" lvl="2"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3pPr>
            <a:lvl4pPr marL="0" lvl="3"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4pPr>
            <a:lvl5pPr marL="0" lvl="4"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5pPr>
            <a:lvl6pPr marL="0" lvl="5"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6pPr>
            <a:lvl7pPr marL="0" lvl="6"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7pPr>
            <a:lvl8pPr marL="0" lvl="7"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8pPr>
            <a:lvl9pPr marL="0" lvl="8"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777280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03200" y="115200"/>
            <a:ext cx="11360800" cy="9432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dirty="0"/>
          </a:p>
        </p:txBody>
      </p:sp>
      <p:sp>
        <p:nvSpPr>
          <p:cNvPr id="27" name="Rectangle 26">
            <a:extLst>
              <a:ext uri="{FF2B5EF4-FFF2-40B4-BE49-F238E27FC236}">
                <a16:creationId xmlns:a16="http://schemas.microsoft.com/office/drawing/2014/main" id="{D2573FB6-F6A4-C682-F4CD-14CE8176A144}"/>
              </a:ext>
            </a:extLst>
          </p:cNvPr>
          <p:cNvSpPr/>
          <p:nvPr userDrawn="1"/>
        </p:nvSpPr>
        <p:spPr>
          <a:xfrm>
            <a:off x="0" y="6331389"/>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8" name="Google Shape;8;p1"/>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lvl="0" algn="r">
              <a:buNone/>
              <a:defRPr sz="1333">
                <a:solidFill>
                  <a:schemeClr val="bg1"/>
                </a:solidFill>
                <a:latin typeface="Raleway" pitchFamily="2" charset="0"/>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945671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33" b="0" i="0" u="none" strike="noStrike" cap="none">
          <a:solidFill>
            <a:schemeClr val="tx1"/>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6CF642-B155-3EAA-0E23-97793C0E3936}"/>
              </a:ext>
            </a:extLst>
          </p:cNvPr>
          <p:cNvSpPr txBox="1"/>
          <p:nvPr/>
        </p:nvSpPr>
        <p:spPr>
          <a:xfrm>
            <a:off x="6300218" y="1347837"/>
            <a:ext cx="4741333" cy="5510163"/>
          </a:xfrm>
          <a:prstGeom prst="rect">
            <a:avLst/>
          </a:prstGeom>
          <a:noFill/>
        </p:spPr>
        <p:txBody>
          <a:bodyPr wrap="square" rtlCol="0">
            <a:spAutoFit/>
          </a:bodyPr>
          <a:lstStyle/>
          <a:p>
            <a:pPr algn="ctr" defTabSz="1219170">
              <a:buClr>
                <a:srgbClr val="000000"/>
              </a:buClr>
            </a:pPr>
            <a:r>
              <a:rPr lang="en-IN" sz="2667" b="1" kern="0" dirty="0">
                <a:solidFill>
                  <a:prstClr val="black">
                    <a:lumMod val="85000"/>
                    <a:lumOff val="15000"/>
                  </a:prstClr>
                </a:solidFill>
                <a:latin typeface="Arial"/>
                <a:cs typeface="Arial"/>
                <a:sym typeface="Arial"/>
              </a:rPr>
              <a:t>Project Title: Digital Analysis</a:t>
            </a: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r>
              <a:rPr lang="en-IN" sz="2667" b="1" kern="0" dirty="0">
                <a:solidFill>
                  <a:prstClr val="black">
                    <a:lumMod val="85000"/>
                    <a:lumOff val="15000"/>
                  </a:prstClr>
                </a:solidFill>
                <a:latin typeface="Arial"/>
                <a:cs typeface="Arial"/>
                <a:sym typeface="Arial"/>
              </a:rPr>
              <a:t>Name: HARSH PATHAK</a:t>
            </a: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r>
              <a:rPr lang="en-IN" sz="2667" b="1" kern="0" dirty="0">
                <a:solidFill>
                  <a:prstClr val="black">
                    <a:lumMod val="85000"/>
                    <a:lumOff val="15000"/>
                  </a:prstClr>
                </a:solidFill>
                <a:latin typeface="Arial"/>
                <a:cs typeface="Arial"/>
                <a:sym typeface="Arial"/>
              </a:rPr>
              <a:t>Date: 31 Jan 2026</a:t>
            </a: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p:txBody>
      </p:sp>
    </p:spTree>
    <p:extLst>
      <p:ext uri="{BB962C8B-B14F-4D97-AF65-F5344CB8AC3E}">
        <p14:creationId xmlns:p14="http://schemas.microsoft.com/office/powerpoint/2010/main" val="3071345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93963"/>
            <a:ext cx="12192000" cy="584775"/>
          </a:xfrm>
          <a:prstGeom prst="rect">
            <a:avLst/>
          </a:prstGeom>
          <a:ln>
            <a:noFill/>
          </a:ln>
        </p:spPr>
        <p:style>
          <a:lnRef idx="3">
            <a:schemeClr val="lt1"/>
          </a:lnRef>
          <a:fillRef idx="1">
            <a:schemeClr val="accent4"/>
          </a:fillRef>
          <a:effectRef idx="1">
            <a:schemeClr val="accent4"/>
          </a:effectRef>
          <a:fontRef idx="minor">
            <a:schemeClr val="lt1"/>
          </a:fontRef>
        </p:style>
        <p:txBody>
          <a:bodyPr wrap="square" lIns="91440" tIns="45720" rIns="91440" bIns="45720">
            <a:spAutoFit/>
          </a:bodyPr>
          <a:lstStyle/>
          <a:p>
            <a:pPr algn="ctr"/>
            <a:r>
              <a:rPr lang="en-US" sz="3200" cap="small" dirty="0">
                <a:ln w="0"/>
              </a:rPr>
              <a:t>Business Context</a:t>
            </a:r>
            <a:endParaRPr lang="en-US" sz="3200" b="0" cap="small" spc="0" dirty="0">
              <a:ln w="0"/>
              <a:solidFill>
                <a:schemeClr val="tx1"/>
              </a:solidFill>
            </a:endParaRPr>
          </a:p>
        </p:txBody>
      </p:sp>
      <p:sp>
        <p:nvSpPr>
          <p:cNvPr id="6" name="TextBox 5">
            <a:extLst>
              <a:ext uri="{FF2B5EF4-FFF2-40B4-BE49-F238E27FC236}">
                <a16:creationId xmlns:a16="http://schemas.microsoft.com/office/drawing/2014/main" id="{3C2A6C26-7B4D-E87E-259A-052AA19B4357}"/>
              </a:ext>
            </a:extLst>
          </p:cNvPr>
          <p:cNvSpPr txBox="1"/>
          <p:nvPr/>
        </p:nvSpPr>
        <p:spPr>
          <a:xfrm>
            <a:off x="343948" y="1257024"/>
            <a:ext cx="11610363" cy="2585323"/>
          </a:xfrm>
          <a:prstGeom prst="rect">
            <a:avLst/>
          </a:prstGeom>
          <a:noFill/>
        </p:spPr>
        <p:txBody>
          <a:bodyPr wrap="square">
            <a:spAutoFit/>
          </a:bodyPr>
          <a:lstStyle/>
          <a:p>
            <a:r>
              <a:rPr lang="en-IN" dirty="0"/>
              <a:t>The client is a newly launched e-commerce retail startup specializing in the sale of stuffed animal toys. Having been in the market for three years, the company has reached a critical maturity point where it has generated sufficient growth to pursue a much larger round of venture capital funding. The CEO, Cindy Sharp, is currently in advanced discussions with a prominent West Coast venture capital firm to secure this next round of investment.</a:t>
            </a:r>
          </a:p>
          <a:p>
            <a:endParaRPr lang="en-IN" dirty="0"/>
          </a:p>
          <a:p>
            <a:endParaRPr lang="en-IN" dirty="0"/>
          </a:p>
          <a:p>
            <a:r>
              <a:rPr lang="en-IN" dirty="0"/>
              <a:t>To successfully close this funding, the company must transition from raw data collection to sophisticated digital analytics. The leadership team needs to demonstrate a clear understanding of their historical performance and prove that they possess the analytical infrastructure to make data-driven decisions for future scaling.</a:t>
            </a:r>
          </a:p>
        </p:txBody>
      </p:sp>
    </p:spTree>
    <p:extLst>
      <p:ext uri="{BB962C8B-B14F-4D97-AF65-F5344CB8AC3E}">
        <p14:creationId xmlns:p14="http://schemas.microsoft.com/office/powerpoint/2010/main" val="2708497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 y="297205"/>
            <a:ext cx="12191999"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lIns="91440" tIns="45720" rIns="91440" bIns="45720" anchor="b">
            <a:spAutoFit/>
          </a:bodyPr>
          <a:lstStyle/>
          <a:p>
            <a:pPr algn="ctr"/>
            <a:r>
              <a:rPr lang="en-US" sz="3200" cap="small" dirty="0"/>
              <a:t>Problem</a:t>
            </a:r>
            <a:r>
              <a:rPr lang="en-US" sz="3200" dirty="0"/>
              <a:t> </a:t>
            </a:r>
            <a:r>
              <a:rPr lang="en-US" sz="3200" cap="small" dirty="0"/>
              <a:t>Statement</a:t>
            </a:r>
          </a:p>
        </p:txBody>
      </p:sp>
      <p:sp>
        <p:nvSpPr>
          <p:cNvPr id="5" name="TextBox 4">
            <a:extLst>
              <a:ext uri="{FF2B5EF4-FFF2-40B4-BE49-F238E27FC236}">
                <a16:creationId xmlns:a16="http://schemas.microsoft.com/office/drawing/2014/main" id="{474DDAB3-AEDB-ACF5-8B2D-C5FE1EC28448}"/>
              </a:ext>
            </a:extLst>
          </p:cNvPr>
          <p:cNvSpPr txBox="1"/>
          <p:nvPr/>
        </p:nvSpPr>
        <p:spPr>
          <a:xfrm>
            <a:off x="109057" y="1166842"/>
            <a:ext cx="11115413" cy="3970318"/>
          </a:xfrm>
          <a:prstGeom prst="rect">
            <a:avLst/>
          </a:prstGeom>
          <a:noFill/>
        </p:spPr>
        <p:txBody>
          <a:bodyPr wrap="square">
            <a:spAutoFit/>
          </a:bodyPr>
          <a:lstStyle/>
          <a:p>
            <a:pPr marL="186262" indent="0">
              <a:lnSpc>
                <a:spcPct val="100000"/>
              </a:lnSpc>
              <a:buNone/>
            </a:pPr>
            <a:r>
              <a:rPr lang="en-US" dirty="0"/>
              <a:t>While the company has successfully grown over the past three years, it currently lacks the centralized reporting and deep-dive analysis required to secure investor confidence and optimize operational efficiency . Specifically, the company faces two primary challenges:</a:t>
            </a:r>
          </a:p>
          <a:p>
            <a:pPr marL="186262" indent="0">
              <a:lnSpc>
                <a:spcPct val="100000"/>
              </a:lnSpc>
              <a:buNone/>
            </a:pPr>
            <a:endParaRPr lang="en-US" dirty="0"/>
          </a:p>
          <a:p>
            <a:pPr marL="186262" indent="0">
              <a:lnSpc>
                <a:spcPct val="100000"/>
              </a:lnSpc>
              <a:buNone/>
            </a:pPr>
            <a:r>
              <a:rPr lang="en-US" dirty="0"/>
              <a:t>Lack of Visibility for Key Stakeholders: The CEO, Website Manager, and Marketing Director do not have dedicated dashboards to track their specific KPIs (such as traffic breakdown, conversion rates, and channel bid optimization) in real-time.</a:t>
            </a:r>
          </a:p>
          <a:p>
            <a:pPr marL="186262" indent="0">
              <a:lnSpc>
                <a:spcPct val="100000"/>
              </a:lnSpc>
              <a:buNone/>
            </a:pPr>
            <a:endParaRPr lang="en-US" dirty="0"/>
          </a:p>
          <a:p>
            <a:pPr marL="186262" indent="0">
              <a:lnSpc>
                <a:spcPct val="100000"/>
              </a:lnSpc>
              <a:buNone/>
            </a:pPr>
            <a:r>
              <a:rPr lang="en-US" dirty="0"/>
              <a:t>Absence of a "Growth Story": The Analytics team has not yet synthesized the raw e-commerce data—spanning website sessions, orders, and product refunds—into a compelling, data-driven narrative that proves high growth and performance optimization to potential investors.</a:t>
            </a:r>
          </a:p>
          <a:p>
            <a:pPr marL="186262" indent="0">
              <a:lnSpc>
                <a:spcPct val="100000"/>
              </a:lnSpc>
              <a:buNone/>
            </a:pPr>
            <a:endParaRPr lang="en-US" dirty="0"/>
          </a:p>
          <a:p>
            <a:pPr marL="186262" indent="0">
              <a:lnSpc>
                <a:spcPct val="100000"/>
              </a:lnSpc>
              <a:buNone/>
            </a:pPr>
            <a:r>
              <a:rPr lang="en-US" dirty="0"/>
              <a:t>The goal of this project is to bridge these gaps by developing a suite of stakeholder-specific dashboards and performing a detailed analysis of company performance and new product progress.</a:t>
            </a:r>
            <a:endParaRPr lang="en-IN" dirty="0"/>
          </a:p>
        </p:txBody>
      </p:sp>
    </p:spTree>
    <p:extLst>
      <p:ext uri="{BB962C8B-B14F-4D97-AF65-F5344CB8AC3E}">
        <p14:creationId xmlns:p14="http://schemas.microsoft.com/office/powerpoint/2010/main" val="659351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57606"/>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lIns="91440" tIns="45720" rIns="91440" bIns="45720">
            <a:spAutoFit/>
          </a:bodyPr>
          <a:lstStyle/>
          <a:p>
            <a:pPr algn="ctr"/>
            <a:r>
              <a:rPr lang="en-US" sz="3200" cap="small" dirty="0"/>
              <a:t>Technology Stack</a:t>
            </a:r>
            <a:endParaRPr lang="en-US" sz="3200" b="0" cap="small" spc="0" dirty="0">
              <a:ln w="0"/>
              <a:solidFill>
                <a:schemeClr val="tx1"/>
              </a:solidFill>
              <a:effectLst>
                <a:outerShdw blurRad="38100" dist="19050" dir="2700000" algn="tl" rotWithShape="0">
                  <a:schemeClr val="dk1">
                    <a:alpha val="40000"/>
                  </a:schemeClr>
                </a:outerShdw>
              </a:effectLst>
            </a:endParaRPr>
          </a:p>
        </p:txBody>
      </p:sp>
      <p:sp>
        <p:nvSpPr>
          <p:cNvPr id="2" name="TextBox 1"/>
          <p:cNvSpPr txBox="1"/>
          <p:nvPr/>
        </p:nvSpPr>
        <p:spPr>
          <a:xfrm>
            <a:off x="189887" y="865565"/>
            <a:ext cx="8917497" cy="544251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lnSpc>
                <a:spcPct val="150000"/>
              </a:lnSpc>
              <a:buFont typeface="Arial" panose="020B0604020202020204" pitchFamily="34" charset="0"/>
              <a:buChar char="•"/>
            </a:pPr>
            <a:r>
              <a:rPr lang="en-US" dirty="0"/>
              <a:t>Microsoft PowerPoint – Used for presenting project findings, insights, and key visuals in a concise and professional format.</a:t>
            </a:r>
          </a:p>
          <a:p>
            <a:pPr marL="285750" indent="-285750">
              <a:lnSpc>
                <a:spcPct val="150000"/>
              </a:lnSpc>
              <a:buFont typeface="Arial" panose="020B0604020202020204" pitchFamily="34" charset="0"/>
              <a:buChar char="•"/>
            </a:pPr>
            <a:r>
              <a:rPr lang="en-US" dirty="0"/>
              <a:t>Python – Utilized for data cleaning, exploratory data analysis (EDA), statistical insights, and generating visualizations using libraries such as Pandas, NumPy, Matplotlib, and Seaborn.</a:t>
            </a:r>
          </a:p>
          <a:p>
            <a:pPr marL="285750" indent="-285750">
              <a:lnSpc>
                <a:spcPct val="150000"/>
              </a:lnSpc>
              <a:buFont typeface="Arial" panose="020B0604020202020204" pitchFamily="34" charset="0"/>
              <a:buChar char="•"/>
            </a:pPr>
            <a:r>
              <a:rPr lang="en-US" dirty="0"/>
              <a:t>SSMS – Used for querying relational databases, extracting raw data, and performing data manipulation using standard SQL commands. </a:t>
            </a:r>
          </a:p>
          <a:p>
            <a:pPr marL="285750" indent="-285750">
              <a:lnSpc>
                <a:spcPct val="150000"/>
              </a:lnSpc>
              <a:buFont typeface="Arial" panose="020B0604020202020204" pitchFamily="34" charset="0"/>
              <a:buChar char="•"/>
            </a:pPr>
            <a:r>
              <a:rPr lang="en-US" dirty="0"/>
              <a:t>Excel – Employed for preliminary data inspection, quick calculations, and creating summary reports using Pivot Tables and advanced formulas.</a:t>
            </a:r>
          </a:p>
          <a:p>
            <a:pPr marL="285750" indent="-285750">
              <a:lnSpc>
                <a:spcPct val="150000"/>
              </a:lnSpc>
              <a:buFont typeface="Arial" panose="020B0604020202020204" pitchFamily="34" charset="0"/>
              <a:buChar char="•"/>
            </a:pPr>
            <a:r>
              <a:rPr lang="en-US" dirty="0"/>
              <a:t>Power BI  – Designed interactive dashboards and reports to visualize key performance indicators (KPIs) and enable data-driven decision-making.</a:t>
            </a:r>
          </a:p>
          <a:p>
            <a:pPr marL="285750" indent="-285750">
              <a:lnSpc>
                <a:spcPct val="150000"/>
              </a:lnSpc>
              <a:buFont typeface="Arial" panose="020B0604020202020204" pitchFamily="34" charset="0"/>
              <a:buChar char="•"/>
            </a:pPr>
            <a:r>
              <a:rPr lang="en-US" dirty="0" err="1"/>
              <a:t>Streamlit</a:t>
            </a:r>
            <a:r>
              <a:rPr lang="en-US" dirty="0"/>
              <a:t> – The open-source framework used to transform data scripts into the interactive web-based dashboards required by the CEO and managers.</a:t>
            </a:r>
          </a:p>
        </p:txBody>
      </p:sp>
      <p:pic>
        <p:nvPicPr>
          <p:cNvPr id="1032" name="Picture 8" descr="the powerpoint logo is shown on an app icon with a red circle in the center">
            <a:extLst>
              <a:ext uri="{FF2B5EF4-FFF2-40B4-BE49-F238E27FC236}">
                <a16:creationId xmlns:a16="http://schemas.microsoft.com/office/drawing/2014/main" id="{2AC8EF30-2F27-F312-BC06-4458E48550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0348" y="1389922"/>
            <a:ext cx="1410224" cy="116591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Python Logo PNG Vector">
            <a:extLst>
              <a:ext uri="{FF2B5EF4-FFF2-40B4-BE49-F238E27FC236}">
                <a16:creationId xmlns:a16="http://schemas.microsoft.com/office/drawing/2014/main" id="{452FEA29-A451-122B-D220-FA304EE36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30348" y="3429000"/>
            <a:ext cx="1415777" cy="1272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1959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03B91D-5C02-48C0-DF6E-84767A9F9558}"/>
              </a:ext>
            </a:extLst>
          </p:cNvPr>
          <p:cNvSpPr txBox="1"/>
          <p:nvPr/>
        </p:nvSpPr>
        <p:spPr>
          <a:xfrm>
            <a:off x="0" y="193964"/>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lIns="91440" tIns="45720" rIns="91440" bIns="45720">
            <a:spAutoFit/>
          </a:bodyPr>
          <a:lstStyle>
            <a:defPPr>
              <a:defRPr lang="en-US"/>
            </a:defPPr>
            <a:lvl1pPr algn="ctr">
              <a:defRPr sz="4800" cap="small"/>
            </a:lvl1pPr>
          </a:lstStyle>
          <a:p>
            <a:r>
              <a:rPr lang="en-US" sz="3200" dirty="0"/>
              <a:t>Data Dictionary (1/6)</a:t>
            </a:r>
            <a:endParaRPr lang="en-IN" sz="3200" dirty="0">
              <a:sym typeface="Arial"/>
            </a:endParaRPr>
          </a:p>
        </p:txBody>
      </p:sp>
      <p:sp>
        <p:nvSpPr>
          <p:cNvPr id="16" name="TextBox 15"/>
          <p:cNvSpPr txBox="1"/>
          <p:nvPr/>
        </p:nvSpPr>
        <p:spPr>
          <a:xfrm>
            <a:off x="161255" y="1112556"/>
            <a:ext cx="2254773" cy="369332"/>
          </a:xfrm>
          <a:prstGeom prst="rect">
            <a:avLst/>
          </a:prstGeom>
          <a:noFill/>
        </p:spPr>
        <p:txBody>
          <a:bodyPr wrap="square" rtlCol="0">
            <a:spAutoFit/>
          </a:bodyPr>
          <a:lstStyle/>
          <a:p>
            <a:r>
              <a:rPr lang="en-US" b="1" dirty="0"/>
              <a:t>Website sessions</a:t>
            </a:r>
          </a:p>
        </p:txBody>
      </p:sp>
      <p:graphicFrame>
        <p:nvGraphicFramePr>
          <p:cNvPr id="2" name="Table 1">
            <a:extLst>
              <a:ext uri="{FF2B5EF4-FFF2-40B4-BE49-F238E27FC236}">
                <a16:creationId xmlns:a16="http://schemas.microsoft.com/office/drawing/2014/main" id="{60D8297A-B5D2-3D0B-2E71-DD0725ABB048}"/>
              </a:ext>
            </a:extLst>
          </p:cNvPr>
          <p:cNvGraphicFramePr>
            <a:graphicFrameLocks noGrp="1"/>
          </p:cNvGraphicFramePr>
          <p:nvPr>
            <p:extLst>
              <p:ext uri="{D42A27DB-BD31-4B8C-83A1-F6EECF244321}">
                <p14:modId xmlns:p14="http://schemas.microsoft.com/office/powerpoint/2010/main" val="2892493049"/>
              </p:ext>
            </p:extLst>
          </p:nvPr>
        </p:nvGraphicFramePr>
        <p:xfrm>
          <a:off x="260028" y="1869408"/>
          <a:ext cx="11200852" cy="3119184"/>
        </p:xfrm>
        <a:graphic>
          <a:graphicData uri="http://schemas.openxmlformats.org/drawingml/2006/table">
            <a:tbl>
              <a:tblPr firstRow="1" bandRow="1">
                <a:tableStyleId>{073A0DAA-6AF3-43AB-8588-CEC1D06C72B9}</a:tableStyleId>
              </a:tblPr>
              <a:tblGrid>
                <a:gridCol w="2800213">
                  <a:extLst>
                    <a:ext uri="{9D8B030D-6E8A-4147-A177-3AD203B41FA5}">
                      <a16:colId xmlns:a16="http://schemas.microsoft.com/office/drawing/2014/main" val="3272067894"/>
                    </a:ext>
                  </a:extLst>
                </a:gridCol>
                <a:gridCol w="1906409">
                  <a:extLst>
                    <a:ext uri="{9D8B030D-6E8A-4147-A177-3AD203B41FA5}">
                      <a16:colId xmlns:a16="http://schemas.microsoft.com/office/drawing/2014/main" val="1602947408"/>
                    </a:ext>
                  </a:extLst>
                </a:gridCol>
                <a:gridCol w="1470454">
                  <a:extLst>
                    <a:ext uri="{9D8B030D-6E8A-4147-A177-3AD203B41FA5}">
                      <a16:colId xmlns:a16="http://schemas.microsoft.com/office/drawing/2014/main" val="472548483"/>
                    </a:ext>
                  </a:extLst>
                </a:gridCol>
                <a:gridCol w="5023776">
                  <a:extLst>
                    <a:ext uri="{9D8B030D-6E8A-4147-A177-3AD203B41FA5}">
                      <a16:colId xmlns:a16="http://schemas.microsoft.com/office/drawing/2014/main" val="783049146"/>
                    </a:ext>
                  </a:extLst>
                </a:gridCol>
              </a:tblGrid>
              <a:tr h="201106">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Column</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Distinct Values</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Data Type</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Description</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347990864"/>
                  </a:ext>
                </a:extLst>
              </a:tr>
              <a:tr h="201106">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Website_session_id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4,72,871</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Unique identifier for each website session</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665514948"/>
                  </a:ext>
                </a:extLst>
              </a:tr>
              <a:tr h="201106">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Created_at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4,70,444</a:t>
                      </a:r>
                    </a:p>
                  </a:txBody>
                  <a:tcPr anchor="ctr"/>
                </a:tc>
                <a:tc>
                  <a:txBody>
                    <a:bodyPr/>
                    <a:lstStyle/>
                    <a:p>
                      <a:pPr algn="l"/>
                      <a:r>
                        <a:rPr lang="en-US" sz="1400" dirty="0" err="1">
                          <a:latin typeface="Calibri" panose="020F0502020204030204" pitchFamily="34" charset="0"/>
                          <a:ea typeface="Calibri" panose="020F0502020204030204" pitchFamily="34" charset="0"/>
                          <a:cs typeface="Calibri" panose="020F0502020204030204" pitchFamily="34" charset="0"/>
                        </a:rPr>
                        <a:t>DateTime</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Timestamp when the session started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107003590"/>
                  </a:ext>
                </a:extLst>
              </a:tr>
              <a:tr h="201106">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User_id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3,94,318</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Identifier for the user who initiated the session</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4054270412"/>
                  </a:ext>
                </a:extLst>
              </a:tr>
              <a:tr h="201106">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Is_repeat_session</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Flag for returning user</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426296420"/>
                  </a:ext>
                </a:extLst>
              </a:tr>
              <a:tr h="201106">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UTM_source</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3</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Varchar</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Marketing source parameter for session </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098508955"/>
                  </a:ext>
                </a:extLst>
              </a:tr>
              <a:tr h="201106">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UTM_campaign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4</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Varchar</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Marketing campaign identifier</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647114299"/>
                  </a:ext>
                </a:extLst>
              </a:tr>
              <a:tr h="201106">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UTM_content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6</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Varchar</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Content variant used in the campaign</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539722527"/>
                  </a:ext>
                </a:extLst>
              </a:tr>
              <a:tr h="201106">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Device_type</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Varchar</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Device type used by user</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4136843540"/>
                  </a:ext>
                </a:extLst>
              </a:tr>
              <a:tr h="201106">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HTTP_referer</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3</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Varchar</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URL of the referring webpage</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081129056"/>
                  </a:ext>
                </a:extLst>
              </a:tr>
            </a:tbl>
          </a:graphicData>
        </a:graphic>
      </p:graphicFrame>
    </p:spTree>
    <p:extLst>
      <p:ext uri="{BB962C8B-B14F-4D97-AF65-F5344CB8AC3E}">
        <p14:creationId xmlns:p14="http://schemas.microsoft.com/office/powerpoint/2010/main" val="2557546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03B91D-5C02-48C0-DF6E-84767A9F9558}"/>
              </a:ext>
            </a:extLst>
          </p:cNvPr>
          <p:cNvSpPr txBox="1"/>
          <p:nvPr/>
        </p:nvSpPr>
        <p:spPr>
          <a:xfrm>
            <a:off x="0" y="193964"/>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lIns="91440" tIns="45720" rIns="91440" bIns="45720">
            <a:spAutoFit/>
          </a:bodyPr>
          <a:lstStyle>
            <a:defPPr>
              <a:defRPr lang="en-US"/>
            </a:defPPr>
            <a:lvl1pPr algn="ctr">
              <a:defRPr sz="4800" cap="small"/>
            </a:lvl1pPr>
          </a:lstStyle>
          <a:p>
            <a:r>
              <a:rPr lang="en-US" sz="3200" dirty="0"/>
              <a:t>Data Dictionary (2/6)</a:t>
            </a:r>
            <a:endParaRPr lang="en-IN" sz="3200" dirty="0">
              <a:sym typeface="Arial"/>
            </a:endParaRPr>
          </a:p>
        </p:txBody>
      </p:sp>
      <p:sp>
        <p:nvSpPr>
          <p:cNvPr id="20" name="TextBox 19"/>
          <p:cNvSpPr txBox="1"/>
          <p:nvPr/>
        </p:nvSpPr>
        <p:spPr>
          <a:xfrm>
            <a:off x="236887" y="1080908"/>
            <a:ext cx="2321756" cy="369332"/>
          </a:xfrm>
          <a:prstGeom prst="rect">
            <a:avLst/>
          </a:prstGeom>
          <a:noFill/>
        </p:spPr>
        <p:txBody>
          <a:bodyPr wrap="square" rtlCol="0">
            <a:spAutoFit/>
          </a:bodyPr>
          <a:lstStyle/>
          <a:p>
            <a:r>
              <a:rPr lang="en-IN" b="1" dirty="0"/>
              <a:t>Website pageviews</a:t>
            </a:r>
            <a:endParaRPr lang="en-US" b="1" dirty="0"/>
          </a:p>
        </p:txBody>
      </p:sp>
      <p:graphicFrame>
        <p:nvGraphicFramePr>
          <p:cNvPr id="3" name="Table 2">
            <a:extLst>
              <a:ext uri="{FF2B5EF4-FFF2-40B4-BE49-F238E27FC236}">
                <a16:creationId xmlns:a16="http://schemas.microsoft.com/office/drawing/2014/main" id="{5284F77B-F1BB-4548-2189-DE22D5C6B448}"/>
              </a:ext>
            </a:extLst>
          </p:cNvPr>
          <p:cNvGraphicFramePr>
            <a:graphicFrameLocks noGrp="1"/>
          </p:cNvGraphicFramePr>
          <p:nvPr>
            <p:extLst>
              <p:ext uri="{D42A27DB-BD31-4B8C-83A1-F6EECF244321}">
                <p14:modId xmlns:p14="http://schemas.microsoft.com/office/powerpoint/2010/main" val="1807432889"/>
              </p:ext>
            </p:extLst>
          </p:nvPr>
        </p:nvGraphicFramePr>
        <p:xfrm>
          <a:off x="236886" y="1833816"/>
          <a:ext cx="11200852" cy="1595184"/>
        </p:xfrm>
        <a:graphic>
          <a:graphicData uri="http://schemas.openxmlformats.org/drawingml/2006/table">
            <a:tbl>
              <a:tblPr firstRow="1" bandRow="1">
                <a:tableStyleId>{073A0DAA-6AF3-43AB-8588-CEC1D06C72B9}</a:tableStyleId>
              </a:tblPr>
              <a:tblGrid>
                <a:gridCol w="2800213">
                  <a:extLst>
                    <a:ext uri="{9D8B030D-6E8A-4147-A177-3AD203B41FA5}">
                      <a16:colId xmlns:a16="http://schemas.microsoft.com/office/drawing/2014/main" val="3272067894"/>
                    </a:ext>
                  </a:extLst>
                </a:gridCol>
                <a:gridCol w="1943479">
                  <a:extLst>
                    <a:ext uri="{9D8B030D-6E8A-4147-A177-3AD203B41FA5}">
                      <a16:colId xmlns:a16="http://schemas.microsoft.com/office/drawing/2014/main" val="1602947408"/>
                    </a:ext>
                  </a:extLst>
                </a:gridCol>
                <a:gridCol w="1544594">
                  <a:extLst>
                    <a:ext uri="{9D8B030D-6E8A-4147-A177-3AD203B41FA5}">
                      <a16:colId xmlns:a16="http://schemas.microsoft.com/office/drawing/2014/main" val="472548483"/>
                    </a:ext>
                  </a:extLst>
                </a:gridCol>
                <a:gridCol w="4912566">
                  <a:extLst>
                    <a:ext uri="{9D8B030D-6E8A-4147-A177-3AD203B41FA5}">
                      <a16:colId xmlns:a16="http://schemas.microsoft.com/office/drawing/2014/main" val="783049146"/>
                    </a:ext>
                  </a:extLst>
                </a:gridCol>
              </a:tblGrid>
              <a:tr h="254556">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Column</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Distinct Values</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Data Type</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Description</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347990864"/>
                  </a:ext>
                </a:extLst>
              </a:tr>
              <a:tr h="220157">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Website_pageview_id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11,88,124</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Unique identifier for each pageview event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665514948"/>
                  </a:ext>
                </a:extLst>
              </a:tr>
              <a:tr h="220157">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Created_at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11,71,962</a:t>
                      </a:r>
                    </a:p>
                  </a:txBody>
                  <a:tcPr anchor="ctr"/>
                </a:tc>
                <a:tc>
                  <a:txBody>
                    <a:bodyPr/>
                    <a:lstStyle/>
                    <a:p>
                      <a:pPr algn="l"/>
                      <a:r>
                        <a:rPr lang="en-US" sz="1400" dirty="0" err="1">
                          <a:latin typeface="Calibri" panose="020F0502020204030204" pitchFamily="34" charset="0"/>
                          <a:ea typeface="Calibri" panose="020F0502020204030204" pitchFamily="34" charset="0"/>
                          <a:cs typeface="Calibri" panose="020F0502020204030204" pitchFamily="34" charset="0"/>
                        </a:rPr>
                        <a:t>DateTime</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Timestamp when the pageview occurred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107003590"/>
                  </a:ext>
                </a:extLst>
              </a:tr>
              <a:tr h="220157">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Website_session_id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4,72,871</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ID linking the pageview to specific website sessions</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4054270412"/>
                  </a:ext>
                </a:extLst>
              </a:tr>
              <a:tr h="220157">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Pageview_URL</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16</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Varchar</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URL of the webpage viewed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426296420"/>
                  </a:ext>
                </a:extLst>
              </a:tr>
            </a:tbl>
          </a:graphicData>
        </a:graphic>
      </p:graphicFrame>
    </p:spTree>
    <p:extLst>
      <p:ext uri="{BB962C8B-B14F-4D97-AF65-F5344CB8AC3E}">
        <p14:creationId xmlns:p14="http://schemas.microsoft.com/office/powerpoint/2010/main" val="4170026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7349D-B0E4-562D-9904-67134E42CDB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9B66089-4D10-7CBC-7B13-2E7BEE77398B}"/>
              </a:ext>
            </a:extLst>
          </p:cNvPr>
          <p:cNvSpPr txBox="1"/>
          <p:nvPr/>
        </p:nvSpPr>
        <p:spPr>
          <a:xfrm>
            <a:off x="0" y="193964"/>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lIns="91440" tIns="45720" rIns="91440" bIns="45720">
            <a:spAutoFit/>
          </a:bodyPr>
          <a:lstStyle>
            <a:defPPr>
              <a:defRPr lang="en-US"/>
            </a:defPPr>
            <a:lvl1pPr algn="ctr">
              <a:defRPr sz="4800" cap="small"/>
            </a:lvl1pPr>
          </a:lstStyle>
          <a:p>
            <a:r>
              <a:rPr lang="en-US" sz="3200" dirty="0"/>
              <a:t>Data Dictionary (3/6)</a:t>
            </a:r>
            <a:endParaRPr lang="en-IN" sz="3200" dirty="0">
              <a:sym typeface="Arial"/>
            </a:endParaRPr>
          </a:p>
        </p:txBody>
      </p:sp>
      <p:sp>
        <p:nvSpPr>
          <p:cNvPr id="20" name="TextBox 19">
            <a:extLst>
              <a:ext uri="{FF2B5EF4-FFF2-40B4-BE49-F238E27FC236}">
                <a16:creationId xmlns:a16="http://schemas.microsoft.com/office/drawing/2014/main" id="{10B83A0D-1930-DA66-E679-5304690EC080}"/>
              </a:ext>
            </a:extLst>
          </p:cNvPr>
          <p:cNvSpPr txBox="1"/>
          <p:nvPr/>
        </p:nvSpPr>
        <p:spPr>
          <a:xfrm>
            <a:off x="144607" y="1080908"/>
            <a:ext cx="1717749" cy="369332"/>
          </a:xfrm>
          <a:prstGeom prst="rect">
            <a:avLst/>
          </a:prstGeom>
          <a:noFill/>
        </p:spPr>
        <p:txBody>
          <a:bodyPr wrap="square" rtlCol="0">
            <a:spAutoFit/>
          </a:bodyPr>
          <a:lstStyle/>
          <a:p>
            <a:r>
              <a:rPr lang="en-US" b="1" dirty="0"/>
              <a:t>Orders table</a:t>
            </a:r>
          </a:p>
        </p:txBody>
      </p:sp>
      <p:graphicFrame>
        <p:nvGraphicFramePr>
          <p:cNvPr id="2" name="Table 1">
            <a:extLst>
              <a:ext uri="{FF2B5EF4-FFF2-40B4-BE49-F238E27FC236}">
                <a16:creationId xmlns:a16="http://schemas.microsoft.com/office/drawing/2014/main" id="{BA729A7C-1C44-0B56-993D-E11906878D29}"/>
              </a:ext>
            </a:extLst>
          </p:cNvPr>
          <p:cNvGraphicFramePr>
            <a:graphicFrameLocks noGrp="1"/>
          </p:cNvGraphicFramePr>
          <p:nvPr>
            <p:extLst>
              <p:ext uri="{D42A27DB-BD31-4B8C-83A1-F6EECF244321}">
                <p14:modId xmlns:p14="http://schemas.microsoft.com/office/powerpoint/2010/main" val="613457439"/>
              </p:ext>
            </p:extLst>
          </p:nvPr>
        </p:nvGraphicFramePr>
        <p:xfrm>
          <a:off x="144607" y="1752409"/>
          <a:ext cx="11182074" cy="2814384"/>
        </p:xfrm>
        <a:graphic>
          <a:graphicData uri="http://schemas.openxmlformats.org/drawingml/2006/table">
            <a:tbl>
              <a:tblPr firstRow="1" bandRow="1">
                <a:tableStyleId>{073A0DAA-6AF3-43AB-8588-CEC1D06C72B9}</a:tableStyleId>
              </a:tblPr>
              <a:tblGrid>
                <a:gridCol w="2781436">
                  <a:extLst>
                    <a:ext uri="{9D8B030D-6E8A-4147-A177-3AD203B41FA5}">
                      <a16:colId xmlns:a16="http://schemas.microsoft.com/office/drawing/2014/main" val="3272067894"/>
                    </a:ext>
                  </a:extLst>
                </a:gridCol>
                <a:gridCol w="2034012">
                  <a:extLst>
                    <a:ext uri="{9D8B030D-6E8A-4147-A177-3AD203B41FA5}">
                      <a16:colId xmlns:a16="http://schemas.microsoft.com/office/drawing/2014/main" val="1602947408"/>
                    </a:ext>
                  </a:extLst>
                </a:gridCol>
                <a:gridCol w="1543811">
                  <a:extLst>
                    <a:ext uri="{9D8B030D-6E8A-4147-A177-3AD203B41FA5}">
                      <a16:colId xmlns:a16="http://schemas.microsoft.com/office/drawing/2014/main" val="472548483"/>
                    </a:ext>
                  </a:extLst>
                </a:gridCol>
                <a:gridCol w="4822815">
                  <a:extLst>
                    <a:ext uri="{9D8B030D-6E8A-4147-A177-3AD203B41FA5}">
                      <a16:colId xmlns:a16="http://schemas.microsoft.com/office/drawing/2014/main" val="783049146"/>
                    </a:ext>
                  </a:extLst>
                </a:gridCol>
              </a:tblGrid>
              <a:tr h="132356">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Column</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Distinct Values</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Data Type</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Description</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347990864"/>
                  </a:ext>
                </a:extLst>
              </a:tr>
              <a:tr h="128021">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Order_id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32,313</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Unique identifier for each order</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665514948"/>
                  </a:ext>
                </a:extLst>
              </a:tr>
              <a:tr h="128021">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Created_at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32,299</a:t>
                      </a:r>
                    </a:p>
                  </a:txBody>
                  <a:tcPr anchor="ctr"/>
                </a:tc>
                <a:tc>
                  <a:txBody>
                    <a:bodyPr/>
                    <a:lstStyle/>
                    <a:p>
                      <a:pPr algn="l"/>
                      <a:r>
                        <a:rPr lang="en-US" sz="1400" dirty="0" err="1">
                          <a:latin typeface="Calibri" panose="020F0502020204030204" pitchFamily="34" charset="0"/>
                          <a:ea typeface="Calibri" panose="020F0502020204030204" pitchFamily="34" charset="0"/>
                          <a:cs typeface="Calibri" panose="020F0502020204030204" pitchFamily="34" charset="0"/>
                        </a:rPr>
                        <a:t>DateTime</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Timestamp when the order was placed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107003590"/>
                  </a:ext>
                </a:extLst>
              </a:tr>
              <a:tr h="154129">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Website_Session_id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32,313</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Link to website session on which order was made</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4054270412"/>
                  </a:ext>
                </a:extLst>
              </a:tr>
              <a:tr h="128021">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User_id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31,696</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Identifier of the user who placed the order</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426296420"/>
                  </a:ext>
                </a:extLst>
              </a:tr>
              <a:tr h="128021">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Primary_product_id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4</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Product ID of the main product in the order</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098508955"/>
                  </a:ext>
                </a:extLst>
              </a:tr>
              <a:tr h="128021">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Items_Purchased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Number of items in the order</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647114299"/>
                  </a:ext>
                </a:extLst>
              </a:tr>
              <a:tr h="128021">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Price_USD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10</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Float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Total price of the order in USD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539722527"/>
                  </a:ext>
                </a:extLst>
              </a:tr>
              <a:tr h="128021">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Cogs_USD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10</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Float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Total cost of goods sold in USD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4136843540"/>
                  </a:ext>
                </a:extLst>
              </a:tr>
            </a:tbl>
          </a:graphicData>
        </a:graphic>
      </p:graphicFrame>
    </p:spTree>
    <p:extLst>
      <p:ext uri="{BB962C8B-B14F-4D97-AF65-F5344CB8AC3E}">
        <p14:creationId xmlns:p14="http://schemas.microsoft.com/office/powerpoint/2010/main" val="2287131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B25F3-37CA-141D-4A76-3DA3135E84C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41FB7F6-ECCF-01CA-3B54-4832F6D22DCB}"/>
              </a:ext>
            </a:extLst>
          </p:cNvPr>
          <p:cNvSpPr txBox="1"/>
          <p:nvPr/>
        </p:nvSpPr>
        <p:spPr>
          <a:xfrm>
            <a:off x="0" y="193964"/>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lIns="91440" tIns="45720" rIns="91440" bIns="45720">
            <a:spAutoFit/>
          </a:bodyPr>
          <a:lstStyle>
            <a:defPPr>
              <a:defRPr lang="en-US"/>
            </a:defPPr>
            <a:lvl1pPr algn="ctr">
              <a:defRPr sz="4800" cap="small"/>
            </a:lvl1pPr>
          </a:lstStyle>
          <a:p>
            <a:r>
              <a:rPr lang="en-US" sz="3200" dirty="0"/>
              <a:t>Data Dictionary (4/6)</a:t>
            </a:r>
            <a:endParaRPr lang="en-IN" sz="3200" dirty="0">
              <a:sym typeface="Arial"/>
            </a:endParaRPr>
          </a:p>
        </p:txBody>
      </p:sp>
      <p:sp>
        <p:nvSpPr>
          <p:cNvPr id="20" name="TextBox 19">
            <a:extLst>
              <a:ext uri="{FF2B5EF4-FFF2-40B4-BE49-F238E27FC236}">
                <a16:creationId xmlns:a16="http://schemas.microsoft.com/office/drawing/2014/main" id="{F22D9F58-0044-D02A-5807-F782AF20FEDF}"/>
              </a:ext>
            </a:extLst>
          </p:cNvPr>
          <p:cNvSpPr txBox="1"/>
          <p:nvPr/>
        </p:nvSpPr>
        <p:spPr>
          <a:xfrm>
            <a:off x="236886" y="1080908"/>
            <a:ext cx="4754563" cy="369332"/>
          </a:xfrm>
          <a:prstGeom prst="rect">
            <a:avLst/>
          </a:prstGeom>
          <a:noFill/>
        </p:spPr>
        <p:txBody>
          <a:bodyPr wrap="square" rtlCol="0">
            <a:spAutoFit/>
          </a:bodyPr>
          <a:lstStyle/>
          <a:p>
            <a:r>
              <a:rPr lang="en-US" b="1" dirty="0"/>
              <a:t>Order items</a:t>
            </a:r>
          </a:p>
        </p:txBody>
      </p:sp>
      <p:graphicFrame>
        <p:nvGraphicFramePr>
          <p:cNvPr id="4" name="Table 3">
            <a:extLst>
              <a:ext uri="{FF2B5EF4-FFF2-40B4-BE49-F238E27FC236}">
                <a16:creationId xmlns:a16="http://schemas.microsoft.com/office/drawing/2014/main" id="{7B287A9A-E82C-6D4E-7980-E1AB241F5D05}"/>
              </a:ext>
            </a:extLst>
          </p:cNvPr>
          <p:cNvGraphicFramePr>
            <a:graphicFrameLocks noGrp="1"/>
          </p:cNvGraphicFramePr>
          <p:nvPr>
            <p:extLst>
              <p:ext uri="{D42A27DB-BD31-4B8C-83A1-F6EECF244321}">
                <p14:modId xmlns:p14="http://schemas.microsoft.com/office/powerpoint/2010/main" val="548281485"/>
              </p:ext>
            </p:extLst>
          </p:nvPr>
        </p:nvGraphicFramePr>
        <p:xfrm>
          <a:off x="236886" y="1752409"/>
          <a:ext cx="11082708" cy="2509584"/>
        </p:xfrm>
        <a:graphic>
          <a:graphicData uri="http://schemas.openxmlformats.org/drawingml/2006/table">
            <a:tbl>
              <a:tblPr firstRow="1" bandRow="1">
                <a:tableStyleId>{073A0DAA-6AF3-43AB-8588-CEC1D06C72B9}</a:tableStyleId>
              </a:tblPr>
              <a:tblGrid>
                <a:gridCol w="2770677">
                  <a:extLst>
                    <a:ext uri="{9D8B030D-6E8A-4147-A177-3AD203B41FA5}">
                      <a16:colId xmlns:a16="http://schemas.microsoft.com/office/drawing/2014/main" val="3272067894"/>
                    </a:ext>
                  </a:extLst>
                </a:gridCol>
                <a:gridCol w="1997201">
                  <a:extLst>
                    <a:ext uri="{9D8B030D-6E8A-4147-A177-3AD203B41FA5}">
                      <a16:colId xmlns:a16="http://schemas.microsoft.com/office/drawing/2014/main" val="1602947408"/>
                    </a:ext>
                  </a:extLst>
                </a:gridCol>
                <a:gridCol w="1655806">
                  <a:extLst>
                    <a:ext uri="{9D8B030D-6E8A-4147-A177-3AD203B41FA5}">
                      <a16:colId xmlns:a16="http://schemas.microsoft.com/office/drawing/2014/main" val="472548483"/>
                    </a:ext>
                  </a:extLst>
                </a:gridCol>
                <a:gridCol w="4659024">
                  <a:extLst>
                    <a:ext uri="{9D8B030D-6E8A-4147-A177-3AD203B41FA5}">
                      <a16:colId xmlns:a16="http://schemas.microsoft.com/office/drawing/2014/main" val="783049146"/>
                    </a:ext>
                  </a:extLst>
                </a:gridCol>
              </a:tblGrid>
              <a:tr h="168386">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Column</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Distinct Values</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Data Type</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Description</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347990864"/>
                  </a:ext>
                </a:extLst>
              </a:tr>
              <a:tr h="157548">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Order_item_id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40,025</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Unique identifier for each order item entry</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665514948"/>
                  </a:ext>
                </a:extLst>
              </a:tr>
              <a:tr h="157548">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Created_at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32,299</a:t>
                      </a:r>
                    </a:p>
                  </a:txBody>
                  <a:tcPr anchor="ctr"/>
                </a:tc>
                <a:tc>
                  <a:txBody>
                    <a:bodyPr/>
                    <a:lstStyle/>
                    <a:p>
                      <a:pPr algn="l"/>
                      <a:r>
                        <a:rPr lang="en-US" sz="1400" dirty="0" err="1">
                          <a:latin typeface="Calibri" panose="020F0502020204030204" pitchFamily="34" charset="0"/>
                          <a:ea typeface="Calibri" panose="020F0502020204030204" pitchFamily="34" charset="0"/>
                          <a:cs typeface="Calibri" panose="020F0502020204030204" pitchFamily="34" charset="0"/>
                        </a:rPr>
                        <a:t>DateTime</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Timestamp when the order item record was created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107003590"/>
                  </a:ext>
                </a:extLst>
              </a:tr>
              <a:tr h="157548">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Order_id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32,313</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ID of the order this item belongs to</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4054270412"/>
                  </a:ext>
                </a:extLst>
              </a:tr>
              <a:tr h="157548">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Product_id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4</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ID of the purchased product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426296420"/>
                  </a:ext>
                </a:extLst>
              </a:tr>
              <a:tr h="157548">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Is_Primary_item</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Flag for primary item</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098508955"/>
                  </a:ext>
                </a:extLst>
              </a:tr>
              <a:tr h="157548">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Price_USD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4</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Float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Price of the individual product in USD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647114299"/>
                  </a:ext>
                </a:extLst>
              </a:tr>
              <a:tr h="157548">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Cogs_USD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4</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Float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Cost of goods sold for the product in USD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539722527"/>
                  </a:ext>
                </a:extLst>
              </a:tr>
            </a:tbl>
          </a:graphicData>
        </a:graphic>
      </p:graphicFrame>
    </p:spTree>
    <p:extLst>
      <p:ext uri="{BB962C8B-B14F-4D97-AF65-F5344CB8AC3E}">
        <p14:creationId xmlns:p14="http://schemas.microsoft.com/office/powerpoint/2010/main" val="3895160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4263A-6743-1CAE-8EDA-DF4EC90ED1A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50C191F-7804-CC6F-5C66-42B8FE9EA38F}"/>
              </a:ext>
            </a:extLst>
          </p:cNvPr>
          <p:cNvSpPr txBox="1"/>
          <p:nvPr/>
        </p:nvSpPr>
        <p:spPr>
          <a:xfrm>
            <a:off x="0" y="193964"/>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lIns="91440" tIns="45720" rIns="91440" bIns="45720">
            <a:spAutoFit/>
          </a:bodyPr>
          <a:lstStyle>
            <a:defPPr>
              <a:defRPr lang="en-US"/>
            </a:defPPr>
            <a:lvl1pPr algn="ctr">
              <a:defRPr sz="4800" cap="small"/>
            </a:lvl1pPr>
          </a:lstStyle>
          <a:p>
            <a:r>
              <a:rPr lang="en-US" sz="3200" dirty="0"/>
              <a:t>Data Dictionary (5/6)</a:t>
            </a:r>
            <a:endParaRPr lang="en-IN" sz="3200" dirty="0">
              <a:sym typeface="Arial"/>
            </a:endParaRPr>
          </a:p>
        </p:txBody>
      </p:sp>
      <p:sp>
        <p:nvSpPr>
          <p:cNvPr id="20" name="TextBox 19">
            <a:extLst>
              <a:ext uri="{FF2B5EF4-FFF2-40B4-BE49-F238E27FC236}">
                <a16:creationId xmlns:a16="http://schemas.microsoft.com/office/drawing/2014/main" id="{E4222FD4-287E-E988-FBD4-3D1EF099A9D9}"/>
              </a:ext>
            </a:extLst>
          </p:cNvPr>
          <p:cNvSpPr txBox="1"/>
          <p:nvPr/>
        </p:nvSpPr>
        <p:spPr>
          <a:xfrm>
            <a:off x="236886" y="1080908"/>
            <a:ext cx="4754563" cy="369332"/>
          </a:xfrm>
          <a:prstGeom prst="rect">
            <a:avLst/>
          </a:prstGeom>
          <a:noFill/>
        </p:spPr>
        <p:txBody>
          <a:bodyPr wrap="square" rtlCol="0">
            <a:spAutoFit/>
          </a:bodyPr>
          <a:lstStyle/>
          <a:p>
            <a:r>
              <a:rPr lang="en-US" b="1" dirty="0"/>
              <a:t>O</a:t>
            </a:r>
            <a:r>
              <a:rPr lang="en-IN" b="1" dirty="0" err="1"/>
              <a:t>rder</a:t>
            </a:r>
            <a:r>
              <a:rPr lang="en-IN" b="1" dirty="0"/>
              <a:t> Item refunds</a:t>
            </a:r>
            <a:endParaRPr lang="en-US" b="1" dirty="0"/>
          </a:p>
        </p:txBody>
      </p:sp>
      <p:graphicFrame>
        <p:nvGraphicFramePr>
          <p:cNvPr id="2" name="Table 1">
            <a:extLst>
              <a:ext uri="{FF2B5EF4-FFF2-40B4-BE49-F238E27FC236}">
                <a16:creationId xmlns:a16="http://schemas.microsoft.com/office/drawing/2014/main" id="{34B56140-2614-FE2A-B84D-D525D25C4256}"/>
              </a:ext>
            </a:extLst>
          </p:cNvPr>
          <p:cNvGraphicFramePr>
            <a:graphicFrameLocks noGrp="1"/>
          </p:cNvGraphicFramePr>
          <p:nvPr>
            <p:extLst>
              <p:ext uri="{D42A27DB-BD31-4B8C-83A1-F6EECF244321}">
                <p14:modId xmlns:p14="http://schemas.microsoft.com/office/powerpoint/2010/main" val="1181507966"/>
              </p:ext>
            </p:extLst>
          </p:nvPr>
        </p:nvGraphicFramePr>
        <p:xfrm>
          <a:off x="236886" y="1868001"/>
          <a:ext cx="11200852" cy="1899984"/>
        </p:xfrm>
        <a:graphic>
          <a:graphicData uri="http://schemas.openxmlformats.org/drawingml/2006/table">
            <a:tbl>
              <a:tblPr firstRow="1" bandRow="1">
                <a:tableStyleId>{073A0DAA-6AF3-43AB-8588-CEC1D06C72B9}</a:tableStyleId>
              </a:tblPr>
              <a:tblGrid>
                <a:gridCol w="2800213">
                  <a:extLst>
                    <a:ext uri="{9D8B030D-6E8A-4147-A177-3AD203B41FA5}">
                      <a16:colId xmlns:a16="http://schemas.microsoft.com/office/drawing/2014/main" val="3272067894"/>
                    </a:ext>
                  </a:extLst>
                </a:gridCol>
                <a:gridCol w="1894052">
                  <a:extLst>
                    <a:ext uri="{9D8B030D-6E8A-4147-A177-3AD203B41FA5}">
                      <a16:colId xmlns:a16="http://schemas.microsoft.com/office/drawing/2014/main" val="1602947408"/>
                    </a:ext>
                  </a:extLst>
                </a:gridCol>
                <a:gridCol w="2236573">
                  <a:extLst>
                    <a:ext uri="{9D8B030D-6E8A-4147-A177-3AD203B41FA5}">
                      <a16:colId xmlns:a16="http://schemas.microsoft.com/office/drawing/2014/main" val="472548483"/>
                    </a:ext>
                  </a:extLst>
                </a:gridCol>
                <a:gridCol w="4270014">
                  <a:extLst>
                    <a:ext uri="{9D8B030D-6E8A-4147-A177-3AD203B41FA5}">
                      <a16:colId xmlns:a16="http://schemas.microsoft.com/office/drawing/2014/main" val="783049146"/>
                    </a:ext>
                  </a:extLst>
                </a:gridCol>
              </a:tblGrid>
              <a:tr h="163054">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Column</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Distinct Values</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Data Type</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Description</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347990864"/>
                  </a:ext>
                </a:extLst>
              </a:tr>
              <a:tr h="139734">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Order_Item_refund_Id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1,731</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Unique identifier for each refund event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665514948"/>
                  </a:ext>
                </a:extLst>
              </a:tr>
              <a:tr h="132184">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Created_at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1,731</a:t>
                      </a:r>
                    </a:p>
                  </a:txBody>
                  <a:tcPr anchor="ctr"/>
                </a:tc>
                <a:tc>
                  <a:txBody>
                    <a:bodyPr/>
                    <a:lstStyle/>
                    <a:p>
                      <a:pPr algn="l"/>
                      <a:r>
                        <a:rPr lang="en-US" sz="1400" dirty="0" err="1">
                          <a:latin typeface="Calibri" panose="020F0502020204030204" pitchFamily="34" charset="0"/>
                          <a:ea typeface="Calibri" panose="020F0502020204030204" pitchFamily="34" charset="0"/>
                          <a:cs typeface="Calibri" panose="020F0502020204030204" pitchFamily="34" charset="0"/>
                        </a:rPr>
                        <a:t>DateTime</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Timestamp when the refund was processed.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107003590"/>
                  </a:ext>
                </a:extLst>
              </a:tr>
              <a:tr h="132184">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Order_item_id</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1,731</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ID of the refunded order item</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4054270412"/>
                  </a:ext>
                </a:extLst>
              </a:tr>
              <a:tr h="132184">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Order_id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1,723</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ID of the order associated with the refund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426296420"/>
                  </a:ext>
                </a:extLst>
              </a:tr>
              <a:tr h="199847">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Refund_amount_USD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4</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Float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Amount refunded in USD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098508955"/>
                  </a:ext>
                </a:extLst>
              </a:tr>
            </a:tbl>
          </a:graphicData>
        </a:graphic>
      </p:graphicFrame>
    </p:spTree>
    <p:extLst>
      <p:ext uri="{BB962C8B-B14F-4D97-AF65-F5344CB8AC3E}">
        <p14:creationId xmlns:p14="http://schemas.microsoft.com/office/powerpoint/2010/main" val="1774718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03B91D-5C02-48C0-DF6E-84767A9F9558}"/>
              </a:ext>
            </a:extLst>
          </p:cNvPr>
          <p:cNvSpPr txBox="1"/>
          <p:nvPr/>
        </p:nvSpPr>
        <p:spPr>
          <a:xfrm>
            <a:off x="0" y="193964"/>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lIns="91440" tIns="45720" rIns="91440" bIns="45720">
            <a:spAutoFit/>
          </a:bodyPr>
          <a:lstStyle>
            <a:defPPr>
              <a:defRPr lang="en-US"/>
            </a:defPPr>
            <a:lvl1pPr algn="ctr">
              <a:defRPr sz="4800" cap="small"/>
            </a:lvl1pPr>
          </a:lstStyle>
          <a:p>
            <a:r>
              <a:rPr lang="en-US" sz="3200" dirty="0"/>
              <a:t>Data Dictionary (6/6)</a:t>
            </a:r>
            <a:endParaRPr lang="en-IN" sz="3200" dirty="0">
              <a:sym typeface="Arial"/>
            </a:endParaRPr>
          </a:p>
        </p:txBody>
      </p:sp>
      <p:sp>
        <p:nvSpPr>
          <p:cNvPr id="16" name="TextBox 15"/>
          <p:cNvSpPr txBox="1"/>
          <p:nvPr/>
        </p:nvSpPr>
        <p:spPr>
          <a:xfrm>
            <a:off x="142612" y="1084199"/>
            <a:ext cx="1954636" cy="369332"/>
          </a:xfrm>
          <a:prstGeom prst="rect">
            <a:avLst/>
          </a:prstGeom>
          <a:noFill/>
        </p:spPr>
        <p:txBody>
          <a:bodyPr wrap="square" rtlCol="0">
            <a:spAutoFit/>
          </a:bodyPr>
          <a:lstStyle/>
          <a:p>
            <a:r>
              <a:rPr lang="en-US" b="1" dirty="0"/>
              <a:t>Products table</a:t>
            </a:r>
          </a:p>
        </p:txBody>
      </p:sp>
      <p:graphicFrame>
        <p:nvGraphicFramePr>
          <p:cNvPr id="3" name="Table 2">
            <a:extLst>
              <a:ext uri="{FF2B5EF4-FFF2-40B4-BE49-F238E27FC236}">
                <a16:creationId xmlns:a16="http://schemas.microsoft.com/office/drawing/2014/main" id="{0DB942C1-8E1A-B926-10B0-24B3517F2C43}"/>
              </a:ext>
            </a:extLst>
          </p:cNvPr>
          <p:cNvGraphicFramePr>
            <a:graphicFrameLocks noGrp="1"/>
          </p:cNvGraphicFramePr>
          <p:nvPr>
            <p:extLst>
              <p:ext uri="{D42A27DB-BD31-4B8C-83A1-F6EECF244321}">
                <p14:modId xmlns:p14="http://schemas.microsoft.com/office/powerpoint/2010/main" val="3588437985"/>
              </p:ext>
            </p:extLst>
          </p:nvPr>
        </p:nvGraphicFramePr>
        <p:xfrm>
          <a:off x="142611" y="2138616"/>
          <a:ext cx="11200852" cy="1290384"/>
        </p:xfrm>
        <a:graphic>
          <a:graphicData uri="http://schemas.openxmlformats.org/drawingml/2006/table">
            <a:tbl>
              <a:tblPr firstRow="1" bandRow="1">
                <a:tableStyleId>{073A0DAA-6AF3-43AB-8588-CEC1D06C72B9}</a:tableStyleId>
              </a:tblPr>
              <a:tblGrid>
                <a:gridCol w="2800213">
                  <a:extLst>
                    <a:ext uri="{9D8B030D-6E8A-4147-A177-3AD203B41FA5}">
                      <a16:colId xmlns:a16="http://schemas.microsoft.com/office/drawing/2014/main" val="3272067894"/>
                    </a:ext>
                  </a:extLst>
                </a:gridCol>
                <a:gridCol w="2005263">
                  <a:extLst>
                    <a:ext uri="{9D8B030D-6E8A-4147-A177-3AD203B41FA5}">
                      <a16:colId xmlns:a16="http://schemas.microsoft.com/office/drawing/2014/main" val="1602947408"/>
                    </a:ext>
                  </a:extLst>
                </a:gridCol>
                <a:gridCol w="1828800">
                  <a:extLst>
                    <a:ext uri="{9D8B030D-6E8A-4147-A177-3AD203B41FA5}">
                      <a16:colId xmlns:a16="http://schemas.microsoft.com/office/drawing/2014/main" val="472548483"/>
                    </a:ext>
                  </a:extLst>
                </a:gridCol>
                <a:gridCol w="4566576">
                  <a:extLst>
                    <a:ext uri="{9D8B030D-6E8A-4147-A177-3AD203B41FA5}">
                      <a16:colId xmlns:a16="http://schemas.microsoft.com/office/drawing/2014/main" val="783049146"/>
                    </a:ext>
                  </a:extLst>
                </a:gridCol>
              </a:tblGrid>
              <a:tr h="274166">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Column</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Distinct Values</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Data Type</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dirty="0">
                          <a:latin typeface="Calibri" panose="020F0502020204030204" pitchFamily="34" charset="0"/>
                          <a:ea typeface="Calibri" panose="020F0502020204030204" pitchFamily="34" charset="0"/>
                          <a:cs typeface="Calibri" panose="020F0502020204030204" pitchFamily="34" charset="0"/>
                        </a:rPr>
                        <a:t>Description</a:t>
                      </a:r>
                      <a:endParaRPr lang="en-IN"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347990864"/>
                  </a:ext>
                </a:extLst>
              </a:tr>
              <a:tr h="274166">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Product_id</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4</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Int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Unique identifier for each product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665514948"/>
                  </a:ext>
                </a:extLst>
              </a:tr>
              <a:tr h="274166">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Created_at</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4</a:t>
                      </a:r>
                    </a:p>
                  </a:txBody>
                  <a:tcPr anchor="ctr"/>
                </a:tc>
                <a:tc>
                  <a:txBody>
                    <a:bodyPr/>
                    <a:lstStyle/>
                    <a:p>
                      <a:pPr algn="l"/>
                      <a:r>
                        <a:rPr lang="en-US" sz="1400" dirty="0" err="1">
                          <a:latin typeface="Calibri" panose="020F0502020204030204" pitchFamily="34" charset="0"/>
                          <a:ea typeface="Calibri" panose="020F0502020204030204" pitchFamily="34" charset="0"/>
                          <a:cs typeface="Calibri" panose="020F0502020204030204" pitchFamily="34" charset="0"/>
                        </a:rPr>
                        <a:t>DateTime</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Timestamp when the product was added to the catalog</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107003590"/>
                  </a:ext>
                </a:extLst>
              </a:tr>
              <a:tr h="274166">
                <a:tc>
                  <a:txBody>
                    <a:bodyPr/>
                    <a:lstStyle/>
                    <a:p>
                      <a:pPr algn="l"/>
                      <a:r>
                        <a:rPr lang="en-US" sz="1400">
                          <a:latin typeface="Calibri" panose="020F0502020204030204" pitchFamily="34" charset="0"/>
                          <a:ea typeface="Calibri" panose="020F0502020204030204" pitchFamily="34" charset="0"/>
                          <a:cs typeface="Calibri" panose="020F0502020204030204" pitchFamily="34" charset="0"/>
                        </a:rPr>
                        <a:t>Product_name</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IN" sz="1400" dirty="0">
                          <a:latin typeface="Calibri" panose="020F0502020204030204" pitchFamily="34" charset="0"/>
                          <a:ea typeface="Calibri" panose="020F0502020204030204" pitchFamily="34" charset="0"/>
                          <a:cs typeface="Calibri" panose="020F0502020204030204" pitchFamily="34" charset="0"/>
                        </a:rPr>
                        <a:t>4</a:t>
                      </a: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Varchar</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algn="l"/>
                      <a:r>
                        <a:rPr lang="en-US" sz="1400" dirty="0">
                          <a:latin typeface="Calibri" panose="020F0502020204030204" pitchFamily="34" charset="0"/>
                          <a:ea typeface="Calibri" panose="020F0502020204030204" pitchFamily="34" charset="0"/>
                          <a:cs typeface="Calibri" panose="020F0502020204030204" pitchFamily="34" charset="0"/>
                        </a:rPr>
                        <a:t>Name of the product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4054270412"/>
                  </a:ext>
                </a:extLst>
              </a:tr>
            </a:tbl>
          </a:graphicData>
        </a:graphic>
      </p:graphicFrame>
    </p:spTree>
    <p:extLst>
      <p:ext uri="{BB962C8B-B14F-4D97-AF65-F5344CB8AC3E}">
        <p14:creationId xmlns:p14="http://schemas.microsoft.com/office/powerpoint/2010/main" val="940973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921AC-3D3B-8E9A-E5BC-AC2A48ECB74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D43765D-325E-3897-61D9-775FF81E5730}"/>
              </a:ext>
            </a:extLst>
          </p:cNvPr>
          <p:cNvSpPr>
            <a:spLocks noGrp="1"/>
          </p:cNvSpPr>
          <p:nvPr>
            <p:ph type="body" idx="1"/>
          </p:nvPr>
        </p:nvSpPr>
        <p:spPr>
          <a:xfrm>
            <a:off x="403197" y="986763"/>
            <a:ext cx="11293229" cy="5025910"/>
          </a:xfrm>
        </p:spPr>
        <p:txBody>
          <a:bodyPr/>
          <a:lstStyle/>
          <a:p>
            <a:r>
              <a:rPr lang="en-US" dirty="0"/>
              <a:t>In the ‘Website Sessions’ table, the ‘utm_source’,’</a:t>
            </a:r>
            <a:r>
              <a:rPr lang="en-US" dirty="0" err="1"/>
              <a:t>utm_campaign</a:t>
            </a:r>
            <a:r>
              <a:rPr lang="en-US" dirty="0"/>
              <a:t>’ ,’</a:t>
            </a:r>
            <a:r>
              <a:rPr lang="en-US" dirty="0" err="1"/>
              <a:t>utm_content</a:t>
            </a:r>
            <a:r>
              <a:rPr lang="en-US" dirty="0"/>
              <a:t>’ and ‘</a:t>
            </a:r>
            <a:r>
              <a:rPr lang="en-US" dirty="0" err="1"/>
              <a:t>http_referer</a:t>
            </a:r>
            <a:r>
              <a:rPr lang="en-US" dirty="0"/>
              <a:t>’ columns has null values as follows</a:t>
            </a:r>
          </a:p>
          <a:p>
            <a:endParaRPr lang="en-US" dirty="0"/>
          </a:p>
          <a:p>
            <a:endParaRPr lang="en-US" dirty="0"/>
          </a:p>
          <a:p>
            <a:endParaRPr lang="en-US" dirty="0"/>
          </a:p>
          <a:p>
            <a:endParaRPr lang="en-US" dirty="0"/>
          </a:p>
          <a:p>
            <a:endParaRPr lang="en-US" dirty="0"/>
          </a:p>
          <a:p>
            <a:r>
              <a:rPr lang="en-US" dirty="0"/>
              <a:t>Sample image of missing data:</a:t>
            </a:r>
            <a:endParaRPr lang="en-IN" dirty="0"/>
          </a:p>
        </p:txBody>
      </p:sp>
      <p:graphicFrame>
        <p:nvGraphicFramePr>
          <p:cNvPr id="4" name="Table 3">
            <a:extLst>
              <a:ext uri="{FF2B5EF4-FFF2-40B4-BE49-F238E27FC236}">
                <a16:creationId xmlns:a16="http://schemas.microsoft.com/office/drawing/2014/main" id="{D88FCF56-7D65-20E2-5234-4CF0323B6F55}"/>
              </a:ext>
            </a:extLst>
          </p:cNvPr>
          <p:cNvGraphicFramePr>
            <a:graphicFrameLocks noGrp="1"/>
          </p:cNvGraphicFramePr>
          <p:nvPr/>
        </p:nvGraphicFramePr>
        <p:xfrm>
          <a:off x="772147" y="1791686"/>
          <a:ext cx="10279888" cy="1633567"/>
        </p:xfrm>
        <a:graphic>
          <a:graphicData uri="http://schemas.openxmlformats.org/drawingml/2006/table">
            <a:tbl>
              <a:tblPr firstRow="1" bandRow="1">
                <a:tableStyleId>{073A0DAA-6AF3-43AB-8588-CEC1D06C72B9}</a:tableStyleId>
              </a:tblPr>
              <a:tblGrid>
                <a:gridCol w="3334798">
                  <a:extLst>
                    <a:ext uri="{9D8B030D-6E8A-4147-A177-3AD203B41FA5}">
                      <a16:colId xmlns:a16="http://schemas.microsoft.com/office/drawing/2014/main" val="322815550"/>
                    </a:ext>
                  </a:extLst>
                </a:gridCol>
                <a:gridCol w="3472545">
                  <a:extLst>
                    <a:ext uri="{9D8B030D-6E8A-4147-A177-3AD203B41FA5}">
                      <a16:colId xmlns:a16="http://schemas.microsoft.com/office/drawing/2014/main" val="3392917035"/>
                    </a:ext>
                  </a:extLst>
                </a:gridCol>
                <a:gridCol w="3472545">
                  <a:extLst>
                    <a:ext uri="{9D8B030D-6E8A-4147-A177-3AD203B41FA5}">
                      <a16:colId xmlns:a16="http://schemas.microsoft.com/office/drawing/2014/main" val="205196434"/>
                    </a:ext>
                  </a:extLst>
                </a:gridCol>
              </a:tblGrid>
              <a:tr h="235671">
                <a:tc>
                  <a:txBody>
                    <a:bodyPr/>
                    <a:lstStyle/>
                    <a:p>
                      <a:r>
                        <a:rPr lang="en-US" sz="1870" dirty="0">
                          <a:solidFill>
                            <a:schemeClr val="bg1"/>
                          </a:solidFill>
                          <a:latin typeface="Calibri" panose="020F0502020204030204" pitchFamily="34" charset="0"/>
                          <a:ea typeface="Calibri" panose="020F0502020204030204" pitchFamily="34" charset="0"/>
                          <a:cs typeface="Calibri" panose="020F0502020204030204" pitchFamily="34" charset="0"/>
                        </a:rPr>
                        <a:t>Column Names</a:t>
                      </a:r>
                      <a:endParaRPr lang="en-IN" sz="1870"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1870" dirty="0">
                          <a:solidFill>
                            <a:schemeClr val="bg1"/>
                          </a:solidFill>
                          <a:latin typeface="Calibri" panose="020F0502020204030204" pitchFamily="34" charset="0"/>
                          <a:ea typeface="Calibri" panose="020F0502020204030204" pitchFamily="34" charset="0"/>
                          <a:cs typeface="Calibri" panose="020F0502020204030204" pitchFamily="34" charset="0"/>
                        </a:rPr>
                        <a:t>Nulls count</a:t>
                      </a:r>
                      <a:endParaRPr lang="en-IN" sz="1870"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1870" dirty="0">
                          <a:solidFill>
                            <a:schemeClr val="bg1"/>
                          </a:solidFill>
                          <a:latin typeface="Calibri" panose="020F0502020204030204" pitchFamily="34" charset="0"/>
                          <a:ea typeface="Calibri" panose="020F0502020204030204" pitchFamily="34" charset="0"/>
                          <a:cs typeface="Calibri" panose="020F0502020204030204" pitchFamily="34" charset="0"/>
                        </a:rPr>
                        <a:t>Nulls Percentage</a:t>
                      </a:r>
                      <a:endParaRPr lang="en-IN" sz="1870"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000694183"/>
                  </a:ext>
                </a:extLst>
              </a:tr>
              <a:tr h="235671">
                <a:tc>
                  <a:txBody>
                    <a:bodyPr/>
                    <a:lstStyle/>
                    <a:p>
                      <a:r>
                        <a:rPr lang="en-US" sz="1400" dirty="0" err="1">
                          <a:latin typeface="Calibri" panose="020F0502020204030204" pitchFamily="34" charset="0"/>
                          <a:ea typeface="Calibri" panose="020F0502020204030204" pitchFamily="34" charset="0"/>
                          <a:cs typeface="Calibri" panose="020F0502020204030204" pitchFamily="34" charset="0"/>
                        </a:rPr>
                        <a:t>Utm</a:t>
                      </a:r>
                      <a:r>
                        <a:rPr lang="en-US" sz="1400" dirty="0">
                          <a:latin typeface="Calibri" panose="020F0502020204030204" pitchFamily="34" charset="0"/>
                          <a:ea typeface="Calibri" panose="020F0502020204030204" pitchFamily="34" charset="0"/>
                          <a:cs typeface="Calibri" panose="020F0502020204030204" pitchFamily="34" charset="0"/>
                        </a:rPr>
                        <a:t> Source</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1400" dirty="0">
                          <a:latin typeface="Calibri" panose="020F0502020204030204" pitchFamily="34" charset="0"/>
                          <a:ea typeface="Calibri" panose="020F0502020204030204" pitchFamily="34" charset="0"/>
                          <a:cs typeface="Calibri" panose="020F0502020204030204" pitchFamily="34" charset="0"/>
                        </a:rPr>
                        <a:t>83.32K</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1400" dirty="0">
                          <a:latin typeface="Calibri" panose="020F0502020204030204" pitchFamily="34" charset="0"/>
                          <a:ea typeface="Calibri" panose="020F0502020204030204" pitchFamily="34" charset="0"/>
                          <a:cs typeface="Calibri" panose="020F0502020204030204" pitchFamily="34" charset="0"/>
                        </a:rPr>
                        <a:t>17.62%</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364369301"/>
                  </a:ext>
                </a:extLst>
              </a:tr>
              <a:tr h="272823">
                <a:tc>
                  <a:txBody>
                    <a:bodyPr/>
                    <a:lstStyle/>
                    <a:p>
                      <a:r>
                        <a:rPr lang="en-US" sz="1400" dirty="0" err="1">
                          <a:latin typeface="Calibri" panose="020F0502020204030204" pitchFamily="34" charset="0"/>
                          <a:ea typeface="Calibri" panose="020F0502020204030204" pitchFamily="34" charset="0"/>
                          <a:cs typeface="Calibri" panose="020F0502020204030204" pitchFamily="34" charset="0"/>
                        </a:rPr>
                        <a:t>Utm</a:t>
                      </a:r>
                      <a:r>
                        <a:rPr lang="en-US" sz="1400" dirty="0">
                          <a:latin typeface="Calibri" panose="020F0502020204030204" pitchFamily="34" charset="0"/>
                          <a:ea typeface="Calibri" panose="020F0502020204030204" pitchFamily="34" charset="0"/>
                          <a:cs typeface="Calibri" panose="020F0502020204030204" pitchFamily="34" charset="0"/>
                        </a:rPr>
                        <a:t> Campaign</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Calibri" panose="020F0502020204030204" pitchFamily="34" charset="0"/>
                          <a:ea typeface="Calibri" panose="020F0502020204030204" pitchFamily="34" charset="0"/>
                          <a:cs typeface="Calibri" panose="020F0502020204030204" pitchFamily="34" charset="0"/>
                        </a:rPr>
                        <a:t>83.32K</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Calibri" panose="020F0502020204030204" pitchFamily="34" charset="0"/>
                          <a:ea typeface="Calibri" panose="020F0502020204030204" pitchFamily="34" charset="0"/>
                          <a:cs typeface="Calibri" panose="020F0502020204030204" pitchFamily="34" charset="0"/>
                        </a:rPr>
                        <a:t>17.62%</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947415134"/>
                  </a:ext>
                </a:extLst>
              </a:tr>
              <a:tr h="342739">
                <a:tc>
                  <a:txBody>
                    <a:bodyPr/>
                    <a:lstStyle/>
                    <a:p>
                      <a:r>
                        <a:rPr lang="en-US" sz="1400" dirty="0" err="1">
                          <a:latin typeface="Calibri" panose="020F0502020204030204" pitchFamily="34" charset="0"/>
                          <a:ea typeface="Calibri" panose="020F0502020204030204" pitchFamily="34" charset="0"/>
                          <a:cs typeface="Calibri" panose="020F0502020204030204" pitchFamily="34" charset="0"/>
                        </a:rPr>
                        <a:t>Utm</a:t>
                      </a:r>
                      <a:r>
                        <a:rPr lang="en-US" sz="1400" dirty="0">
                          <a:latin typeface="Calibri" panose="020F0502020204030204" pitchFamily="34" charset="0"/>
                          <a:ea typeface="Calibri" panose="020F0502020204030204" pitchFamily="34" charset="0"/>
                          <a:cs typeface="Calibri" panose="020F0502020204030204" pitchFamily="34" charset="0"/>
                        </a:rPr>
                        <a:t> Content</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Calibri" panose="020F0502020204030204" pitchFamily="34" charset="0"/>
                          <a:ea typeface="Calibri" panose="020F0502020204030204" pitchFamily="34" charset="0"/>
                          <a:cs typeface="Calibri" panose="020F0502020204030204" pitchFamily="34" charset="0"/>
                        </a:rPr>
                        <a:t>83.32K</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Calibri" panose="020F0502020204030204" pitchFamily="34" charset="0"/>
                          <a:ea typeface="Calibri" panose="020F0502020204030204" pitchFamily="34" charset="0"/>
                          <a:cs typeface="Calibri" panose="020F0502020204030204" pitchFamily="34" charset="0"/>
                        </a:rPr>
                        <a:t>17.62%</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840426765"/>
                  </a:ext>
                </a:extLst>
              </a:tr>
              <a:tr h="235671">
                <a:tc>
                  <a:txBody>
                    <a:bodyPr/>
                    <a:lstStyle/>
                    <a:p>
                      <a:r>
                        <a:rPr lang="en-US" sz="1400" dirty="0">
                          <a:latin typeface="Calibri" panose="020F0502020204030204" pitchFamily="34" charset="0"/>
                          <a:ea typeface="Calibri" panose="020F0502020204030204" pitchFamily="34" charset="0"/>
                          <a:cs typeface="Calibri" panose="020F0502020204030204" pitchFamily="34" charset="0"/>
                        </a:rPr>
                        <a:t>Http </a:t>
                      </a:r>
                      <a:r>
                        <a:rPr lang="en-US" sz="1400" dirty="0" err="1">
                          <a:latin typeface="Calibri" panose="020F0502020204030204" pitchFamily="34" charset="0"/>
                          <a:ea typeface="Calibri" panose="020F0502020204030204" pitchFamily="34" charset="0"/>
                          <a:cs typeface="Calibri" panose="020F0502020204030204" pitchFamily="34" charset="0"/>
                        </a:rPr>
                        <a:t>Referer</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1400" dirty="0">
                          <a:latin typeface="Calibri" panose="020F0502020204030204" pitchFamily="34" charset="0"/>
                          <a:ea typeface="Calibri" panose="020F0502020204030204" pitchFamily="34" charset="0"/>
                          <a:cs typeface="Calibri" panose="020F0502020204030204" pitchFamily="34" charset="0"/>
                        </a:rPr>
                        <a:t>39.91K</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1400" dirty="0">
                          <a:latin typeface="Calibri" panose="020F0502020204030204" pitchFamily="34" charset="0"/>
                          <a:ea typeface="Calibri" panose="020F0502020204030204" pitchFamily="34" charset="0"/>
                          <a:cs typeface="Calibri" panose="020F0502020204030204" pitchFamily="34" charset="0"/>
                        </a:rPr>
                        <a:t>8.44%</a:t>
                      </a:r>
                      <a:endParaRPr lang="en-IN" sz="14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007806328"/>
                  </a:ext>
                </a:extLst>
              </a:tr>
            </a:tbl>
          </a:graphicData>
        </a:graphic>
      </p:graphicFrame>
      <p:pic>
        <p:nvPicPr>
          <p:cNvPr id="5" name="Picture 4">
            <a:extLst>
              <a:ext uri="{FF2B5EF4-FFF2-40B4-BE49-F238E27FC236}">
                <a16:creationId xmlns:a16="http://schemas.microsoft.com/office/drawing/2014/main" id="{6689B581-5C1D-4CB6-8AE5-FB2DF1C4C4E2}"/>
              </a:ext>
            </a:extLst>
          </p:cNvPr>
          <p:cNvPicPr>
            <a:picLocks noChangeAspect="1"/>
          </p:cNvPicPr>
          <p:nvPr/>
        </p:nvPicPr>
        <p:blipFill>
          <a:blip r:embed="rId2"/>
          <a:srcRect b="79454"/>
          <a:stretch>
            <a:fillRect/>
          </a:stretch>
        </p:blipFill>
        <p:spPr>
          <a:xfrm>
            <a:off x="772147" y="4280468"/>
            <a:ext cx="5623935" cy="10002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5826D46D-271A-C5D6-DC7E-3D512D117A67}"/>
              </a:ext>
            </a:extLst>
          </p:cNvPr>
          <p:cNvSpPr txBox="1"/>
          <p:nvPr/>
        </p:nvSpPr>
        <p:spPr>
          <a:xfrm>
            <a:off x="0" y="193964"/>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lIns="91440" tIns="45720" rIns="91440" bIns="45720">
            <a:spAutoFit/>
          </a:bodyPr>
          <a:lstStyle>
            <a:defPPr>
              <a:defRPr lang="en-US"/>
            </a:defPPr>
            <a:lvl1pPr algn="ctr">
              <a:defRPr sz="4800" cap="small"/>
            </a:lvl1pPr>
          </a:lstStyle>
          <a:p>
            <a:r>
              <a:rPr lang="en-IN" sz="3200" dirty="0"/>
              <a:t>Data Inconsistency</a:t>
            </a:r>
            <a:endParaRPr lang="en-IN" sz="3200" dirty="0">
              <a:sym typeface="Arial"/>
            </a:endParaRPr>
          </a:p>
        </p:txBody>
      </p:sp>
    </p:spTree>
    <p:extLst>
      <p:ext uri="{BB962C8B-B14F-4D97-AF65-F5344CB8AC3E}">
        <p14:creationId xmlns:p14="http://schemas.microsoft.com/office/powerpoint/2010/main" val="2855149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DE905-F0AA-C1C3-F4C3-A9A4CAB7F0B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CD0EF5E-5FFC-E859-23AC-AC0E2623A66C}"/>
              </a:ext>
            </a:extLst>
          </p:cNvPr>
          <p:cNvSpPr>
            <a:spLocks noGrp="1"/>
          </p:cNvSpPr>
          <p:nvPr>
            <p:ph type="body" idx="1"/>
          </p:nvPr>
        </p:nvSpPr>
        <p:spPr>
          <a:xfrm>
            <a:off x="403197" y="986763"/>
            <a:ext cx="11293229" cy="5025910"/>
          </a:xfrm>
        </p:spPr>
        <p:txBody>
          <a:bodyPr/>
          <a:lstStyle/>
          <a:p>
            <a:pPr>
              <a:buFont typeface="Arial" panose="020B0604020202020204" pitchFamily="34" charset="0"/>
              <a:buChar char="•"/>
            </a:pPr>
            <a:r>
              <a:rPr lang="en-US" dirty="0"/>
              <a:t>Treat sessions with null UTM values as a distinct traffic segment (e.g., "organic or untracked ").</a:t>
            </a:r>
          </a:p>
          <a:p>
            <a:pPr>
              <a:buFont typeface="Arial" panose="020B0604020202020204" pitchFamily="34" charset="0"/>
              <a:buChar char="•"/>
            </a:pPr>
            <a:r>
              <a:rPr lang="en-US" dirty="0"/>
              <a:t>For those where </a:t>
            </a:r>
            <a:r>
              <a:rPr lang="en-US" dirty="0" err="1"/>
              <a:t>utm</a:t>
            </a:r>
            <a:r>
              <a:rPr lang="en-US" dirty="0"/>
              <a:t> source is null but http </a:t>
            </a:r>
            <a:r>
              <a:rPr lang="en-US" dirty="0" err="1"/>
              <a:t>referer</a:t>
            </a:r>
            <a:r>
              <a:rPr lang="en-US" dirty="0"/>
              <a:t> contains a recognizable domain (e.g., gsearch.com), infer the source.</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5" name="TextBox 4">
            <a:extLst>
              <a:ext uri="{FF2B5EF4-FFF2-40B4-BE49-F238E27FC236}">
                <a16:creationId xmlns:a16="http://schemas.microsoft.com/office/drawing/2014/main" id="{C9485AC5-078A-EF75-9445-F369CDF54B82}"/>
              </a:ext>
            </a:extLst>
          </p:cNvPr>
          <p:cNvSpPr txBox="1"/>
          <p:nvPr/>
        </p:nvSpPr>
        <p:spPr>
          <a:xfrm>
            <a:off x="0" y="193964"/>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lIns="91440" tIns="45720" rIns="91440" bIns="45720">
            <a:spAutoFit/>
          </a:bodyPr>
          <a:lstStyle>
            <a:defPPr>
              <a:defRPr lang="en-US"/>
            </a:defPPr>
            <a:lvl1pPr algn="ctr">
              <a:defRPr sz="4800" cap="small"/>
            </a:lvl1pPr>
          </a:lstStyle>
          <a:p>
            <a:r>
              <a:rPr lang="en-US" sz="3200" dirty="0"/>
              <a:t>Handling of Missing Data</a:t>
            </a:r>
            <a:endParaRPr lang="en-IN" sz="3200" dirty="0">
              <a:sym typeface="Arial"/>
            </a:endParaRPr>
          </a:p>
        </p:txBody>
      </p:sp>
    </p:spTree>
    <p:extLst>
      <p:ext uri="{BB962C8B-B14F-4D97-AF65-F5344CB8AC3E}">
        <p14:creationId xmlns:p14="http://schemas.microsoft.com/office/powerpoint/2010/main" val="4010030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03B91D-5C02-48C0-DF6E-84767A9F9558}"/>
              </a:ext>
            </a:extLst>
          </p:cNvPr>
          <p:cNvSpPr txBox="1"/>
          <p:nvPr/>
        </p:nvSpPr>
        <p:spPr>
          <a:xfrm>
            <a:off x="0" y="193964"/>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buClr>
                <a:srgbClr val="000000"/>
              </a:buClr>
            </a:pPr>
            <a:r>
              <a:rPr lang="en-IN" sz="3200" cap="small" dirty="0">
                <a:sym typeface="Arial"/>
              </a:rPr>
              <a:t>Entity relationship diagram</a:t>
            </a:r>
          </a:p>
        </p:txBody>
      </p:sp>
      <p:pic>
        <p:nvPicPr>
          <p:cNvPr id="2" name="Picture 1">
            <a:extLst>
              <a:ext uri="{FF2B5EF4-FFF2-40B4-BE49-F238E27FC236}">
                <a16:creationId xmlns:a16="http://schemas.microsoft.com/office/drawing/2014/main" id="{0EE417F3-4854-826D-3D44-A5F49840D2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570" y="944818"/>
            <a:ext cx="9665493" cy="5147587"/>
          </a:xfrm>
          <a:prstGeom prst="rect">
            <a:avLst/>
          </a:prstGeom>
        </p:spPr>
      </p:pic>
    </p:spTree>
    <p:extLst>
      <p:ext uri="{BB962C8B-B14F-4D97-AF65-F5344CB8AC3E}">
        <p14:creationId xmlns:p14="http://schemas.microsoft.com/office/powerpoint/2010/main" val="2484277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9058B-6F1B-69B4-15F7-1BB9C548105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B11F33B-DC2E-8721-1F17-0FDBFDC37045}"/>
              </a:ext>
            </a:extLst>
          </p:cNvPr>
          <p:cNvSpPr>
            <a:spLocks noGrp="1"/>
          </p:cNvSpPr>
          <p:nvPr>
            <p:ph type="body" idx="1"/>
          </p:nvPr>
        </p:nvSpPr>
        <p:spPr>
          <a:xfrm>
            <a:off x="403197" y="986763"/>
            <a:ext cx="11293229" cy="5025910"/>
          </a:xfrm>
        </p:spPr>
        <p:txBody>
          <a:bodyPr/>
          <a:lstStyle/>
          <a:p>
            <a:r>
              <a:rPr lang="en-IN" dirty="0">
                <a:latin typeface="Calibri" panose="020F0502020204030204" pitchFamily="34" charset="0"/>
                <a:ea typeface="Calibri" panose="020F0502020204030204" pitchFamily="34" charset="0"/>
                <a:cs typeface="Calibri" panose="020F0502020204030204" pitchFamily="34" charset="0"/>
              </a:rPr>
              <a:t>Possible high level metrics with calculation logic and their contribution to business context.</a:t>
            </a:r>
          </a:p>
          <a:p>
            <a:r>
              <a:rPr lang="en-US" dirty="0"/>
              <a:t>Detailed analytical code (descriptive, diagnostic, and additional analysis) with comments using python languages.</a:t>
            </a:r>
          </a:p>
          <a:p>
            <a:r>
              <a:rPr lang="en-US" dirty="0">
                <a:latin typeface="Calibri" panose="020F0502020204030204" pitchFamily="34" charset="0"/>
                <a:ea typeface="Calibri" panose="020F0502020204030204" pitchFamily="34" charset="0"/>
                <a:cs typeface="Calibri" panose="020F0502020204030204" pitchFamily="34" charset="0"/>
              </a:rPr>
              <a:t>In-depth insights and recommendation on EDA.</a:t>
            </a:r>
          </a:p>
          <a:p>
            <a:r>
              <a:rPr lang="en-US" dirty="0"/>
              <a:t>Interactive Power Bi dashboards, featuring insights and recommendations.</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CABF7E56-F7BA-40D2-5F1B-18369B989C3B}"/>
              </a:ext>
            </a:extLst>
          </p:cNvPr>
          <p:cNvSpPr>
            <a:spLocks noGrp="1"/>
          </p:cNvSpPr>
          <p:nvPr>
            <p:ph type="title"/>
          </p:nvPr>
        </p:nvSpPr>
        <p:spPr>
          <a:xfrm>
            <a:off x="403197" y="-1"/>
            <a:ext cx="11293228" cy="782833"/>
          </a:xfrm>
        </p:spPr>
        <p:txBody>
          <a:bodyPr/>
          <a:lstStyle/>
          <a:p>
            <a:r>
              <a:rPr lang="en-US" dirty="0"/>
              <a:t>List of Output to Generate</a:t>
            </a:r>
            <a:endParaRPr lang="en-IN" dirty="0"/>
          </a:p>
        </p:txBody>
      </p:sp>
    </p:spTree>
    <p:extLst>
      <p:ext uri="{BB962C8B-B14F-4D97-AF65-F5344CB8AC3E}">
        <p14:creationId xmlns:p14="http://schemas.microsoft.com/office/powerpoint/2010/main" val="951752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87A0-FC49-17D6-B1CE-AA0C0647840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5FFC45E-3EC7-5FD9-81A2-5D7EFF6A6AC0}"/>
              </a:ext>
            </a:extLst>
          </p:cNvPr>
          <p:cNvSpPr txBox="1"/>
          <p:nvPr/>
        </p:nvSpPr>
        <p:spPr>
          <a:xfrm>
            <a:off x="0" y="193887"/>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3200" dirty="0"/>
              <a:t>ASSUMPTION(1/2)</a:t>
            </a:r>
            <a:endParaRPr lang="en-IN" sz="3200" dirty="0">
              <a:sym typeface="Arial"/>
            </a:endParaRPr>
          </a:p>
        </p:txBody>
      </p:sp>
      <p:sp>
        <p:nvSpPr>
          <p:cNvPr id="3" name="TextBox 2">
            <a:extLst>
              <a:ext uri="{FF2B5EF4-FFF2-40B4-BE49-F238E27FC236}">
                <a16:creationId xmlns:a16="http://schemas.microsoft.com/office/drawing/2014/main" id="{2D295617-0707-1B1A-132C-4A199EA62D88}"/>
              </a:ext>
            </a:extLst>
          </p:cNvPr>
          <p:cNvSpPr txBox="1"/>
          <p:nvPr/>
        </p:nvSpPr>
        <p:spPr>
          <a:xfrm>
            <a:off x="-1" y="1022456"/>
            <a:ext cx="11845255" cy="2308324"/>
          </a:xfrm>
          <a:prstGeom prst="rect">
            <a:avLst/>
          </a:prstGeom>
          <a:noFill/>
        </p:spPr>
        <p:txBody>
          <a:bodyPr wrap="square">
            <a:spAutoFit/>
          </a:bodyPr>
          <a:lstStyle/>
          <a:p>
            <a:r>
              <a:rPr lang="en-IN" b="1" dirty="0"/>
              <a:t>1.</a:t>
            </a:r>
            <a:r>
              <a:rPr lang="en-IN" dirty="0"/>
              <a:t> </a:t>
            </a:r>
            <a:r>
              <a:rPr lang="en-IN" b="1" dirty="0"/>
              <a:t>Data Integrity Assumptions</a:t>
            </a:r>
          </a:p>
          <a:p>
            <a:r>
              <a:rPr lang="en-IN" dirty="0"/>
              <a:t>Time Period: The analysis assumes the dataset covers the full operational history from March 2012 to March 2015.</a:t>
            </a:r>
          </a:p>
          <a:p>
            <a:endParaRPr lang="en-IN" dirty="0"/>
          </a:p>
          <a:p>
            <a:r>
              <a:rPr lang="en-IN" dirty="0"/>
              <a:t>Unique Identifiers: We assume that </a:t>
            </a:r>
            <a:r>
              <a:rPr lang="en-IN" dirty="0" err="1"/>
              <a:t>website_session_id</a:t>
            </a:r>
            <a:r>
              <a:rPr lang="en-IN" dirty="0"/>
              <a:t> and </a:t>
            </a:r>
            <a:r>
              <a:rPr lang="en-IN" dirty="0" err="1"/>
              <a:t>order_id</a:t>
            </a:r>
            <a:r>
              <a:rPr lang="en-IN" dirty="0"/>
              <a:t> are unique primary keys and that every order must be linked to a valid session.</a:t>
            </a:r>
          </a:p>
          <a:p>
            <a:endParaRPr lang="en-IN" dirty="0"/>
          </a:p>
          <a:p>
            <a:r>
              <a:rPr lang="en-IN" dirty="0"/>
              <a:t>Missing Values: We assume that a NULL value in the </a:t>
            </a:r>
            <a:r>
              <a:rPr lang="en-IN" dirty="0" err="1"/>
              <a:t>utm_source</a:t>
            </a:r>
            <a:r>
              <a:rPr lang="en-IN" dirty="0"/>
              <a:t> column represents Direct Type-In traffic (users typing the URL directly) or Organic Search, rather than missing data.</a:t>
            </a:r>
          </a:p>
        </p:txBody>
      </p:sp>
      <p:sp>
        <p:nvSpPr>
          <p:cNvPr id="8" name="TextBox 7">
            <a:extLst>
              <a:ext uri="{FF2B5EF4-FFF2-40B4-BE49-F238E27FC236}">
                <a16:creationId xmlns:a16="http://schemas.microsoft.com/office/drawing/2014/main" id="{93D4144D-2250-809B-380A-8FF70FF641E0}"/>
              </a:ext>
            </a:extLst>
          </p:cNvPr>
          <p:cNvSpPr txBox="1"/>
          <p:nvPr/>
        </p:nvSpPr>
        <p:spPr>
          <a:xfrm>
            <a:off x="0" y="3429000"/>
            <a:ext cx="12192000" cy="2585323"/>
          </a:xfrm>
          <a:prstGeom prst="rect">
            <a:avLst/>
          </a:prstGeom>
          <a:noFill/>
        </p:spPr>
        <p:txBody>
          <a:bodyPr wrap="square">
            <a:spAutoFit/>
          </a:bodyPr>
          <a:lstStyle/>
          <a:p>
            <a:r>
              <a:rPr lang="en-IN" b="1" dirty="0"/>
              <a:t>2. Sales &amp; Revenue Assumptions</a:t>
            </a:r>
          </a:p>
          <a:p>
            <a:r>
              <a:rPr lang="en-IN" dirty="0"/>
              <a:t>Refund Policy: Revenue is calculated based on the gross sales price at the time of purchase. Refunds (found in </a:t>
            </a:r>
            <a:r>
              <a:rPr lang="en-IN" dirty="0" err="1"/>
              <a:t>order_item_refunds</a:t>
            </a:r>
            <a:r>
              <a:rPr lang="en-IN" dirty="0"/>
              <a:t>) are treated as separate post-purchase events rather than a direct reduction of the initial sale record.</a:t>
            </a:r>
          </a:p>
          <a:p>
            <a:endParaRPr lang="en-IN" dirty="0"/>
          </a:p>
          <a:p>
            <a:r>
              <a:rPr lang="en-IN" dirty="0"/>
              <a:t>Primary Products: For session-to-product analysis, we assume the </a:t>
            </a:r>
            <a:r>
              <a:rPr lang="en-IN" dirty="0" err="1"/>
              <a:t>primary_product_id</a:t>
            </a:r>
            <a:r>
              <a:rPr lang="en-IN" dirty="0"/>
              <a:t> in the orders table represents the main driver of the purchase.</a:t>
            </a:r>
          </a:p>
          <a:p>
            <a:endParaRPr lang="en-IN" dirty="0"/>
          </a:p>
          <a:p>
            <a:r>
              <a:rPr lang="en-IN" dirty="0"/>
              <a:t>Currency: All financial figures are assumed to be in USD as per the column headers (</a:t>
            </a:r>
            <a:r>
              <a:rPr lang="en-IN" dirty="0" err="1"/>
              <a:t>price_usd</a:t>
            </a:r>
            <a:r>
              <a:rPr lang="en-IN" dirty="0"/>
              <a:t>).</a:t>
            </a:r>
          </a:p>
        </p:txBody>
      </p:sp>
    </p:spTree>
    <p:extLst>
      <p:ext uri="{BB962C8B-B14F-4D97-AF65-F5344CB8AC3E}">
        <p14:creationId xmlns:p14="http://schemas.microsoft.com/office/powerpoint/2010/main" val="1907948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BF9B5-333A-646A-A5F7-757BEAEFE5F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FA5CF5E-E797-9E82-6073-458805536A0F}"/>
              </a:ext>
            </a:extLst>
          </p:cNvPr>
          <p:cNvSpPr txBox="1"/>
          <p:nvPr/>
        </p:nvSpPr>
        <p:spPr>
          <a:xfrm>
            <a:off x="0" y="193887"/>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3200" dirty="0"/>
              <a:t>ASSUMPTION(2/2)</a:t>
            </a:r>
            <a:endParaRPr lang="en-IN" sz="3200" dirty="0">
              <a:sym typeface="Arial"/>
            </a:endParaRPr>
          </a:p>
        </p:txBody>
      </p:sp>
      <p:sp>
        <p:nvSpPr>
          <p:cNvPr id="4" name="TextBox 3">
            <a:extLst>
              <a:ext uri="{FF2B5EF4-FFF2-40B4-BE49-F238E27FC236}">
                <a16:creationId xmlns:a16="http://schemas.microsoft.com/office/drawing/2014/main" id="{A021CFBE-EEE7-734E-418E-16A0A71EC00D}"/>
              </a:ext>
            </a:extLst>
          </p:cNvPr>
          <p:cNvSpPr txBox="1"/>
          <p:nvPr/>
        </p:nvSpPr>
        <p:spPr>
          <a:xfrm>
            <a:off x="-1" y="1085293"/>
            <a:ext cx="11945923" cy="2585323"/>
          </a:xfrm>
          <a:prstGeom prst="rect">
            <a:avLst/>
          </a:prstGeom>
          <a:noFill/>
        </p:spPr>
        <p:txBody>
          <a:bodyPr wrap="square">
            <a:spAutoFit/>
          </a:bodyPr>
          <a:lstStyle/>
          <a:p>
            <a:r>
              <a:rPr lang="en-IN" b="1" dirty="0"/>
              <a:t>3. User </a:t>
            </a:r>
            <a:r>
              <a:rPr lang="en-IN" b="1" dirty="0" err="1"/>
              <a:t>Behavior</a:t>
            </a:r>
            <a:r>
              <a:rPr lang="en-IN" b="1" dirty="0"/>
              <a:t> Assumptions</a:t>
            </a:r>
          </a:p>
          <a:p>
            <a:r>
              <a:rPr lang="en-IN" dirty="0"/>
              <a:t>Session Attribution: We assume a "Last-Click" attribution model, where the marketing source (</a:t>
            </a:r>
            <a:r>
              <a:rPr lang="en-IN" dirty="0" err="1"/>
              <a:t>utm_source</a:t>
            </a:r>
            <a:r>
              <a:rPr lang="en-IN" dirty="0"/>
              <a:t>) attached to a session gets 100% of the credit for any order placed during that specific session.</a:t>
            </a:r>
          </a:p>
          <a:p>
            <a:endParaRPr lang="en-IN" dirty="0"/>
          </a:p>
          <a:p>
            <a:r>
              <a:rPr lang="en-IN" dirty="0"/>
              <a:t>Device Consistency: We assume that </a:t>
            </a:r>
            <a:r>
              <a:rPr lang="en-IN" dirty="0" err="1"/>
              <a:t>device_type</a:t>
            </a:r>
            <a:r>
              <a:rPr lang="en-IN" dirty="0"/>
              <a:t> (Desktop/Mobile) accurately reflects the hardware used and does not change mid-session.</a:t>
            </a:r>
          </a:p>
          <a:p>
            <a:endParaRPr lang="en-IN" dirty="0"/>
          </a:p>
          <a:p>
            <a:r>
              <a:rPr lang="en-IN" dirty="0"/>
              <a:t>First-Pageview Rule: For landing page analysis, the very first </a:t>
            </a:r>
            <a:r>
              <a:rPr lang="en-IN" dirty="0" err="1"/>
              <a:t>pageview_url</a:t>
            </a:r>
            <a:r>
              <a:rPr lang="en-IN" dirty="0"/>
              <a:t> recorded for a </a:t>
            </a:r>
            <a:r>
              <a:rPr lang="en-IN" dirty="0" err="1"/>
              <a:t>website_session_id</a:t>
            </a:r>
            <a:r>
              <a:rPr lang="en-IN" dirty="0"/>
              <a:t> is assumed to be the entry point for that user.</a:t>
            </a:r>
          </a:p>
        </p:txBody>
      </p:sp>
    </p:spTree>
    <p:extLst>
      <p:ext uri="{BB962C8B-B14F-4D97-AF65-F5344CB8AC3E}">
        <p14:creationId xmlns:p14="http://schemas.microsoft.com/office/powerpoint/2010/main" val="1296760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8A76-0CDE-052E-C190-B60EC44D0D6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7D53474-014F-FFE3-2588-70CB9A4079AB}"/>
              </a:ext>
            </a:extLst>
          </p:cNvPr>
          <p:cNvSpPr txBox="1"/>
          <p:nvPr/>
        </p:nvSpPr>
        <p:spPr>
          <a:xfrm>
            <a:off x="0" y="221804"/>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3200" dirty="0"/>
              <a:t>Detailed Data Quality Checklist(1/2)</a:t>
            </a:r>
            <a:endParaRPr lang="en-IN" sz="3200" dirty="0">
              <a:sym typeface="Arial"/>
            </a:endParaRPr>
          </a:p>
        </p:txBody>
      </p:sp>
      <p:sp>
        <p:nvSpPr>
          <p:cNvPr id="3" name="TextBox 2">
            <a:extLst>
              <a:ext uri="{FF2B5EF4-FFF2-40B4-BE49-F238E27FC236}">
                <a16:creationId xmlns:a16="http://schemas.microsoft.com/office/drawing/2014/main" id="{8214B425-1304-C708-D239-335C5AD7FDB9}"/>
              </a:ext>
            </a:extLst>
          </p:cNvPr>
          <p:cNvSpPr txBox="1"/>
          <p:nvPr/>
        </p:nvSpPr>
        <p:spPr>
          <a:xfrm>
            <a:off x="0" y="948690"/>
            <a:ext cx="12192000" cy="4247317"/>
          </a:xfrm>
          <a:prstGeom prst="rect">
            <a:avLst/>
          </a:prstGeom>
          <a:noFill/>
        </p:spPr>
        <p:txBody>
          <a:bodyPr wrap="square">
            <a:spAutoFit/>
          </a:bodyPr>
          <a:lstStyle/>
          <a:p>
            <a:r>
              <a:rPr lang="en-IN" b="1" dirty="0"/>
              <a:t>1. Completeness Checks (Missing Values)</a:t>
            </a:r>
          </a:p>
          <a:p>
            <a:r>
              <a:rPr lang="en-IN" dirty="0"/>
              <a:t>Critical IDs: Ensure 0% nulls in </a:t>
            </a:r>
            <a:r>
              <a:rPr lang="en-IN" dirty="0" err="1"/>
              <a:t>order_id</a:t>
            </a:r>
            <a:r>
              <a:rPr lang="en-IN" dirty="0"/>
              <a:t>, </a:t>
            </a:r>
            <a:r>
              <a:rPr lang="en-IN" dirty="0" err="1"/>
              <a:t>website_session_id</a:t>
            </a:r>
            <a:r>
              <a:rPr lang="en-IN" dirty="0"/>
              <a:t>, and </a:t>
            </a:r>
            <a:r>
              <a:rPr lang="en-IN" dirty="0" err="1"/>
              <a:t>product_id</a:t>
            </a:r>
            <a:r>
              <a:rPr lang="en-IN" dirty="0"/>
              <a:t>.</a:t>
            </a:r>
          </a:p>
          <a:p>
            <a:endParaRPr lang="en-IN" dirty="0"/>
          </a:p>
          <a:p>
            <a:r>
              <a:rPr lang="en-IN" dirty="0"/>
              <a:t>Marketing Attribution: Identify the percentage of "NULL" values in </a:t>
            </a:r>
            <a:r>
              <a:rPr lang="en-IN" dirty="0" err="1"/>
              <a:t>utm_source</a:t>
            </a:r>
            <a:r>
              <a:rPr lang="en-IN" dirty="0"/>
              <a:t> and </a:t>
            </a:r>
            <a:r>
              <a:rPr lang="en-IN" dirty="0" err="1"/>
              <a:t>utm_campaign</a:t>
            </a:r>
            <a:r>
              <a:rPr lang="en-IN" dirty="0"/>
              <a:t> (assumed as direct/organic traffic).</a:t>
            </a:r>
          </a:p>
          <a:p>
            <a:endParaRPr lang="en-IN" dirty="0"/>
          </a:p>
          <a:p>
            <a:r>
              <a:rPr lang="en-IN" dirty="0"/>
              <a:t>Financials: Check for missing values in </a:t>
            </a:r>
            <a:r>
              <a:rPr lang="en-IN" dirty="0" err="1"/>
              <a:t>price_usd</a:t>
            </a:r>
            <a:r>
              <a:rPr lang="en-IN" dirty="0"/>
              <a:t> and </a:t>
            </a:r>
            <a:r>
              <a:rPr lang="en-IN" dirty="0" err="1"/>
              <a:t>cogs_usd</a:t>
            </a:r>
            <a:r>
              <a:rPr lang="en-IN" dirty="0"/>
              <a:t> to ensure revenue and margin calculations are accurate.</a:t>
            </a:r>
          </a:p>
          <a:p>
            <a:endParaRPr lang="en-IN" dirty="0"/>
          </a:p>
          <a:p>
            <a:r>
              <a:rPr lang="en-IN" b="1" dirty="0"/>
              <a:t>2. Uniqueness &amp; Primary Key Checks</a:t>
            </a:r>
          </a:p>
          <a:p>
            <a:r>
              <a:rPr lang="en-IN" dirty="0"/>
              <a:t>Primary Keys: Verify that </a:t>
            </a:r>
            <a:r>
              <a:rPr lang="en-IN" dirty="0" err="1"/>
              <a:t>website_session_id</a:t>
            </a:r>
            <a:r>
              <a:rPr lang="en-IN" dirty="0"/>
              <a:t> in the sessions table and </a:t>
            </a:r>
            <a:r>
              <a:rPr lang="en-IN" dirty="0" err="1"/>
              <a:t>order_id</a:t>
            </a:r>
            <a:r>
              <a:rPr lang="en-IN" dirty="0"/>
              <a:t> in the orders table have no duplicates.</a:t>
            </a:r>
          </a:p>
          <a:p>
            <a:endParaRPr lang="en-IN" dirty="0"/>
          </a:p>
          <a:p>
            <a:r>
              <a:rPr lang="en-IN" dirty="0"/>
              <a:t>Order Item Granularity: Confirm that the same </a:t>
            </a:r>
            <a:r>
              <a:rPr lang="en-IN" dirty="0" err="1"/>
              <a:t>product_id</a:t>
            </a:r>
            <a:r>
              <a:rPr lang="en-IN" dirty="0"/>
              <a:t> isn't listed twice within a single </a:t>
            </a:r>
            <a:r>
              <a:rPr lang="en-IN" dirty="0" err="1"/>
              <a:t>order_id</a:t>
            </a:r>
            <a:r>
              <a:rPr lang="en-IN" dirty="0"/>
              <a:t> unless multi-unit purchases are intended.</a:t>
            </a:r>
          </a:p>
          <a:p>
            <a:endParaRPr lang="en-IN" dirty="0"/>
          </a:p>
        </p:txBody>
      </p:sp>
    </p:spTree>
    <p:extLst>
      <p:ext uri="{BB962C8B-B14F-4D97-AF65-F5344CB8AC3E}">
        <p14:creationId xmlns:p14="http://schemas.microsoft.com/office/powerpoint/2010/main" val="4251980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31A29-B244-0D74-B7E7-3DA3156C98A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F24CCF9-1193-5E59-6D55-654BC3E91B70}"/>
              </a:ext>
            </a:extLst>
          </p:cNvPr>
          <p:cNvSpPr txBox="1"/>
          <p:nvPr/>
        </p:nvSpPr>
        <p:spPr>
          <a:xfrm>
            <a:off x="0" y="193887"/>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3200" dirty="0"/>
              <a:t>Detailed Data Quality Checklist(2/2)</a:t>
            </a:r>
            <a:endParaRPr lang="en-IN" sz="3200" dirty="0">
              <a:sym typeface="Arial"/>
            </a:endParaRPr>
          </a:p>
        </p:txBody>
      </p:sp>
      <p:sp>
        <p:nvSpPr>
          <p:cNvPr id="3" name="TextBox 2">
            <a:extLst>
              <a:ext uri="{FF2B5EF4-FFF2-40B4-BE49-F238E27FC236}">
                <a16:creationId xmlns:a16="http://schemas.microsoft.com/office/drawing/2014/main" id="{30FAFD45-2EDD-61F1-9226-4CBE4786D4E5}"/>
              </a:ext>
            </a:extLst>
          </p:cNvPr>
          <p:cNvSpPr txBox="1"/>
          <p:nvPr/>
        </p:nvSpPr>
        <p:spPr>
          <a:xfrm>
            <a:off x="132127" y="891534"/>
            <a:ext cx="11964797" cy="4801314"/>
          </a:xfrm>
          <a:prstGeom prst="rect">
            <a:avLst/>
          </a:prstGeom>
          <a:noFill/>
        </p:spPr>
        <p:txBody>
          <a:bodyPr wrap="square">
            <a:spAutoFit/>
          </a:bodyPr>
          <a:lstStyle/>
          <a:p>
            <a:r>
              <a:rPr lang="en-IN" b="1" dirty="0"/>
              <a:t>3. Referential Integrity (Table Relationships)</a:t>
            </a:r>
          </a:p>
          <a:p>
            <a:r>
              <a:rPr lang="en-IN" dirty="0"/>
              <a:t>Orphaned Orders: Verify that every </a:t>
            </a:r>
            <a:r>
              <a:rPr lang="en-IN" dirty="0" err="1"/>
              <a:t>order_id</a:t>
            </a:r>
            <a:r>
              <a:rPr lang="en-IN" dirty="0"/>
              <a:t> in the orders table has a corresponding </a:t>
            </a:r>
            <a:r>
              <a:rPr lang="en-IN" dirty="0" err="1"/>
              <a:t>website_session_id</a:t>
            </a:r>
            <a:r>
              <a:rPr lang="en-IN" dirty="0"/>
              <a:t> in the sessions table.</a:t>
            </a:r>
          </a:p>
          <a:p>
            <a:endParaRPr lang="en-IN" dirty="0"/>
          </a:p>
          <a:p>
            <a:r>
              <a:rPr lang="en-IN" dirty="0"/>
              <a:t>Refund Alignment: Ensure every </a:t>
            </a:r>
            <a:r>
              <a:rPr lang="en-IN" dirty="0" err="1"/>
              <a:t>order_item_id</a:t>
            </a:r>
            <a:r>
              <a:rPr lang="en-IN" dirty="0"/>
              <a:t> in the order_item_refunds table exists in the </a:t>
            </a:r>
            <a:r>
              <a:rPr lang="en-IN" dirty="0" err="1"/>
              <a:t>order_items</a:t>
            </a:r>
            <a:r>
              <a:rPr lang="en-IN" dirty="0"/>
              <a:t> table.</a:t>
            </a:r>
          </a:p>
          <a:p>
            <a:endParaRPr lang="en-IN" dirty="0"/>
          </a:p>
          <a:p>
            <a:r>
              <a:rPr lang="en-IN" dirty="0"/>
              <a:t>Product Mapping: Check that all </a:t>
            </a:r>
            <a:r>
              <a:rPr lang="en-IN" dirty="0" err="1"/>
              <a:t>product_ids</a:t>
            </a:r>
            <a:r>
              <a:rPr lang="en-IN" dirty="0"/>
              <a:t> in the sales tables match an entry in the products master list.</a:t>
            </a:r>
          </a:p>
          <a:p>
            <a:endParaRPr lang="en-IN" dirty="0"/>
          </a:p>
          <a:p>
            <a:r>
              <a:rPr lang="en-IN" b="1" dirty="0"/>
              <a:t>4. Validity &amp; Logical Checks</a:t>
            </a:r>
          </a:p>
          <a:p>
            <a:r>
              <a:rPr lang="en-IN" dirty="0"/>
              <a:t>Chronological Order: Ensure the </a:t>
            </a:r>
            <a:r>
              <a:rPr lang="en-IN" dirty="0" err="1"/>
              <a:t>created_at</a:t>
            </a:r>
            <a:r>
              <a:rPr lang="en-IN" dirty="0"/>
              <a:t> timestamp for a refund is always later than the timestamp for the original order.</a:t>
            </a:r>
          </a:p>
          <a:p>
            <a:endParaRPr lang="en-IN" dirty="0"/>
          </a:p>
          <a:p>
            <a:r>
              <a:rPr lang="en-IN" dirty="0"/>
              <a:t>Conversion Logic: Check that a thank-you pageview only exists for sessions that successfully generated an </a:t>
            </a:r>
            <a:r>
              <a:rPr lang="en-IN" dirty="0" err="1"/>
              <a:t>order_id</a:t>
            </a:r>
            <a:r>
              <a:rPr lang="en-IN" dirty="0"/>
              <a:t>.</a:t>
            </a:r>
          </a:p>
          <a:p>
            <a:endParaRPr lang="en-IN" dirty="0"/>
          </a:p>
          <a:p>
            <a:r>
              <a:rPr lang="en-IN" dirty="0"/>
              <a:t>Price Sanity: Confirm </a:t>
            </a:r>
            <a:r>
              <a:rPr lang="en-IN" dirty="0" err="1"/>
              <a:t>price_usd</a:t>
            </a:r>
            <a:r>
              <a:rPr lang="en-IN" dirty="0"/>
              <a:t> is always greater than </a:t>
            </a:r>
            <a:r>
              <a:rPr lang="en-IN" dirty="0" err="1"/>
              <a:t>cogs_usd</a:t>
            </a:r>
            <a:r>
              <a:rPr lang="en-IN" dirty="0"/>
              <a:t> (Cost of Goods Sold) unless a specific promotion or loss-leader strategy is documented.</a:t>
            </a:r>
          </a:p>
        </p:txBody>
      </p:sp>
    </p:spTree>
    <p:extLst>
      <p:ext uri="{BB962C8B-B14F-4D97-AF65-F5344CB8AC3E}">
        <p14:creationId xmlns:p14="http://schemas.microsoft.com/office/powerpoint/2010/main" val="5701320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36C5C-E58E-9E7F-1EF6-4366F9382EA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753DEF4-C87B-45CB-269A-886070BD9EA6}"/>
              </a:ext>
            </a:extLst>
          </p:cNvPr>
          <p:cNvSpPr txBox="1"/>
          <p:nvPr/>
        </p:nvSpPr>
        <p:spPr>
          <a:xfrm>
            <a:off x="0" y="193887"/>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3200" dirty="0"/>
              <a:t>Detailed Data Processing Tasks(1/3)</a:t>
            </a:r>
            <a:endParaRPr lang="en-IN" sz="3200" dirty="0">
              <a:sym typeface="Arial"/>
            </a:endParaRPr>
          </a:p>
        </p:txBody>
      </p:sp>
      <p:sp>
        <p:nvSpPr>
          <p:cNvPr id="3" name="TextBox 2">
            <a:extLst>
              <a:ext uri="{FF2B5EF4-FFF2-40B4-BE49-F238E27FC236}">
                <a16:creationId xmlns:a16="http://schemas.microsoft.com/office/drawing/2014/main" id="{73E92993-399A-0242-C592-8E9476B73B3F}"/>
              </a:ext>
            </a:extLst>
          </p:cNvPr>
          <p:cNvSpPr txBox="1"/>
          <p:nvPr/>
        </p:nvSpPr>
        <p:spPr>
          <a:xfrm>
            <a:off x="0" y="1240057"/>
            <a:ext cx="12057077" cy="3416320"/>
          </a:xfrm>
          <a:prstGeom prst="rect">
            <a:avLst/>
          </a:prstGeom>
          <a:noFill/>
        </p:spPr>
        <p:txBody>
          <a:bodyPr wrap="square">
            <a:spAutoFit/>
          </a:bodyPr>
          <a:lstStyle/>
          <a:p>
            <a:r>
              <a:rPr lang="en-IN" b="1" dirty="0"/>
              <a:t>Phase 1: Ingestion &amp; Standardization</a:t>
            </a:r>
          </a:p>
          <a:p>
            <a:r>
              <a:rPr lang="en-IN" dirty="0" err="1"/>
              <a:t>DateTime</a:t>
            </a:r>
            <a:r>
              <a:rPr lang="en-IN" dirty="0"/>
              <a:t> Parsing: Converting the </a:t>
            </a:r>
            <a:r>
              <a:rPr lang="en-IN" dirty="0" err="1"/>
              <a:t>created_at</a:t>
            </a:r>
            <a:r>
              <a:rPr lang="en-IN" dirty="0"/>
              <a:t> strings into Pythonic datetime objects to allow for time-series calculations.</a:t>
            </a:r>
          </a:p>
          <a:p>
            <a:endParaRPr lang="en-IN" dirty="0"/>
          </a:p>
          <a:p>
            <a:r>
              <a:rPr lang="en-IN" dirty="0"/>
              <a:t>Temporal Splitting: Separating the raw timestamp into discrete date and time columns for easier daily and hourly grouping.</a:t>
            </a:r>
          </a:p>
          <a:p>
            <a:endParaRPr lang="en-IN" dirty="0"/>
          </a:p>
          <a:p>
            <a:r>
              <a:rPr lang="en-IN" dirty="0"/>
              <a:t>Categorical Sanitization: Standardizing strings in </a:t>
            </a:r>
            <a:r>
              <a:rPr lang="en-IN" dirty="0" err="1"/>
              <a:t>device_type</a:t>
            </a:r>
            <a:r>
              <a:rPr lang="en-IN" dirty="0"/>
              <a:t> and </a:t>
            </a:r>
            <a:r>
              <a:rPr lang="en-IN" dirty="0" err="1"/>
              <a:t>utm_source</a:t>
            </a:r>
            <a:r>
              <a:rPr lang="en-IN" dirty="0"/>
              <a:t> to ensure "Mobile" and "mobile" are treated as the same category.</a:t>
            </a:r>
          </a:p>
          <a:p>
            <a:endParaRPr lang="en-IN" dirty="0"/>
          </a:p>
          <a:p>
            <a:r>
              <a:rPr lang="en-IN" dirty="0"/>
              <a:t>Null Attribution: Mapping "NULL" values in </a:t>
            </a:r>
            <a:r>
              <a:rPr lang="en-IN" dirty="0" err="1"/>
              <a:t>utm_source</a:t>
            </a:r>
            <a:r>
              <a:rPr lang="en-IN" dirty="0"/>
              <a:t> and </a:t>
            </a:r>
            <a:r>
              <a:rPr lang="en-IN" dirty="0" err="1"/>
              <a:t>utm_campaign</a:t>
            </a:r>
            <a:r>
              <a:rPr lang="en-IN" dirty="0"/>
              <a:t> to a specific "Direct/Organic" label to avoid gaps in marketing reports.</a:t>
            </a:r>
          </a:p>
        </p:txBody>
      </p:sp>
    </p:spTree>
    <p:extLst>
      <p:ext uri="{BB962C8B-B14F-4D97-AF65-F5344CB8AC3E}">
        <p14:creationId xmlns:p14="http://schemas.microsoft.com/office/powerpoint/2010/main" val="309536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B4501-1B43-7068-1746-1E091FEEA12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BAA68D8-BE94-F3B6-F3CD-C59EB67E15F6}"/>
              </a:ext>
            </a:extLst>
          </p:cNvPr>
          <p:cNvSpPr txBox="1"/>
          <p:nvPr/>
        </p:nvSpPr>
        <p:spPr>
          <a:xfrm>
            <a:off x="0" y="193887"/>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3200" dirty="0"/>
              <a:t>Detailed Data Processing Tasks(2/3)</a:t>
            </a:r>
            <a:endParaRPr lang="en-IN" sz="3200" dirty="0">
              <a:sym typeface="Arial"/>
            </a:endParaRPr>
          </a:p>
        </p:txBody>
      </p:sp>
      <p:sp>
        <p:nvSpPr>
          <p:cNvPr id="3" name="TextBox 2">
            <a:extLst>
              <a:ext uri="{FF2B5EF4-FFF2-40B4-BE49-F238E27FC236}">
                <a16:creationId xmlns:a16="http://schemas.microsoft.com/office/drawing/2014/main" id="{E2ED60AA-C7D2-4586-FA9A-D9E3D265DC6B}"/>
              </a:ext>
            </a:extLst>
          </p:cNvPr>
          <p:cNvSpPr txBox="1"/>
          <p:nvPr/>
        </p:nvSpPr>
        <p:spPr>
          <a:xfrm>
            <a:off x="266350" y="1097957"/>
            <a:ext cx="11755073" cy="2862322"/>
          </a:xfrm>
          <a:prstGeom prst="rect">
            <a:avLst/>
          </a:prstGeom>
          <a:noFill/>
        </p:spPr>
        <p:txBody>
          <a:bodyPr wrap="square">
            <a:spAutoFit/>
          </a:bodyPr>
          <a:lstStyle/>
          <a:p>
            <a:r>
              <a:rPr lang="en-IN" b="1" dirty="0"/>
              <a:t>Phase 2: Feature Engineering &amp; Enrichment</a:t>
            </a:r>
          </a:p>
          <a:p>
            <a:r>
              <a:rPr lang="en-IN" b="1" dirty="0"/>
              <a:t>Conversion Flagging: </a:t>
            </a:r>
            <a:r>
              <a:rPr lang="en-IN" dirty="0"/>
              <a:t>Creating a binary indicator ($0$ or $1$) in the </a:t>
            </a:r>
            <a:r>
              <a:rPr lang="en-IN" dirty="0" err="1"/>
              <a:t>website_sessions</a:t>
            </a:r>
            <a:r>
              <a:rPr lang="en-IN" dirty="0"/>
              <a:t> table to easily identify sessions that resulted in an </a:t>
            </a:r>
            <a:r>
              <a:rPr lang="en-IN" dirty="0" err="1"/>
              <a:t>order_id</a:t>
            </a:r>
            <a:r>
              <a:rPr lang="en-IN" dirty="0"/>
              <a:t>.</a:t>
            </a:r>
          </a:p>
          <a:p>
            <a:endParaRPr lang="en-IN" dirty="0"/>
          </a:p>
          <a:p>
            <a:r>
              <a:rPr lang="en-IN" b="1" dirty="0"/>
              <a:t>Funnel Step Mapping:</a:t>
            </a:r>
            <a:r>
              <a:rPr lang="en-IN" dirty="0"/>
              <a:t> Categorizing individual URLs in website_pageviews into standard funnel stages: </a:t>
            </a:r>
          </a:p>
          <a:p>
            <a:r>
              <a:rPr lang="en-IN" dirty="0"/>
              <a:t>Home -&gt; Products -&gt; Cart -&gt; Shipping -&gt; Billing -&gt; </a:t>
            </a:r>
            <a:r>
              <a:rPr lang="en-IN" dirty="0" err="1"/>
              <a:t>Thank_you</a:t>
            </a:r>
            <a:r>
              <a:rPr lang="en-IN" dirty="0"/>
              <a:t> .</a:t>
            </a:r>
          </a:p>
          <a:p>
            <a:endParaRPr lang="en-IN" dirty="0"/>
          </a:p>
          <a:p>
            <a:r>
              <a:rPr lang="en-IN" b="1" dirty="0"/>
              <a:t>Time-of-Day Features: </a:t>
            </a:r>
            <a:r>
              <a:rPr lang="en-IN" dirty="0"/>
              <a:t>Extracting Day of Week and Hour of Day to identify peak shopping windows for marketing spend optimization.</a:t>
            </a:r>
          </a:p>
          <a:p>
            <a:endParaRPr lang="en-IN" dirty="0"/>
          </a:p>
        </p:txBody>
      </p:sp>
    </p:spTree>
    <p:extLst>
      <p:ext uri="{BB962C8B-B14F-4D97-AF65-F5344CB8AC3E}">
        <p14:creationId xmlns:p14="http://schemas.microsoft.com/office/powerpoint/2010/main" val="1172140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499D7-E120-3F94-5412-7C777FB709B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B4220D1-56D8-7845-38FA-DAB33C848D81}"/>
              </a:ext>
            </a:extLst>
          </p:cNvPr>
          <p:cNvSpPr txBox="1"/>
          <p:nvPr/>
        </p:nvSpPr>
        <p:spPr>
          <a:xfrm>
            <a:off x="0" y="193887"/>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3200" dirty="0"/>
              <a:t>Detailed Data Processing Tasks(3/3)</a:t>
            </a:r>
            <a:endParaRPr lang="en-IN" sz="3200" dirty="0">
              <a:sym typeface="Arial"/>
            </a:endParaRPr>
          </a:p>
        </p:txBody>
      </p:sp>
      <p:sp>
        <p:nvSpPr>
          <p:cNvPr id="3" name="TextBox 2">
            <a:extLst>
              <a:ext uri="{FF2B5EF4-FFF2-40B4-BE49-F238E27FC236}">
                <a16:creationId xmlns:a16="http://schemas.microsoft.com/office/drawing/2014/main" id="{D2A825EF-56A6-DF5E-9CDA-AE580E0CC8A2}"/>
              </a:ext>
            </a:extLst>
          </p:cNvPr>
          <p:cNvSpPr txBox="1"/>
          <p:nvPr/>
        </p:nvSpPr>
        <p:spPr>
          <a:xfrm>
            <a:off x="0" y="997451"/>
            <a:ext cx="11646016" cy="2862322"/>
          </a:xfrm>
          <a:prstGeom prst="rect">
            <a:avLst/>
          </a:prstGeom>
          <a:noFill/>
        </p:spPr>
        <p:txBody>
          <a:bodyPr wrap="square">
            <a:spAutoFit/>
          </a:bodyPr>
          <a:lstStyle/>
          <a:p>
            <a:pPr>
              <a:buNone/>
            </a:pPr>
            <a:r>
              <a:rPr lang="en-US" b="1" dirty="0"/>
              <a:t>Phase 3: Table Integration (Merging)</a:t>
            </a:r>
          </a:p>
          <a:p>
            <a:pPr>
              <a:buNone/>
            </a:pPr>
            <a:endParaRPr lang="en-US" b="1" dirty="0"/>
          </a:p>
          <a:p>
            <a:r>
              <a:rPr lang="en-US" b="1" dirty="0"/>
              <a:t>Session-to-Order Join:</a:t>
            </a:r>
            <a:r>
              <a:rPr lang="en-US" dirty="0"/>
              <a:t> Executing a </a:t>
            </a:r>
            <a:r>
              <a:rPr lang="en-US" b="1" dirty="0"/>
              <a:t>Left Join</a:t>
            </a:r>
            <a:r>
              <a:rPr lang="en-US" dirty="0"/>
              <a:t> between </a:t>
            </a:r>
            <a:r>
              <a:rPr lang="en-US" dirty="0" err="1">
                <a:latin typeface="Courier New" panose="02070309020205020404" pitchFamily="49" charset="0"/>
              </a:rPr>
              <a:t>website_sessions</a:t>
            </a:r>
            <a:r>
              <a:rPr lang="en-US" dirty="0"/>
              <a:t> and </a:t>
            </a:r>
            <a:r>
              <a:rPr lang="en-US" dirty="0">
                <a:latin typeface="Courier New" panose="02070309020205020404" pitchFamily="49" charset="0"/>
              </a:rPr>
              <a:t>orders</a:t>
            </a:r>
            <a:r>
              <a:rPr lang="en-US" dirty="0"/>
              <a:t> to create a "traffic-to-sales" master table.</a:t>
            </a:r>
          </a:p>
          <a:p>
            <a:pPr>
              <a:buFont typeface="Arial" panose="020B0604020202020204" pitchFamily="34" charset="0"/>
              <a:buChar char="•"/>
            </a:pPr>
            <a:endParaRPr lang="en-US" dirty="0"/>
          </a:p>
          <a:p>
            <a:r>
              <a:rPr lang="en-US" b="1" dirty="0"/>
              <a:t>Item-Level Denormalization:</a:t>
            </a:r>
            <a:r>
              <a:rPr lang="en-US" dirty="0"/>
              <a:t> Linking </a:t>
            </a:r>
            <a:r>
              <a:rPr lang="en-US" dirty="0" err="1">
                <a:latin typeface="Courier New" panose="02070309020205020404" pitchFamily="49" charset="0"/>
              </a:rPr>
              <a:t>order_items</a:t>
            </a:r>
            <a:r>
              <a:rPr lang="en-US" dirty="0"/>
              <a:t> with the </a:t>
            </a:r>
            <a:r>
              <a:rPr lang="en-US" dirty="0">
                <a:latin typeface="Courier New" panose="02070309020205020404" pitchFamily="49" charset="0"/>
              </a:rPr>
              <a:t>products</a:t>
            </a:r>
            <a:r>
              <a:rPr lang="en-US" dirty="0"/>
              <a:t> table to append human-readable names (e.g., "The Original Mr. Fuzzy") to every transaction.</a:t>
            </a:r>
          </a:p>
          <a:p>
            <a:pPr>
              <a:buFont typeface="Arial" panose="020B0604020202020204" pitchFamily="34" charset="0"/>
              <a:buChar char="•"/>
            </a:pPr>
            <a:endParaRPr lang="en-US" dirty="0"/>
          </a:p>
          <a:p>
            <a:r>
              <a:rPr lang="en-US" b="1" dirty="0"/>
              <a:t>Refund Integration:</a:t>
            </a:r>
            <a:r>
              <a:rPr lang="en-US" dirty="0"/>
              <a:t> Matching the </a:t>
            </a:r>
            <a:r>
              <a:rPr lang="en-US" dirty="0" err="1">
                <a:latin typeface="Courier New" panose="02070309020205020404" pitchFamily="49" charset="0"/>
              </a:rPr>
              <a:t>order_item_refunds</a:t>
            </a:r>
            <a:r>
              <a:rPr lang="en-US" dirty="0"/>
              <a:t> table back to the original sales records to calculate Return Rates at the product level.</a:t>
            </a:r>
          </a:p>
        </p:txBody>
      </p:sp>
    </p:spTree>
    <p:extLst>
      <p:ext uri="{BB962C8B-B14F-4D97-AF65-F5344CB8AC3E}">
        <p14:creationId xmlns:p14="http://schemas.microsoft.com/office/powerpoint/2010/main" val="2152186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FDAD3-80CC-D77D-6E88-D6693EBDFEB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36E219A-FE23-8BA6-7F78-93CE469AA8BF}"/>
              </a:ext>
            </a:extLst>
          </p:cNvPr>
          <p:cNvSpPr txBox="1"/>
          <p:nvPr/>
        </p:nvSpPr>
        <p:spPr>
          <a:xfrm>
            <a:off x="0" y="157499"/>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3200" dirty="0"/>
              <a:t>exploratory data analysis</a:t>
            </a:r>
            <a:endParaRPr lang="en-IN" sz="3200" dirty="0">
              <a:sym typeface="Arial"/>
            </a:endParaRPr>
          </a:p>
        </p:txBody>
      </p:sp>
      <p:sp>
        <p:nvSpPr>
          <p:cNvPr id="3" name="TextBox 2">
            <a:extLst>
              <a:ext uri="{FF2B5EF4-FFF2-40B4-BE49-F238E27FC236}">
                <a16:creationId xmlns:a16="http://schemas.microsoft.com/office/drawing/2014/main" id="{BE981A09-D056-831D-B17E-0B266DF7304E}"/>
              </a:ext>
            </a:extLst>
          </p:cNvPr>
          <p:cNvSpPr txBox="1"/>
          <p:nvPr/>
        </p:nvSpPr>
        <p:spPr>
          <a:xfrm>
            <a:off x="0" y="805342"/>
            <a:ext cx="12192000" cy="3693319"/>
          </a:xfrm>
          <a:prstGeom prst="rect">
            <a:avLst/>
          </a:prstGeom>
          <a:noFill/>
        </p:spPr>
        <p:txBody>
          <a:bodyPr wrap="square">
            <a:spAutoFit/>
          </a:bodyPr>
          <a:lstStyle/>
          <a:p>
            <a:r>
              <a:rPr lang="en-IN" b="1" dirty="0"/>
              <a:t>Traffic &amp; Acquisition Analysis (Marketing Focus)</a:t>
            </a:r>
          </a:p>
          <a:p>
            <a:endParaRPr lang="en-IN" dirty="0"/>
          </a:p>
          <a:p>
            <a:r>
              <a:rPr lang="en-IN" dirty="0"/>
              <a:t>Traffic Source Distribution: Analyse session volume breakdown by </a:t>
            </a:r>
            <a:r>
              <a:rPr lang="en-IN" dirty="0" err="1"/>
              <a:t>utm_source</a:t>
            </a:r>
            <a:r>
              <a:rPr lang="en-IN" dirty="0"/>
              <a:t>, </a:t>
            </a:r>
            <a:r>
              <a:rPr lang="en-IN" dirty="0" err="1"/>
              <a:t>utm_campaign</a:t>
            </a:r>
            <a:r>
              <a:rPr lang="en-IN" dirty="0"/>
              <a:t>, and </a:t>
            </a:r>
            <a:r>
              <a:rPr lang="en-IN" dirty="0" err="1"/>
              <a:t>http_referer</a:t>
            </a:r>
            <a:r>
              <a:rPr lang="en-IN" dirty="0"/>
              <a:t> to identify dominant channels .</a:t>
            </a:r>
          </a:p>
          <a:p>
            <a:endParaRPr lang="en-IN" dirty="0"/>
          </a:p>
          <a:p>
            <a:r>
              <a:rPr lang="en-IN" dirty="0"/>
              <a:t>Temporal Trends: Visualize session volume by Hour of Day and Day of Week to pinpoint peak traffic times for bid scheduling.</a:t>
            </a:r>
          </a:p>
          <a:p>
            <a:endParaRPr lang="en-IN" dirty="0"/>
          </a:p>
          <a:p>
            <a:r>
              <a:rPr lang="en-IN" dirty="0"/>
              <a:t>Device Performance: Compare Conversion Rates (CVR) between mobile vs. desktop traffic to identify optimization gaps.</a:t>
            </a:r>
          </a:p>
          <a:p>
            <a:endParaRPr lang="en-IN" dirty="0"/>
          </a:p>
          <a:p>
            <a:r>
              <a:rPr lang="en-IN" dirty="0"/>
              <a:t>Bid Optimization Audit: Correlate volume and conversion rates for paid channels (e.g., </a:t>
            </a:r>
            <a:r>
              <a:rPr lang="en-IN" dirty="0" err="1"/>
              <a:t>gsearch</a:t>
            </a:r>
            <a:r>
              <a:rPr lang="en-IN" dirty="0"/>
              <a:t>) to flag overspending or under-bidding.</a:t>
            </a:r>
          </a:p>
        </p:txBody>
      </p:sp>
    </p:spTree>
    <p:extLst>
      <p:ext uri="{BB962C8B-B14F-4D97-AF65-F5344CB8AC3E}">
        <p14:creationId xmlns:p14="http://schemas.microsoft.com/office/powerpoint/2010/main" val="25788002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3A10A-A62F-F5FA-3BDD-A4A0A507453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5F9AE7E-E18D-0C2C-B814-B21E898177EB}"/>
              </a:ext>
            </a:extLst>
          </p:cNvPr>
          <p:cNvSpPr txBox="1"/>
          <p:nvPr/>
        </p:nvSpPr>
        <p:spPr>
          <a:xfrm>
            <a:off x="0" y="193887"/>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3200" dirty="0"/>
              <a:t>exploratory data analysis</a:t>
            </a:r>
            <a:endParaRPr lang="en-IN" sz="3200" dirty="0">
              <a:sym typeface="Arial"/>
            </a:endParaRPr>
          </a:p>
        </p:txBody>
      </p:sp>
      <p:sp>
        <p:nvSpPr>
          <p:cNvPr id="3" name="TextBox 2">
            <a:extLst>
              <a:ext uri="{FF2B5EF4-FFF2-40B4-BE49-F238E27FC236}">
                <a16:creationId xmlns:a16="http://schemas.microsoft.com/office/drawing/2014/main" id="{773B5698-12F4-F67B-1BFC-268C6FE6148C}"/>
              </a:ext>
            </a:extLst>
          </p:cNvPr>
          <p:cNvSpPr txBox="1"/>
          <p:nvPr/>
        </p:nvSpPr>
        <p:spPr>
          <a:xfrm>
            <a:off x="-1" y="984787"/>
            <a:ext cx="12113703" cy="3139321"/>
          </a:xfrm>
          <a:prstGeom prst="rect">
            <a:avLst/>
          </a:prstGeom>
          <a:noFill/>
        </p:spPr>
        <p:txBody>
          <a:bodyPr wrap="square">
            <a:spAutoFit/>
          </a:bodyPr>
          <a:lstStyle/>
          <a:p>
            <a:r>
              <a:rPr lang="en-IN" b="1" dirty="0"/>
              <a:t>Website Performance &amp; User Journey (UX Focus)</a:t>
            </a:r>
          </a:p>
          <a:p>
            <a:endParaRPr lang="en-IN" b="1" dirty="0"/>
          </a:p>
          <a:p>
            <a:r>
              <a:rPr lang="en-IN" b="1" dirty="0"/>
              <a:t>Entry Page Analysis: </a:t>
            </a:r>
            <a:r>
              <a:rPr lang="en-IN" dirty="0"/>
              <a:t>Identify top entry pages (</a:t>
            </a:r>
            <a:r>
              <a:rPr lang="en-IN" dirty="0" err="1"/>
              <a:t>pageview_url</a:t>
            </a:r>
            <a:r>
              <a:rPr lang="en-IN" dirty="0"/>
              <a:t>) and calculate specific Bounce Rates to find weak landing pages .</a:t>
            </a:r>
          </a:p>
          <a:p>
            <a:endParaRPr lang="en-IN" dirty="0"/>
          </a:p>
          <a:p>
            <a:r>
              <a:rPr lang="en-IN" b="1" dirty="0"/>
              <a:t>Conversion Funnel Visualization: </a:t>
            </a:r>
            <a:r>
              <a:rPr lang="en-IN" dirty="0"/>
              <a:t>Map the full user path (Lander -&gt;Product -&gt; Cart -&gt; Shipping -&gt; Billing -&gt; Thank You) to identify specific drop-off points.</a:t>
            </a:r>
          </a:p>
          <a:p>
            <a:endParaRPr lang="en-IN" dirty="0"/>
          </a:p>
          <a:p>
            <a:r>
              <a:rPr lang="en-IN" b="1" dirty="0"/>
              <a:t>A/B Test Validation: </a:t>
            </a:r>
            <a:r>
              <a:rPr lang="en-IN" dirty="0"/>
              <a:t>Compare performance metrics (CTR, CVR) between /billing and /billing-2 page versions.</a:t>
            </a:r>
          </a:p>
          <a:p>
            <a:endParaRPr lang="en-IN" dirty="0"/>
          </a:p>
          <a:p>
            <a:r>
              <a:rPr lang="en-IN" b="1" dirty="0"/>
              <a:t>Landing Page Trending: </a:t>
            </a:r>
            <a:r>
              <a:rPr lang="en-IN" dirty="0" err="1"/>
              <a:t>Analyze</a:t>
            </a:r>
            <a:r>
              <a:rPr lang="en-IN" dirty="0"/>
              <a:t> the lifecycle and performance trends of campaign-specific landing pages over time.</a:t>
            </a:r>
          </a:p>
        </p:txBody>
      </p:sp>
    </p:spTree>
    <p:extLst>
      <p:ext uri="{BB962C8B-B14F-4D97-AF65-F5344CB8AC3E}">
        <p14:creationId xmlns:p14="http://schemas.microsoft.com/office/powerpoint/2010/main" val="1233719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1B850-D91D-3C57-E99A-7139807F78D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D40BBE9-1E0B-368E-B902-86858402DC50}"/>
              </a:ext>
            </a:extLst>
          </p:cNvPr>
          <p:cNvSpPr txBox="1"/>
          <p:nvPr/>
        </p:nvSpPr>
        <p:spPr>
          <a:xfrm>
            <a:off x="0" y="193887"/>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3200" dirty="0"/>
              <a:t>exploratory data analysis</a:t>
            </a:r>
            <a:endParaRPr lang="en-IN" sz="3200" dirty="0">
              <a:sym typeface="Arial"/>
            </a:endParaRPr>
          </a:p>
        </p:txBody>
      </p:sp>
      <p:sp>
        <p:nvSpPr>
          <p:cNvPr id="3" name="TextBox 2">
            <a:extLst>
              <a:ext uri="{FF2B5EF4-FFF2-40B4-BE49-F238E27FC236}">
                <a16:creationId xmlns:a16="http://schemas.microsoft.com/office/drawing/2014/main" id="{007A3320-EE40-A570-2C2F-26861A09F8BC}"/>
              </a:ext>
            </a:extLst>
          </p:cNvPr>
          <p:cNvSpPr txBox="1"/>
          <p:nvPr/>
        </p:nvSpPr>
        <p:spPr>
          <a:xfrm>
            <a:off x="83890" y="914400"/>
            <a:ext cx="11937534" cy="4247317"/>
          </a:xfrm>
          <a:prstGeom prst="rect">
            <a:avLst/>
          </a:prstGeom>
          <a:noFill/>
        </p:spPr>
        <p:txBody>
          <a:bodyPr wrap="square">
            <a:spAutoFit/>
          </a:bodyPr>
          <a:lstStyle/>
          <a:p>
            <a:endParaRPr lang="en-IN" b="1" dirty="0"/>
          </a:p>
          <a:p>
            <a:r>
              <a:rPr lang="en-IN" b="1" dirty="0"/>
              <a:t>Product &amp; Sales Health (Business Focus)</a:t>
            </a:r>
          </a:p>
          <a:p>
            <a:endParaRPr lang="en-IN" dirty="0"/>
          </a:p>
          <a:p>
            <a:r>
              <a:rPr lang="en-IN" b="1" dirty="0"/>
              <a:t>Revenue &amp; Seasonality: </a:t>
            </a:r>
            <a:r>
              <a:rPr lang="en-IN" dirty="0"/>
              <a:t>Plot monthly and quarterly revenue trends to validate the "High Growth" story for investors.</a:t>
            </a:r>
          </a:p>
          <a:p>
            <a:endParaRPr lang="en-IN" dirty="0"/>
          </a:p>
          <a:p>
            <a:r>
              <a:rPr lang="en-IN" b="1" dirty="0"/>
              <a:t>Product Mix Analysis: </a:t>
            </a:r>
            <a:r>
              <a:rPr lang="en-IN" dirty="0"/>
              <a:t>Breakdown of sales by </a:t>
            </a:r>
            <a:r>
              <a:rPr lang="en-IN" dirty="0" err="1"/>
              <a:t>product_id</a:t>
            </a:r>
            <a:r>
              <a:rPr lang="en-IN" dirty="0"/>
              <a:t> to determine the revenue contribution of "Mr. Fuzzy" vs. new launches like "The Birthday Sugar Panda".</a:t>
            </a:r>
          </a:p>
          <a:p>
            <a:endParaRPr lang="en-IN" dirty="0"/>
          </a:p>
          <a:p>
            <a:r>
              <a:rPr lang="en-IN" b="1" dirty="0"/>
              <a:t>Cross-Sell Patterns: </a:t>
            </a:r>
            <a:r>
              <a:rPr lang="en-IN" dirty="0" err="1"/>
              <a:t>Analyze</a:t>
            </a:r>
            <a:r>
              <a:rPr lang="en-IN" dirty="0"/>
              <a:t> orders with </a:t>
            </a:r>
            <a:r>
              <a:rPr lang="en-IN" dirty="0" err="1"/>
              <a:t>items_purchased</a:t>
            </a:r>
            <a:r>
              <a:rPr lang="en-IN" dirty="0"/>
              <a:t> &gt; 1 to understand which products are frequently bought together.</a:t>
            </a:r>
          </a:p>
          <a:p>
            <a:endParaRPr lang="en-IN" dirty="0"/>
          </a:p>
          <a:p>
            <a:r>
              <a:rPr lang="en-IN" b="1" dirty="0"/>
              <a:t>Refund Rate Analysis: </a:t>
            </a:r>
            <a:r>
              <a:rPr lang="en-IN" dirty="0"/>
              <a:t>Calculate refund rates by product and month using the </a:t>
            </a:r>
            <a:r>
              <a:rPr lang="en-IN" dirty="0" err="1"/>
              <a:t>order_item_refunds</a:t>
            </a:r>
            <a:r>
              <a:rPr lang="en-IN" dirty="0"/>
              <a:t> table to monitor quality control issues.</a:t>
            </a:r>
          </a:p>
          <a:p>
            <a:endParaRPr lang="en-IN" dirty="0"/>
          </a:p>
        </p:txBody>
      </p:sp>
    </p:spTree>
    <p:extLst>
      <p:ext uri="{BB962C8B-B14F-4D97-AF65-F5344CB8AC3E}">
        <p14:creationId xmlns:p14="http://schemas.microsoft.com/office/powerpoint/2010/main" val="1178967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F4B4B-CF39-B092-85F2-32330FBCAED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697CC86-6D7D-6A85-E76B-5BFA9BE92E16}"/>
              </a:ext>
            </a:extLst>
          </p:cNvPr>
          <p:cNvSpPr txBox="1"/>
          <p:nvPr/>
        </p:nvSpPr>
        <p:spPr>
          <a:xfrm>
            <a:off x="0" y="193887"/>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3200" dirty="0"/>
              <a:t>exploratory data analysis</a:t>
            </a:r>
            <a:endParaRPr lang="en-IN" sz="3200" dirty="0">
              <a:sym typeface="Arial"/>
            </a:endParaRPr>
          </a:p>
        </p:txBody>
      </p:sp>
      <p:sp>
        <p:nvSpPr>
          <p:cNvPr id="3" name="TextBox 2">
            <a:extLst>
              <a:ext uri="{FF2B5EF4-FFF2-40B4-BE49-F238E27FC236}">
                <a16:creationId xmlns:a16="http://schemas.microsoft.com/office/drawing/2014/main" id="{4C54D855-E21D-52D5-B144-A978FFFC2745}"/>
              </a:ext>
            </a:extLst>
          </p:cNvPr>
          <p:cNvSpPr txBox="1"/>
          <p:nvPr/>
        </p:nvSpPr>
        <p:spPr>
          <a:xfrm>
            <a:off x="73404" y="909286"/>
            <a:ext cx="12015131" cy="1754326"/>
          </a:xfrm>
          <a:prstGeom prst="rect">
            <a:avLst/>
          </a:prstGeom>
          <a:noFill/>
        </p:spPr>
        <p:txBody>
          <a:bodyPr wrap="square">
            <a:spAutoFit/>
          </a:bodyPr>
          <a:lstStyle/>
          <a:p>
            <a:r>
              <a:rPr lang="en-IN" b="1" dirty="0"/>
              <a:t>Customer Retention (Growth Focus)</a:t>
            </a:r>
          </a:p>
          <a:p>
            <a:endParaRPr lang="en-IN" dirty="0"/>
          </a:p>
          <a:p>
            <a:r>
              <a:rPr lang="en-IN" b="1" dirty="0"/>
              <a:t>Repeat Visitor Behaviour </a:t>
            </a:r>
            <a:r>
              <a:rPr lang="en-IN" dirty="0"/>
              <a:t>: specific analysis on users with </a:t>
            </a:r>
            <a:r>
              <a:rPr lang="en-IN" dirty="0" err="1"/>
              <a:t>is_repeat_session</a:t>
            </a:r>
            <a:r>
              <a:rPr lang="en-IN" dirty="0"/>
              <a:t> = 1 to measure brand loyalty.</a:t>
            </a:r>
          </a:p>
          <a:p>
            <a:endParaRPr lang="en-IN" dirty="0"/>
          </a:p>
          <a:p>
            <a:r>
              <a:rPr lang="en-IN" b="1" dirty="0"/>
              <a:t>Time-Between-Sessions: </a:t>
            </a:r>
            <a:r>
              <a:rPr lang="en-IN" dirty="0"/>
              <a:t>Calculate the average, minimum, and maximum time elapsed between a user's first and second session.</a:t>
            </a:r>
          </a:p>
        </p:txBody>
      </p:sp>
    </p:spTree>
    <p:extLst>
      <p:ext uri="{BB962C8B-B14F-4D97-AF65-F5344CB8AC3E}">
        <p14:creationId xmlns:p14="http://schemas.microsoft.com/office/powerpoint/2010/main" val="32718420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FC903-D8F4-763F-8C67-49BBACD2792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9C41B32-7639-9D79-154E-9D4E69E8A163}"/>
              </a:ext>
            </a:extLst>
          </p:cNvPr>
          <p:cNvSpPr/>
          <p:nvPr/>
        </p:nvSpPr>
        <p:spPr>
          <a:xfrm>
            <a:off x="100585" y="59960"/>
            <a:ext cx="1389887" cy="872728"/>
          </a:xfrm>
          <a:prstGeom prst="rect">
            <a:avLst/>
          </a:prstGeom>
          <a:solidFill>
            <a:schemeClr val="bg1">
              <a:lumMod val="9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tx1"/>
                </a:solidFill>
              </a:rPr>
              <a:t>Company Logo</a:t>
            </a:r>
            <a:endParaRPr lang="en-IN" dirty="0">
              <a:solidFill>
                <a:schemeClr val="tx1"/>
              </a:solidFill>
            </a:endParaRPr>
          </a:p>
        </p:txBody>
      </p:sp>
      <p:sp>
        <p:nvSpPr>
          <p:cNvPr id="3" name="Rectangle 2">
            <a:extLst>
              <a:ext uri="{FF2B5EF4-FFF2-40B4-BE49-F238E27FC236}">
                <a16:creationId xmlns:a16="http://schemas.microsoft.com/office/drawing/2014/main" id="{FCC20FAE-375C-472F-5ECB-06FA94EC83F6}"/>
              </a:ext>
            </a:extLst>
          </p:cNvPr>
          <p:cNvSpPr/>
          <p:nvPr/>
        </p:nvSpPr>
        <p:spPr>
          <a:xfrm>
            <a:off x="1591054" y="59960"/>
            <a:ext cx="7945911" cy="872728"/>
          </a:xfrm>
          <a:prstGeom prst="rect">
            <a:avLst/>
          </a:prstGeom>
          <a:solidFill>
            <a:srgbClr val="348E90"/>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3600" b="1" u="sng" dirty="0"/>
              <a:t>CEO Dashboard</a:t>
            </a:r>
            <a:endParaRPr lang="en-US" sz="3600" b="1" u="sng" dirty="0"/>
          </a:p>
        </p:txBody>
      </p:sp>
      <p:sp>
        <p:nvSpPr>
          <p:cNvPr id="4" name="Rectangle 3">
            <a:extLst>
              <a:ext uri="{FF2B5EF4-FFF2-40B4-BE49-F238E27FC236}">
                <a16:creationId xmlns:a16="http://schemas.microsoft.com/office/drawing/2014/main" id="{602A291C-8674-09AE-F7FB-66C44C4AFAFB}"/>
              </a:ext>
            </a:extLst>
          </p:cNvPr>
          <p:cNvSpPr/>
          <p:nvPr/>
        </p:nvSpPr>
        <p:spPr>
          <a:xfrm>
            <a:off x="9713623" y="59960"/>
            <a:ext cx="2283304" cy="872728"/>
          </a:xfrm>
          <a:prstGeom prst="rect">
            <a:avLst/>
          </a:prstGeom>
          <a:solidFill>
            <a:schemeClr val="bg1">
              <a:lumMod val="9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tx1"/>
                </a:solidFill>
              </a:rPr>
              <a:t>Navigating </a:t>
            </a:r>
          </a:p>
          <a:p>
            <a:pPr algn="ctr"/>
            <a:r>
              <a:rPr lang="en-US" dirty="0">
                <a:solidFill>
                  <a:schemeClr val="tx1"/>
                </a:solidFill>
              </a:rPr>
              <a:t>Buttons</a:t>
            </a:r>
            <a:endParaRPr lang="en-IN" dirty="0">
              <a:solidFill>
                <a:schemeClr val="tx1"/>
              </a:solidFill>
            </a:endParaRPr>
          </a:p>
        </p:txBody>
      </p:sp>
      <p:sp>
        <p:nvSpPr>
          <p:cNvPr id="5" name="Rectangle 4">
            <a:extLst>
              <a:ext uri="{FF2B5EF4-FFF2-40B4-BE49-F238E27FC236}">
                <a16:creationId xmlns:a16="http://schemas.microsoft.com/office/drawing/2014/main" id="{F47EB072-D5C7-16C4-D4B7-E613D6BF9C24}"/>
              </a:ext>
            </a:extLst>
          </p:cNvPr>
          <p:cNvSpPr/>
          <p:nvPr/>
        </p:nvSpPr>
        <p:spPr>
          <a:xfrm>
            <a:off x="1578636" y="1008688"/>
            <a:ext cx="10418064" cy="991300"/>
          </a:xfrm>
          <a:prstGeom prst="rect">
            <a:avLst/>
          </a:prstGeom>
          <a:solidFill>
            <a:schemeClr val="bg2">
              <a:lumMod val="10000"/>
              <a:lumOff val="90000"/>
            </a:schemeClr>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tx1"/>
                </a:solidFill>
              </a:rPr>
              <a:t>KPIs(</a:t>
            </a:r>
            <a:r>
              <a:rPr lang="en-IN" dirty="0">
                <a:solidFill>
                  <a:schemeClr val="tx1"/>
                </a:solidFill>
              </a:rPr>
              <a:t>Total Revenue (USD), Total Profit (USD), Profit Margin (%), Total Orders, Conversion Rate (%), Repeat Customer Rate (%), Refund Rate (%), Top Product Contribution (%)</a:t>
            </a:r>
            <a:r>
              <a:rPr lang="en-US" dirty="0">
                <a:solidFill>
                  <a:schemeClr val="tx1"/>
                </a:solidFill>
              </a:rPr>
              <a:t>) </a:t>
            </a:r>
            <a:endParaRPr lang="en-IN" dirty="0">
              <a:solidFill>
                <a:schemeClr val="tx1"/>
              </a:solidFill>
            </a:endParaRPr>
          </a:p>
        </p:txBody>
      </p:sp>
      <p:sp>
        <p:nvSpPr>
          <p:cNvPr id="6" name="Rectangle 5">
            <a:extLst>
              <a:ext uri="{FF2B5EF4-FFF2-40B4-BE49-F238E27FC236}">
                <a16:creationId xmlns:a16="http://schemas.microsoft.com/office/drawing/2014/main" id="{35885FF7-F3FF-20D8-6A76-28C190614CF3}"/>
              </a:ext>
            </a:extLst>
          </p:cNvPr>
          <p:cNvSpPr/>
          <p:nvPr/>
        </p:nvSpPr>
        <p:spPr>
          <a:xfrm>
            <a:off x="132475" y="1020680"/>
            <a:ext cx="1389887" cy="5264396"/>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b="1" u="sng" dirty="0">
                <a:solidFill>
                  <a:schemeClr val="tx1"/>
                </a:solidFill>
              </a:rPr>
              <a:t>Slicers</a:t>
            </a:r>
          </a:p>
          <a:p>
            <a:pPr marL="285750" indent="-285750" algn="ctr">
              <a:buFont typeface="Arial" panose="020B0604020202020204" pitchFamily="34" charset="0"/>
              <a:buChar char="•"/>
            </a:pPr>
            <a:r>
              <a:rPr lang="en-IN" dirty="0">
                <a:solidFill>
                  <a:schemeClr val="tx1"/>
                </a:solidFill>
              </a:rPr>
              <a:t>Time Period</a:t>
            </a:r>
          </a:p>
          <a:p>
            <a:pPr marL="285750" indent="-285750" algn="ctr">
              <a:buFont typeface="Arial" panose="020B0604020202020204" pitchFamily="34" charset="0"/>
              <a:buChar char="•"/>
            </a:pPr>
            <a:r>
              <a:rPr lang="en-IN" dirty="0">
                <a:solidFill>
                  <a:schemeClr val="tx1"/>
                </a:solidFill>
              </a:rPr>
              <a:t>Device Type</a:t>
            </a:r>
          </a:p>
          <a:p>
            <a:pPr marL="285750" indent="-285750" algn="ctr">
              <a:buFont typeface="Arial" panose="020B0604020202020204" pitchFamily="34" charset="0"/>
              <a:buChar char="•"/>
            </a:pPr>
            <a:r>
              <a:rPr lang="en-IN" dirty="0">
                <a:solidFill>
                  <a:schemeClr val="tx1"/>
                </a:solidFill>
              </a:rPr>
              <a:t>Traffic Source</a:t>
            </a:r>
          </a:p>
          <a:p>
            <a:pPr marL="285750" indent="-285750" algn="ctr">
              <a:buFont typeface="Arial" panose="020B0604020202020204" pitchFamily="34" charset="0"/>
              <a:buChar char="•"/>
            </a:pPr>
            <a:r>
              <a:rPr lang="en-IN" dirty="0">
                <a:solidFill>
                  <a:schemeClr val="tx1"/>
                </a:solidFill>
              </a:rPr>
              <a:t>Product</a:t>
            </a:r>
          </a:p>
          <a:p>
            <a:pPr marL="285750" indent="-285750" algn="ctr">
              <a:buFont typeface="Arial" panose="020B0604020202020204" pitchFamily="34" charset="0"/>
              <a:buChar char="•"/>
            </a:pPr>
            <a:r>
              <a:rPr lang="en-IN" dirty="0">
                <a:solidFill>
                  <a:schemeClr val="tx1"/>
                </a:solidFill>
              </a:rPr>
              <a:t>Customer Type</a:t>
            </a:r>
          </a:p>
        </p:txBody>
      </p:sp>
      <p:sp>
        <p:nvSpPr>
          <p:cNvPr id="7" name="Rectangle 6">
            <a:extLst>
              <a:ext uri="{FF2B5EF4-FFF2-40B4-BE49-F238E27FC236}">
                <a16:creationId xmlns:a16="http://schemas.microsoft.com/office/drawing/2014/main" id="{3505887D-CC13-7560-4112-59EF498746AE}"/>
              </a:ext>
            </a:extLst>
          </p:cNvPr>
          <p:cNvSpPr/>
          <p:nvPr/>
        </p:nvSpPr>
        <p:spPr>
          <a:xfrm>
            <a:off x="1578863" y="2099972"/>
            <a:ext cx="2228639" cy="2097124"/>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tx1"/>
                </a:solidFill>
              </a:rPr>
              <a:t>Revenue &amp; Profit Trend (Quarterly Line Chart)</a:t>
            </a:r>
          </a:p>
        </p:txBody>
      </p:sp>
      <p:sp>
        <p:nvSpPr>
          <p:cNvPr id="8" name="Rectangle 7">
            <a:extLst>
              <a:ext uri="{FF2B5EF4-FFF2-40B4-BE49-F238E27FC236}">
                <a16:creationId xmlns:a16="http://schemas.microsoft.com/office/drawing/2014/main" id="{C2B5950E-81E4-54A0-1B5F-0FCF555D7E98}"/>
              </a:ext>
            </a:extLst>
          </p:cNvPr>
          <p:cNvSpPr/>
          <p:nvPr/>
        </p:nvSpPr>
        <p:spPr>
          <a:xfrm>
            <a:off x="1591054" y="4285088"/>
            <a:ext cx="2228639" cy="1978552"/>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dirty="0">
                <a:solidFill>
                  <a:schemeClr val="tx1"/>
                </a:solidFill>
              </a:rPr>
              <a:t>Desktop vs Mobile Funnel (Side-by-side bars)</a:t>
            </a:r>
            <a:endParaRPr lang="en-US" dirty="0">
              <a:solidFill>
                <a:schemeClr val="tx1"/>
              </a:solidFill>
            </a:endParaRPr>
          </a:p>
        </p:txBody>
      </p:sp>
      <p:sp>
        <p:nvSpPr>
          <p:cNvPr id="10" name="Rectangle 9">
            <a:extLst>
              <a:ext uri="{FF2B5EF4-FFF2-40B4-BE49-F238E27FC236}">
                <a16:creationId xmlns:a16="http://schemas.microsoft.com/office/drawing/2014/main" id="{5C676CF2-F2B6-B4C0-E101-20EDDC59ECCC}"/>
              </a:ext>
            </a:extLst>
          </p:cNvPr>
          <p:cNvSpPr/>
          <p:nvPr/>
        </p:nvSpPr>
        <p:spPr>
          <a:xfrm>
            <a:off x="9125551" y="2099972"/>
            <a:ext cx="2871150" cy="2094276"/>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dirty="0">
                <a:solidFill>
                  <a:schemeClr val="tx1"/>
                </a:solidFill>
              </a:rPr>
              <a:t>Conversion Funnel (Bar or Funnel)</a:t>
            </a:r>
          </a:p>
          <a:p>
            <a:pPr algn="ctr"/>
            <a:r>
              <a:rPr lang="en-US" b="1" dirty="0">
                <a:solidFill>
                  <a:schemeClr val="tx1"/>
                </a:solidFill>
              </a:rPr>
              <a:t>Steps:</a:t>
            </a:r>
            <a:br>
              <a:rPr lang="en-US" dirty="0">
                <a:solidFill>
                  <a:schemeClr val="tx1"/>
                </a:solidFill>
              </a:rPr>
            </a:br>
            <a:r>
              <a:rPr lang="en-US" dirty="0">
                <a:solidFill>
                  <a:schemeClr val="tx1"/>
                </a:solidFill>
              </a:rPr>
              <a:t>Landing → Product → Cart → Shipping → Billing → Thank You</a:t>
            </a:r>
          </a:p>
        </p:txBody>
      </p:sp>
      <p:sp>
        <p:nvSpPr>
          <p:cNvPr id="12" name="Rectangle 11">
            <a:extLst>
              <a:ext uri="{FF2B5EF4-FFF2-40B4-BE49-F238E27FC236}">
                <a16:creationId xmlns:a16="http://schemas.microsoft.com/office/drawing/2014/main" id="{E76732E1-6685-0EBF-D9BB-AEF7D4816AEA}"/>
              </a:ext>
            </a:extLst>
          </p:cNvPr>
          <p:cNvSpPr/>
          <p:nvPr/>
        </p:nvSpPr>
        <p:spPr>
          <a:xfrm>
            <a:off x="9125551" y="4270248"/>
            <a:ext cx="2871376" cy="2014828"/>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dirty="0">
                <a:solidFill>
                  <a:schemeClr val="tx1"/>
                </a:solidFill>
              </a:rPr>
              <a:t>Product Volume vs Profitability (Bubble Chart)</a:t>
            </a:r>
            <a:endParaRPr lang="en-US" dirty="0">
              <a:solidFill>
                <a:schemeClr val="tx1"/>
              </a:solidFill>
            </a:endParaRPr>
          </a:p>
        </p:txBody>
      </p:sp>
      <p:sp>
        <p:nvSpPr>
          <p:cNvPr id="13" name="Rectangle 12">
            <a:extLst>
              <a:ext uri="{FF2B5EF4-FFF2-40B4-BE49-F238E27FC236}">
                <a16:creationId xmlns:a16="http://schemas.microsoft.com/office/drawing/2014/main" id="{BC2AF244-24B5-6D08-9AC8-0CAD347233C7}"/>
              </a:ext>
            </a:extLst>
          </p:cNvPr>
          <p:cNvSpPr/>
          <p:nvPr/>
        </p:nvSpPr>
        <p:spPr>
          <a:xfrm>
            <a:off x="3864003" y="2097124"/>
            <a:ext cx="2755393" cy="2097124"/>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tx1"/>
                </a:solidFill>
              </a:rPr>
              <a:t>Traffic Mix by Source (Stacked Bar)</a:t>
            </a:r>
          </a:p>
        </p:txBody>
      </p:sp>
      <p:sp>
        <p:nvSpPr>
          <p:cNvPr id="14" name="Rectangle 13">
            <a:extLst>
              <a:ext uri="{FF2B5EF4-FFF2-40B4-BE49-F238E27FC236}">
                <a16:creationId xmlns:a16="http://schemas.microsoft.com/office/drawing/2014/main" id="{D460A183-E42D-D7DB-C5E5-76E9EF10932E}"/>
              </a:ext>
            </a:extLst>
          </p:cNvPr>
          <p:cNvSpPr/>
          <p:nvPr/>
        </p:nvSpPr>
        <p:spPr>
          <a:xfrm>
            <a:off x="3888385" y="4266950"/>
            <a:ext cx="2731011" cy="2014828"/>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tx1"/>
                </a:solidFill>
              </a:rPr>
              <a:t>Revenue by Product (Stacked Bar – Quarterly)</a:t>
            </a:r>
            <a:endParaRPr lang="en-IN" dirty="0">
              <a:solidFill>
                <a:schemeClr val="tx1"/>
              </a:solidFill>
            </a:endParaRPr>
          </a:p>
        </p:txBody>
      </p:sp>
      <p:sp>
        <p:nvSpPr>
          <p:cNvPr id="9" name="Rectangle 8">
            <a:extLst>
              <a:ext uri="{FF2B5EF4-FFF2-40B4-BE49-F238E27FC236}">
                <a16:creationId xmlns:a16="http://schemas.microsoft.com/office/drawing/2014/main" id="{077C44FE-BF00-B9E4-9CC9-C22DA201519A}"/>
              </a:ext>
            </a:extLst>
          </p:cNvPr>
          <p:cNvSpPr/>
          <p:nvPr/>
        </p:nvSpPr>
        <p:spPr>
          <a:xfrm>
            <a:off x="6675897" y="2097124"/>
            <a:ext cx="2393152" cy="2097124"/>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tx1"/>
                </a:solidFill>
              </a:rPr>
              <a:t>Refund Rate Trend (Quarterly Line)</a:t>
            </a:r>
          </a:p>
        </p:txBody>
      </p:sp>
      <p:sp>
        <p:nvSpPr>
          <p:cNvPr id="11" name="Rectangle 10">
            <a:extLst>
              <a:ext uri="{FF2B5EF4-FFF2-40B4-BE49-F238E27FC236}">
                <a16:creationId xmlns:a16="http://schemas.microsoft.com/office/drawing/2014/main" id="{EE5CC2B8-266A-57DF-F20B-B9E507977BB4}"/>
              </a:ext>
            </a:extLst>
          </p:cNvPr>
          <p:cNvSpPr/>
          <p:nvPr/>
        </p:nvSpPr>
        <p:spPr>
          <a:xfrm>
            <a:off x="6688088" y="4270772"/>
            <a:ext cx="2380961" cy="2014828"/>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tx1"/>
                </a:solidFill>
              </a:rPr>
              <a:t>New vs Repeat Customers (Stacked Bar)</a:t>
            </a:r>
          </a:p>
        </p:txBody>
      </p:sp>
    </p:spTree>
    <p:extLst>
      <p:ext uri="{BB962C8B-B14F-4D97-AF65-F5344CB8AC3E}">
        <p14:creationId xmlns:p14="http://schemas.microsoft.com/office/powerpoint/2010/main" val="578138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23E67-377D-D423-DE01-79ADED89B05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645AE32-D687-95E4-7F05-EE0ED24CB6C7}"/>
              </a:ext>
            </a:extLst>
          </p:cNvPr>
          <p:cNvSpPr/>
          <p:nvPr/>
        </p:nvSpPr>
        <p:spPr>
          <a:xfrm>
            <a:off x="100585" y="59960"/>
            <a:ext cx="1389887" cy="872728"/>
          </a:xfrm>
          <a:prstGeom prst="rect">
            <a:avLst/>
          </a:prstGeom>
          <a:solidFill>
            <a:schemeClr val="bg1">
              <a:lumMod val="9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tx1"/>
                </a:solidFill>
              </a:rPr>
              <a:t>Company Logo</a:t>
            </a:r>
            <a:endParaRPr lang="en-IN" dirty="0">
              <a:solidFill>
                <a:schemeClr val="tx1"/>
              </a:solidFill>
            </a:endParaRPr>
          </a:p>
        </p:txBody>
      </p:sp>
      <p:sp>
        <p:nvSpPr>
          <p:cNvPr id="3" name="Rectangle 2">
            <a:extLst>
              <a:ext uri="{FF2B5EF4-FFF2-40B4-BE49-F238E27FC236}">
                <a16:creationId xmlns:a16="http://schemas.microsoft.com/office/drawing/2014/main" id="{C907C1EE-9ECF-4226-5EA3-76BE380B5C39}"/>
              </a:ext>
            </a:extLst>
          </p:cNvPr>
          <p:cNvSpPr/>
          <p:nvPr/>
        </p:nvSpPr>
        <p:spPr>
          <a:xfrm>
            <a:off x="1591054" y="59960"/>
            <a:ext cx="7945911" cy="872728"/>
          </a:xfrm>
          <a:prstGeom prst="rect">
            <a:avLst/>
          </a:prstGeom>
          <a:solidFill>
            <a:srgbClr val="348E90"/>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3600" u="sng" dirty="0"/>
              <a:t>Website Manager Dashboard</a:t>
            </a:r>
            <a:endParaRPr lang="en-US" sz="3600" b="1" u="sng" dirty="0"/>
          </a:p>
        </p:txBody>
      </p:sp>
      <p:sp>
        <p:nvSpPr>
          <p:cNvPr id="4" name="Rectangle 3">
            <a:extLst>
              <a:ext uri="{FF2B5EF4-FFF2-40B4-BE49-F238E27FC236}">
                <a16:creationId xmlns:a16="http://schemas.microsoft.com/office/drawing/2014/main" id="{DB41FF84-E8A3-0D41-3EEC-AF799EE12D5B}"/>
              </a:ext>
            </a:extLst>
          </p:cNvPr>
          <p:cNvSpPr/>
          <p:nvPr/>
        </p:nvSpPr>
        <p:spPr>
          <a:xfrm>
            <a:off x="9713623" y="59960"/>
            <a:ext cx="2283304" cy="872728"/>
          </a:xfrm>
          <a:prstGeom prst="rect">
            <a:avLst/>
          </a:prstGeom>
          <a:solidFill>
            <a:schemeClr val="bg1">
              <a:lumMod val="9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tx1"/>
                </a:solidFill>
              </a:rPr>
              <a:t>Navigating </a:t>
            </a:r>
          </a:p>
          <a:p>
            <a:pPr algn="ctr"/>
            <a:r>
              <a:rPr lang="en-US" dirty="0">
                <a:solidFill>
                  <a:schemeClr val="tx1"/>
                </a:solidFill>
              </a:rPr>
              <a:t>Buttons</a:t>
            </a:r>
            <a:endParaRPr lang="en-IN" dirty="0">
              <a:solidFill>
                <a:schemeClr val="tx1"/>
              </a:solidFill>
            </a:endParaRPr>
          </a:p>
        </p:txBody>
      </p:sp>
      <p:sp>
        <p:nvSpPr>
          <p:cNvPr id="5" name="Rectangle 4">
            <a:extLst>
              <a:ext uri="{FF2B5EF4-FFF2-40B4-BE49-F238E27FC236}">
                <a16:creationId xmlns:a16="http://schemas.microsoft.com/office/drawing/2014/main" id="{D269FD25-8CA5-BA25-324A-DE49285ABACE}"/>
              </a:ext>
            </a:extLst>
          </p:cNvPr>
          <p:cNvSpPr/>
          <p:nvPr/>
        </p:nvSpPr>
        <p:spPr>
          <a:xfrm>
            <a:off x="1578636" y="1008688"/>
            <a:ext cx="10418064" cy="991300"/>
          </a:xfrm>
          <a:prstGeom prst="rect">
            <a:avLst/>
          </a:prstGeom>
          <a:solidFill>
            <a:schemeClr val="bg2">
              <a:lumMod val="10000"/>
              <a:lumOff val="90000"/>
            </a:schemeClr>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tx1"/>
                </a:solidFill>
              </a:rPr>
              <a:t>Top website pages, entry </a:t>
            </a:r>
            <a:r>
              <a:rPr lang="en-US" dirty="0" err="1">
                <a:solidFill>
                  <a:schemeClr val="tx1"/>
                </a:solidFill>
              </a:rPr>
              <a:t>pages,Bounce</a:t>
            </a:r>
            <a:r>
              <a:rPr lang="en-US" dirty="0">
                <a:solidFill>
                  <a:schemeClr val="tx1"/>
                </a:solidFill>
              </a:rPr>
              <a:t> </a:t>
            </a:r>
            <a:r>
              <a:rPr lang="en-US" dirty="0" err="1">
                <a:solidFill>
                  <a:schemeClr val="tx1"/>
                </a:solidFill>
              </a:rPr>
              <a:t>rate,Conversion</a:t>
            </a:r>
            <a:r>
              <a:rPr lang="en-US" dirty="0">
                <a:solidFill>
                  <a:schemeClr val="tx1"/>
                </a:solidFill>
              </a:rPr>
              <a:t> </a:t>
            </a:r>
            <a:r>
              <a:rPr lang="en-US" dirty="0" err="1">
                <a:solidFill>
                  <a:schemeClr val="tx1"/>
                </a:solidFill>
              </a:rPr>
              <a:t>rate,Revenue</a:t>
            </a:r>
            <a:r>
              <a:rPr lang="en-US" dirty="0">
                <a:solidFill>
                  <a:schemeClr val="tx1"/>
                </a:solidFill>
              </a:rPr>
              <a:t> per session for repeat sessions and new sessions.</a:t>
            </a:r>
            <a:endParaRPr lang="en-IN" dirty="0">
              <a:solidFill>
                <a:schemeClr val="tx1"/>
              </a:solidFill>
            </a:endParaRPr>
          </a:p>
        </p:txBody>
      </p:sp>
      <p:sp>
        <p:nvSpPr>
          <p:cNvPr id="6" name="Rectangle 5">
            <a:extLst>
              <a:ext uri="{FF2B5EF4-FFF2-40B4-BE49-F238E27FC236}">
                <a16:creationId xmlns:a16="http://schemas.microsoft.com/office/drawing/2014/main" id="{7094ED23-B834-DCCA-2A98-5691F878F445}"/>
              </a:ext>
            </a:extLst>
          </p:cNvPr>
          <p:cNvSpPr/>
          <p:nvPr/>
        </p:nvSpPr>
        <p:spPr>
          <a:xfrm>
            <a:off x="132475" y="1020680"/>
            <a:ext cx="1389887" cy="5264396"/>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b="1" u="sng" dirty="0">
                <a:solidFill>
                  <a:schemeClr val="tx1"/>
                </a:solidFill>
              </a:rPr>
              <a:t>Slicers</a:t>
            </a:r>
          </a:p>
          <a:p>
            <a:pPr marL="285750" indent="-285750" algn="ctr">
              <a:buFont typeface="Arial" panose="020B0604020202020204" pitchFamily="34" charset="0"/>
              <a:buChar char="•"/>
            </a:pPr>
            <a:r>
              <a:rPr lang="en-IN" dirty="0">
                <a:solidFill>
                  <a:schemeClr val="tx1"/>
                </a:solidFill>
              </a:rPr>
              <a:t>Time Period</a:t>
            </a:r>
          </a:p>
          <a:p>
            <a:pPr marL="285750" indent="-285750" algn="ctr">
              <a:buFont typeface="Arial" panose="020B0604020202020204" pitchFamily="34" charset="0"/>
              <a:buChar char="•"/>
            </a:pPr>
            <a:r>
              <a:rPr lang="en-IN" dirty="0">
                <a:solidFill>
                  <a:schemeClr val="tx1"/>
                </a:solidFill>
              </a:rPr>
              <a:t>Device Type</a:t>
            </a:r>
          </a:p>
          <a:p>
            <a:pPr marL="285750" indent="-285750" algn="ctr">
              <a:buFont typeface="Arial" panose="020B0604020202020204" pitchFamily="34" charset="0"/>
              <a:buChar char="•"/>
            </a:pPr>
            <a:r>
              <a:rPr lang="en-IN" dirty="0">
                <a:solidFill>
                  <a:schemeClr val="tx1"/>
                </a:solidFill>
              </a:rPr>
              <a:t>Traffic Source</a:t>
            </a:r>
          </a:p>
          <a:p>
            <a:pPr marL="285750" indent="-285750" algn="ctr">
              <a:buFont typeface="Arial" panose="020B0604020202020204" pitchFamily="34" charset="0"/>
              <a:buChar char="•"/>
            </a:pPr>
            <a:r>
              <a:rPr lang="en-IN" dirty="0">
                <a:solidFill>
                  <a:schemeClr val="tx1"/>
                </a:solidFill>
              </a:rPr>
              <a:t>Product</a:t>
            </a:r>
          </a:p>
          <a:p>
            <a:pPr marL="285750" indent="-285750" algn="ctr">
              <a:buFont typeface="Arial" panose="020B0604020202020204" pitchFamily="34" charset="0"/>
              <a:buChar char="•"/>
            </a:pPr>
            <a:r>
              <a:rPr lang="en-IN" dirty="0">
                <a:solidFill>
                  <a:schemeClr val="tx1"/>
                </a:solidFill>
              </a:rPr>
              <a:t>Customer Type</a:t>
            </a:r>
          </a:p>
        </p:txBody>
      </p:sp>
      <p:sp>
        <p:nvSpPr>
          <p:cNvPr id="7" name="Rectangle 6">
            <a:extLst>
              <a:ext uri="{FF2B5EF4-FFF2-40B4-BE49-F238E27FC236}">
                <a16:creationId xmlns:a16="http://schemas.microsoft.com/office/drawing/2014/main" id="{30A315D9-F7E5-46E6-D6D0-1179A1AFE95C}"/>
              </a:ext>
            </a:extLst>
          </p:cNvPr>
          <p:cNvSpPr/>
          <p:nvPr/>
        </p:nvSpPr>
        <p:spPr>
          <a:xfrm>
            <a:off x="1578863" y="2099972"/>
            <a:ext cx="2228639" cy="2097124"/>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b="1" dirty="0">
                <a:solidFill>
                  <a:schemeClr val="tx1"/>
                </a:solidFill>
              </a:rPr>
              <a:t>Bar Chart (Horizontal):</a:t>
            </a:r>
            <a:r>
              <a:rPr lang="en-US" dirty="0">
                <a:solidFill>
                  <a:schemeClr val="tx1"/>
                </a:solidFill>
              </a:rPr>
              <a:t> Show the count of </a:t>
            </a:r>
            <a:r>
              <a:rPr lang="en-US" dirty="0" err="1">
                <a:solidFill>
                  <a:schemeClr val="tx1"/>
                </a:solidFill>
              </a:rPr>
              <a:t>website_pageview_id</a:t>
            </a:r>
            <a:r>
              <a:rPr lang="en-US" dirty="0">
                <a:solidFill>
                  <a:schemeClr val="tx1"/>
                </a:solidFill>
              </a:rPr>
              <a:t> by </a:t>
            </a:r>
            <a:r>
              <a:rPr lang="en-US" dirty="0" err="1">
                <a:solidFill>
                  <a:schemeClr val="tx1"/>
                </a:solidFill>
              </a:rPr>
              <a:t>pageview_url</a:t>
            </a:r>
            <a:endParaRPr lang="en-US" dirty="0">
              <a:solidFill>
                <a:schemeClr val="tx1"/>
              </a:solidFill>
            </a:endParaRPr>
          </a:p>
        </p:txBody>
      </p:sp>
      <p:sp>
        <p:nvSpPr>
          <p:cNvPr id="8" name="Rectangle 7">
            <a:extLst>
              <a:ext uri="{FF2B5EF4-FFF2-40B4-BE49-F238E27FC236}">
                <a16:creationId xmlns:a16="http://schemas.microsoft.com/office/drawing/2014/main" id="{56D76842-2C1F-9E2B-4BAD-E1578B3CF44C}"/>
              </a:ext>
            </a:extLst>
          </p:cNvPr>
          <p:cNvSpPr/>
          <p:nvPr/>
        </p:nvSpPr>
        <p:spPr>
          <a:xfrm>
            <a:off x="1591054" y="4285088"/>
            <a:ext cx="2228639" cy="1978552"/>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dirty="0">
                <a:solidFill>
                  <a:schemeClr val="tx1"/>
                </a:solidFill>
              </a:rPr>
              <a:t>Gauge Chart:</a:t>
            </a:r>
            <a:r>
              <a:rPr lang="en-US" sz="1600" dirty="0">
                <a:solidFill>
                  <a:schemeClr val="tx1"/>
                </a:solidFill>
              </a:rPr>
              <a:t> Show the "Conversion to Purchase" percentage for each test group to see which billing page reached the target goal more effectively.</a:t>
            </a:r>
          </a:p>
        </p:txBody>
      </p:sp>
      <p:sp>
        <p:nvSpPr>
          <p:cNvPr id="10" name="Rectangle 9">
            <a:extLst>
              <a:ext uri="{FF2B5EF4-FFF2-40B4-BE49-F238E27FC236}">
                <a16:creationId xmlns:a16="http://schemas.microsoft.com/office/drawing/2014/main" id="{F69FDF2D-C549-7AEE-7526-41CB966F1850}"/>
              </a:ext>
            </a:extLst>
          </p:cNvPr>
          <p:cNvSpPr/>
          <p:nvPr/>
        </p:nvSpPr>
        <p:spPr>
          <a:xfrm>
            <a:off x="9125551" y="2099972"/>
            <a:ext cx="2871150" cy="2094276"/>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b="1" dirty="0">
                <a:solidFill>
                  <a:schemeClr val="tx1"/>
                </a:solidFill>
              </a:rPr>
              <a:t>Funnel Visual:</a:t>
            </a:r>
            <a:r>
              <a:rPr lang="en-US" dirty="0">
                <a:solidFill>
                  <a:schemeClr val="tx1"/>
                </a:solidFill>
              </a:rPr>
              <a:t> Use a step-by-step funnel starting from /lander-1 → /products → /cart → /shipping → /billing → /thankyou.</a:t>
            </a:r>
          </a:p>
        </p:txBody>
      </p:sp>
      <p:sp>
        <p:nvSpPr>
          <p:cNvPr id="12" name="Rectangle 11">
            <a:extLst>
              <a:ext uri="{FF2B5EF4-FFF2-40B4-BE49-F238E27FC236}">
                <a16:creationId xmlns:a16="http://schemas.microsoft.com/office/drawing/2014/main" id="{B15C2CCA-7218-191D-39BA-40391FB5B05B}"/>
              </a:ext>
            </a:extLst>
          </p:cNvPr>
          <p:cNvSpPr/>
          <p:nvPr/>
        </p:nvSpPr>
        <p:spPr>
          <a:xfrm>
            <a:off x="9125551" y="4270248"/>
            <a:ext cx="2871376" cy="2014828"/>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b="1" dirty="0">
                <a:solidFill>
                  <a:schemeClr val="tx1"/>
                </a:solidFill>
              </a:rPr>
              <a:t>Scatter Plot:</a:t>
            </a:r>
            <a:r>
              <a:rPr lang="en-US" dirty="0">
                <a:solidFill>
                  <a:schemeClr val="tx1"/>
                </a:solidFill>
              </a:rPr>
              <a:t> Plot </a:t>
            </a:r>
            <a:r>
              <a:rPr lang="en-US" dirty="0" err="1">
                <a:solidFill>
                  <a:schemeClr val="tx1"/>
                </a:solidFill>
              </a:rPr>
              <a:t>pageview_url</a:t>
            </a:r>
            <a:r>
              <a:rPr lang="en-US" dirty="0">
                <a:solidFill>
                  <a:schemeClr val="tx1"/>
                </a:solidFill>
              </a:rPr>
              <a:t> with "Total Sessions" on the X-axis and "Bounce Rate %" on the Y-axis to identify high-traffic pages that are failing to engage users</a:t>
            </a:r>
          </a:p>
        </p:txBody>
      </p:sp>
      <p:sp>
        <p:nvSpPr>
          <p:cNvPr id="13" name="Rectangle 12">
            <a:extLst>
              <a:ext uri="{FF2B5EF4-FFF2-40B4-BE49-F238E27FC236}">
                <a16:creationId xmlns:a16="http://schemas.microsoft.com/office/drawing/2014/main" id="{7FB16E08-C1D6-FBF5-7707-D6D91000A982}"/>
              </a:ext>
            </a:extLst>
          </p:cNvPr>
          <p:cNvSpPr/>
          <p:nvPr/>
        </p:nvSpPr>
        <p:spPr>
          <a:xfrm>
            <a:off x="3864003" y="2097124"/>
            <a:ext cx="2755393" cy="2097124"/>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dirty="0">
                <a:solidFill>
                  <a:schemeClr val="tx1"/>
                </a:solidFill>
              </a:rPr>
              <a:t>Table with Conditional Formatting:</a:t>
            </a:r>
            <a:r>
              <a:rPr lang="en-US" sz="1600" dirty="0">
                <a:solidFill>
                  <a:schemeClr val="tx1"/>
                </a:solidFill>
              </a:rPr>
              <a:t> List </a:t>
            </a:r>
            <a:r>
              <a:rPr lang="en-US" sz="1600" dirty="0" err="1">
                <a:solidFill>
                  <a:schemeClr val="tx1"/>
                </a:solidFill>
              </a:rPr>
              <a:t>pageview_url</a:t>
            </a:r>
            <a:r>
              <a:rPr lang="en-US" sz="1600" dirty="0">
                <a:solidFill>
                  <a:schemeClr val="tx1"/>
                </a:solidFill>
              </a:rPr>
              <a:t> where the first </a:t>
            </a:r>
            <a:r>
              <a:rPr lang="en-US" sz="1600" dirty="0" err="1">
                <a:solidFill>
                  <a:schemeClr val="tx1"/>
                </a:solidFill>
              </a:rPr>
              <a:t>website_pageview_id</a:t>
            </a:r>
            <a:r>
              <a:rPr lang="en-US" sz="1600" dirty="0">
                <a:solidFill>
                  <a:schemeClr val="tx1"/>
                </a:solidFill>
              </a:rPr>
              <a:t> of a session occurs</a:t>
            </a:r>
            <a:endParaRPr lang="en-US" dirty="0">
              <a:solidFill>
                <a:schemeClr val="tx1"/>
              </a:solidFill>
            </a:endParaRPr>
          </a:p>
        </p:txBody>
      </p:sp>
      <p:sp>
        <p:nvSpPr>
          <p:cNvPr id="14" name="Rectangle 13">
            <a:extLst>
              <a:ext uri="{FF2B5EF4-FFF2-40B4-BE49-F238E27FC236}">
                <a16:creationId xmlns:a16="http://schemas.microsoft.com/office/drawing/2014/main" id="{11298E26-0690-6ADD-0D85-AD13AC90B19F}"/>
              </a:ext>
            </a:extLst>
          </p:cNvPr>
          <p:cNvSpPr/>
          <p:nvPr/>
        </p:nvSpPr>
        <p:spPr>
          <a:xfrm>
            <a:off x="3888385" y="4266950"/>
            <a:ext cx="2731011" cy="2014828"/>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dirty="0">
                <a:solidFill>
                  <a:schemeClr val="tx1"/>
                </a:solidFill>
              </a:rPr>
              <a:t>Area Chart or Line Chart:</a:t>
            </a:r>
            <a:r>
              <a:rPr lang="en-US" sz="1600" dirty="0">
                <a:solidFill>
                  <a:schemeClr val="tx1"/>
                </a:solidFill>
              </a:rPr>
              <a:t> Track the "Bounce Rate" of specific landing pages over time.</a:t>
            </a:r>
            <a:endParaRPr lang="en-IN" sz="1600" dirty="0">
              <a:solidFill>
                <a:schemeClr val="tx1"/>
              </a:solidFill>
            </a:endParaRPr>
          </a:p>
        </p:txBody>
      </p:sp>
      <p:sp>
        <p:nvSpPr>
          <p:cNvPr id="9" name="Rectangle 8">
            <a:extLst>
              <a:ext uri="{FF2B5EF4-FFF2-40B4-BE49-F238E27FC236}">
                <a16:creationId xmlns:a16="http://schemas.microsoft.com/office/drawing/2014/main" id="{836584EA-0E71-75C7-9053-E545955D284C}"/>
              </a:ext>
            </a:extLst>
          </p:cNvPr>
          <p:cNvSpPr/>
          <p:nvPr/>
        </p:nvSpPr>
        <p:spPr>
          <a:xfrm>
            <a:off x="6675897" y="2097124"/>
            <a:ext cx="2393152" cy="2097124"/>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b="1" dirty="0">
                <a:solidFill>
                  <a:schemeClr val="tx1"/>
                </a:solidFill>
              </a:rPr>
              <a:t>Stacked Bar Chart:</a:t>
            </a:r>
            <a:r>
              <a:rPr lang="en-US" dirty="0">
                <a:solidFill>
                  <a:schemeClr val="tx1"/>
                </a:solidFill>
              </a:rPr>
              <a:t> Compare the "Drop-off Rate" at the billing step for users who saw /billing versus those who saw /billing-2.</a:t>
            </a:r>
          </a:p>
        </p:txBody>
      </p:sp>
      <p:sp>
        <p:nvSpPr>
          <p:cNvPr id="11" name="Rectangle 10">
            <a:extLst>
              <a:ext uri="{FF2B5EF4-FFF2-40B4-BE49-F238E27FC236}">
                <a16:creationId xmlns:a16="http://schemas.microsoft.com/office/drawing/2014/main" id="{BDB1A287-BDF6-FD7D-13A8-BD8A6426754D}"/>
              </a:ext>
            </a:extLst>
          </p:cNvPr>
          <p:cNvSpPr/>
          <p:nvPr/>
        </p:nvSpPr>
        <p:spPr>
          <a:xfrm>
            <a:off x="6688088" y="4270772"/>
            <a:ext cx="2380961" cy="2014828"/>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dirty="0">
                <a:solidFill>
                  <a:schemeClr val="tx1"/>
                </a:solidFill>
              </a:rPr>
              <a:t>Clustered Column Chart:</a:t>
            </a:r>
            <a:r>
              <a:rPr lang="en-US" sz="1600" dirty="0">
                <a:solidFill>
                  <a:schemeClr val="tx1"/>
                </a:solidFill>
              </a:rPr>
              <a:t> Compare "Conversion Rate" or "Bounce Rate" across different landing page URLs (e.g., /home vs. /lander-1).</a:t>
            </a:r>
          </a:p>
        </p:txBody>
      </p:sp>
    </p:spTree>
    <p:extLst>
      <p:ext uri="{BB962C8B-B14F-4D97-AF65-F5344CB8AC3E}">
        <p14:creationId xmlns:p14="http://schemas.microsoft.com/office/powerpoint/2010/main" val="5518438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58E7B-73C2-861C-0782-6C50298AD69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71D958E-2DA0-39E4-617A-3AABA94D934D}"/>
              </a:ext>
            </a:extLst>
          </p:cNvPr>
          <p:cNvSpPr/>
          <p:nvPr/>
        </p:nvSpPr>
        <p:spPr>
          <a:xfrm>
            <a:off x="100585" y="59960"/>
            <a:ext cx="1389887" cy="872728"/>
          </a:xfrm>
          <a:prstGeom prst="rect">
            <a:avLst/>
          </a:prstGeom>
          <a:solidFill>
            <a:schemeClr val="bg1">
              <a:lumMod val="9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tx1"/>
                </a:solidFill>
              </a:rPr>
              <a:t>Company Logo</a:t>
            </a:r>
            <a:endParaRPr lang="en-IN" dirty="0">
              <a:solidFill>
                <a:schemeClr val="tx1"/>
              </a:solidFill>
            </a:endParaRPr>
          </a:p>
        </p:txBody>
      </p:sp>
      <p:sp>
        <p:nvSpPr>
          <p:cNvPr id="3" name="Rectangle 2">
            <a:extLst>
              <a:ext uri="{FF2B5EF4-FFF2-40B4-BE49-F238E27FC236}">
                <a16:creationId xmlns:a16="http://schemas.microsoft.com/office/drawing/2014/main" id="{7DFC70C1-77E6-D533-3BB9-2DB1A3FD380A}"/>
              </a:ext>
            </a:extLst>
          </p:cNvPr>
          <p:cNvSpPr/>
          <p:nvPr/>
        </p:nvSpPr>
        <p:spPr>
          <a:xfrm>
            <a:off x="1591054" y="59960"/>
            <a:ext cx="7945911" cy="872728"/>
          </a:xfrm>
          <a:prstGeom prst="rect">
            <a:avLst/>
          </a:prstGeom>
          <a:solidFill>
            <a:srgbClr val="348E90"/>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2800" b="1" u="sng" dirty="0"/>
              <a:t>Dashboard For Marketing Manager</a:t>
            </a:r>
            <a:endParaRPr lang="en-US" sz="2800" b="1" u="sng" dirty="0"/>
          </a:p>
        </p:txBody>
      </p:sp>
      <p:sp>
        <p:nvSpPr>
          <p:cNvPr id="4" name="Rectangle 3">
            <a:extLst>
              <a:ext uri="{FF2B5EF4-FFF2-40B4-BE49-F238E27FC236}">
                <a16:creationId xmlns:a16="http://schemas.microsoft.com/office/drawing/2014/main" id="{D090ADF7-1AA2-3EC5-67B7-CF9B6540D59D}"/>
              </a:ext>
            </a:extLst>
          </p:cNvPr>
          <p:cNvSpPr/>
          <p:nvPr/>
        </p:nvSpPr>
        <p:spPr>
          <a:xfrm>
            <a:off x="9713623" y="59960"/>
            <a:ext cx="2283304" cy="872728"/>
          </a:xfrm>
          <a:prstGeom prst="rect">
            <a:avLst/>
          </a:prstGeom>
          <a:solidFill>
            <a:schemeClr val="bg1">
              <a:lumMod val="9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tx1"/>
                </a:solidFill>
              </a:rPr>
              <a:t>Navigating </a:t>
            </a:r>
          </a:p>
          <a:p>
            <a:pPr algn="ctr"/>
            <a:r>
              <a:rPr lang="en-US" dirty="0">
                <a:solidFill>
                  <a:schemeClr val="tx1"/>
                </a:solidFill>
              </a:rPr>
              <a:t>Buttons</a:t>
            </a:r>
            <a:endParaRPr lang="en-IN" dirty="0">
              <a:solidFill>
                <a:schemeClr val="tx1"/>
              </a:solidFill>
            </a:endParaRPr>
          </a:p>
        </p:txBody>
      </p:sp>
      <p:sp>
        <p:nvSpPr>
          <p:cNvPr id="5" name="Rectangle 4">
            <a:extLst>
              <a:ext uri="{FF2B5EF4-FFF2-40B4-BE49-F238E27FC236}">
                <a16:creationId xmlns:a16="http://schemas.microsoft.com/office/drawing/2014/main" id="{C623EF75-C350-99FB-1A2C-272CF0754946}"/>
              </a:ext>
            </a:extLst>
          </p:cNvPr>
          <p:cNvSpPr/>
          <p:nvPr/>
        </p:nvSpPr>
        <p:spPr>
          <a:xfrm>
            <a:off x="1578636" y="1008688"/>
            <a:ext cx="10418064" cy="991300"/>
          </a:xfrm>
          <a:prstGeom prst="rect">
            <a:avLst/>
          </a:prstGeom>
          <a:solidFill>
            <a:schemeClr val="bg2">
              <a:lumMod val="10000"/>
              <a:lumOff val="90000"/>
            </a:schemeClr>
          </a:solidFill>
          <a:ln>
            <a:solidFill>
              <a:schemeClr val="bg1"/>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err="1">
                <a:solidFill>
                  <a:schemeClr val="tx1"/>
                </a:solidFill>
              </a:rPr>
              <a:t>Gsearch</a:t>
            </a:r>
            <a:r>
              <a:rPr lang="en-US" dirty="0">
                <a:solidFill>
                  <a:schemeClr val="tx1"/>
                </a:solidFill>
              </a:rPr>
              <a:t> conversion </a:t>
            </a:r>
            <a:r>
              <a:rPr lang="en-US" dirty="0" err="1">
                <a:solidFill>
                  <a:schemeClr val="tx1"/>
                </a:solidFill>
              </a:rPr>
              <a:t>rate,Gsearch</a:t>
            </a:r>
            <a:r>
              <a:rPr lang="en-US" dirty="0">
                <a:solidFill>
                  <a:schemeClr val="tx1"/>
                </a:solidFill>
              </a:rPr>
              <a:t> volume </a:t>
            </a:r>
            <a:r>
              <a:rPr lang="en-US" dirty="0" err="1">
                <a:solidFill>
                  <a:schemeClr val="tx1"/>
                </a:solidFill>
              </a:rPr>
              <a:t>trends,Repeat</a:t>
            </a:r>
            <a:r>
              <a:rPr lang="en-US" dirty="0">
                <a:solidFill>
                  <a:schemeClr val="tx1"/>
                </a:solidFill>
              </a:rPr>
              <a:t> </a:t>
            </a:r>
            <a:r>
              <a:rPr lang="en-US" dirty="0" err="1">
                <a:solidFill>
                  <a:schemeClr val="tx1"/>
                </a:solidFill>
              </a:rPr>
              <a:t>visitors,Repeat</a:t>
            </a:r>
            <a:r>
              <a:rPr lang="en-US" dirty="0">
                <a:solidFill>
                  <a:schemeClr val="tx1"/>
                </a:solidFill>
              </a:rPr>
              <a:t> sessions </a:t>
            </a:r>
            <a:r>
              <a:rPr lang="en-US" dirty="0" err="1">
                <a:solidFill>
                  <a:schemeClr val="tx1"/>
                </a:solidFill>
              </a:rPr>
              <a:t>rate,Min</a:t>
            </a:r>
            <a:r>
              <a:rPr lang="en-US" dirty="0">
                <a:solidFill>
                  <a:schemeClr val="tx1"/>
                </a:solidFill>
              </a:rPr>
              <a:t>, max, average time b/w the first and second session for repeated customers.</a:t>
            </a:r>
            <a:endParaRPr lang="en-IN" dirty="0">
              <a:solidFill>
                <a:schemeClr val="tx1"/>
              </a:solidFill>
            </a:endParaRPr>
          </a:p>
        </p:txBody>
      </p:sp>
      <p:sp>
        <p:nvSpPr>
          <p:cNvPr id="6" name="Rectangle 5">
            <a:extLst>
              <a:ext uri="{FF2B5EF4-FFF2-40B4-BE49-F238E27FC236}">
                <a16:creationId xmlns:a16="http://schemas.microsoft.com/office/drawing/2014/main" id="{9EB95C3A-B9B2-F914-1CF0-19122EBB4DC4}"/>
              </a:ext>
            </a:extLst>
          </p:cNvPr>
          <p:cNvSpPr/>
          <p:nvPr/>
        </p:nvSpPr>
        <p:spPr>
          <a:xfrm>
            <a:off x="132475" y="1020680"/>
            <a:ext cx="1389887" cy="5264396"/>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b="1" u="sng" dirty="0">
                <a:solidFill>
                  <a:schemeClr val="tx1"/>
                </a:solidFill>
              </a:rPr>
              <a:t>Slicers</a:t>
            </a:r>
          </a:p>
          <a:p>
            <a:pPr marL="285750" indent="-285750" algn="ctr">
              <a:buFont typeface="Arial" panose="020B0604020202020204" pitchFamily="34" charset="0"/>
              <a:buChar char="•"/>
            </a:pPr>
            <a:r>
              <a:rPr lang="en-IN" dirty="0">
                <a:solidFill>
                  <a:schemeClr val="tx1"/>
                </a:solidFill>
              </a:rPr>
              <a:t>Time Period</a:t>
            </a:r>
          </a:p>
          <a:p>
            <a:pPr marL="285750" indent="-285750" algn="ctr">
              <a:buFont typeface="Arial" panose="020B0604020202020204" pitchFamily="34" charset="0"/>
              <a:buChar char="•"/>
            </a:pPr>
            <a:r>
              <a:rPr lang="en-IN" dirty="0">
                <a:solidFill>
                  <a:schemeClr val="tx1"/>
                </a:solidFill>
              </a:rPr>
              <a:t>Device Type</a:t>
            </a:r>
          </a:p>
          <a:p>
            <a:pPr marL="285750" indent="-285750" algn="ctr">
              <a:buFont typeface="Arial" panose="020B0604020202020204" pitchFamily="34" charset="0"/>
              <a:buChar char="•"/>
            </a:pPr>
            <a:r>
              <a:rPr lang="en-IN" dirty="0">
                <a:solidFill>
                  <a:schemeClr val="tx1"/>
                </a:solidFill>
              </a:rPr>
              <a:t>Traffic Source</a:t>
            </a:r>
          </a:p>
          <a:p>
            <a:pPr marL="285750" indent="-285750" algn="ctr">
              <a:buFont typeface="Arial" panose="020B0604020202020204" pitchFamily="34" charset="0"/>
              <a:buChar char="•"/>
            </a:pPr>
            <a:r>
              <a:rPr lang="en-IN" dirty="0">
                <a:solidFill>
                  <a:schemeClr val="tx1"/>
                </a:solidFill>
              </a:rPr>
              <a:t>Product</a:t>
            </a:r>
          </a:p>
          <a:p>
            <a:pPr marL="285750" indent="-285750" algn="ctr">
              <a:buFont typeface="Arial" panose="020B0604020202020204" pitchFamily="34" charset="0"/>
              <a:buChar char="•"/>
            </a:pPr>
            <a:r>
              <a:rPr lang="en-IN" dirty="0">
                <a:solidFill>
                  <a:schemeClr val="tx1"/>
                </a:solidFill>
              </a:rPr>
              <a:t>Customer Type</a:t>
            </a:r>
          </a:p>
        </p:txBody>
      </p:sp>
      <p:sp>
        <p:nvSpPr>
          <p:cNvPr id="7" name="Rectangle 6">
            <a:extLst>
              <a:ext uri="{FF2B5EF4-FFF2-40B4-BE49-F238E27FC236}">
                <a16:creationId xmlns:a16="http://schemas.microsoft.com/office/drawing/2014/main" id="{487C4639-1798-213F-D8B0-C953E1E0F91F}"/>
              </a:ext>
            </a:extLst>
          </p:cNvPr>
          <p:cNvSpPr/>
          <p:nvPr/>
        </p:nvSpPr>
        <p:spPr>
          <a:xfrm>
            <a:off x="1578863" y="2099972"/>
            <a:ext cx="2228639" cy="2097124"/>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tx1"/>
                </a:solidFill>
              </a:rPr>
              <a:t>A </a:t>
            </a:r>
            <a:r>
              <a:rPr lang="en-US" b="1" dirty="0">
                <a:solidFill>
                  <a:schemeClr val="tx1"/>
                </a:solidFill>
              </a:rPr>
              <a:t>Line Chart</a:t>
            </a:r>
            <a:r>
              <a:rPr lang="en-US" dirty="0">
                <a:solidFill>
                  <a:schemeClr val="tx1"/>
                </a:solidFill>
              </a:rPr>
              <a:t> with </a:t>
            </a:r>
            <a:r>
              <a:rPr lang="en-US" dirty="0" err="1">
                <a:solidFill>
                  <a:schemeClr val="tx1"/>
                </a:solidFill>
              </a:rPr>
              <a:t>created_at</a:t>
            </a:r>
            <a:r>
              <a:rPr lang="en-US" dirty="0">
                <a:solidFill>
                  <a:schemeClr val="tx1"/>
                </a:solidFill>
              </a:rPr>
              <a:t> on the X-axis and </a:t>
            </a:r>
            <a:r>
              <a:rPr lang="en-US" dirty="0" err="1">
                <a:solidFill>
                  <a:schemeClr val="tx1"/>
                </a:solidFill>
              </a:rPr>
              <a:t>website_session_id</a:t>
            </a:r>
            <a:r>
              <a:rPr lang="en-US" dirty="0">
                <a:solidFill>
                  <a:schemeClr val="tx1"/>
                </a:solidFill>
              </a:rPr>
              <a:t> (Count) on the Y-axis, using </a:t>
            </a:r>
            <a:r>
              <a:rPr lang="en-US" dirty="0" err="1">
                <a:solidFill>
                  <a:schemeClr val="tx1"/>
                </a:solidFill>
              </a:rPr>
              <a:t>utm_source</a:t>
            </a:r>
            <a:endParaRPr lang="en-US" dirty="0">
              <a:solidFill>
                <a:schemeClr val="tx1"/>
              </a:solidFill>
            </a:endParaRPr>
          </a:p>
        </p:txBody>
      </p:sp>
      <p:sp>
        <p:nvSpPr>
          <p:cNvPr id="8" name="Rectangle 7">
            <a:extLst>
              <a:ext uri="{FF2B5EF4-FFF2-40B4-BE49-F238E27FC236}">
                <a16:creationId xmlns:a16="http://schemas.microsoft.com/office/drawing/2014/main" id="{B3D57005-4D6B-926A-9854-11488904D083}"/>
              </a:ext>
            </a:extLst>
          </p:cNvPr>
          <p:cNvSpPr/>
          <p:nvPr/>
        </p:nvSpPr>
        <p:spPr>
          <a:xfrm>
            <a:off x="1591054" y="4285088"/>
            <a:ext cx="2228639" cy="1978552"/>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dirty="0">
                <a:solidFill>
                  <a:schemeClr val="tx1"/>
                </a:solidFill>
              </a:rPr>
              <a:t>A </a:t>
            </a:r>
            <a:r>
              <a:rPr lang="en-US" sz="1600" b="1" dirty="0">
                <a:solidFill>
                  <a:schemeClr val="tx1"/>
                </a:solidFill>
              </a:rPr>
              <a:t>Clustered Bar Chart</a:t>
            </a:r>
            <a:r>
              <a:rPr lang="en-US" sz="1600" dirty="0">
                <a:solidFill>
                  <a:schemeClr val="tx1"/>
                </a:solidFill>
              </a:rPr>
              <a:t> comparing the average </a:t>
            </a:r>
            <a:r>
              <a:rPr lang="en-US" sz="1600" dirty="0" err="1">
                <a:solidFill>
                  <a:schemeClr val="tx1"/>
                </a:solidFill>
              </a:rPr>
              <a:t>price_usd</a:t>
            </a:r>
            <a:r>
              <a:rPr lang="en-US" sz="1600" dirty="0">
                <a:solidFill>
                  <a:schemeClr val="tx1"/>
                </a:solidFill>
              </a:rPr>
              <a:t> and bounce rate across different </a:t>
            </a:r>
            <a:r>
              <a:rPr lang="en-US" sz="1600" dirty="0" err="1">
                <a:solidFill>
                  <a:schemeClr val="tx1"/>
                </a:solidFill>
              </a:rPr>
              <a:t>utm_source</a:t>
            </a:r>
            <a:r>
              <a:rPr lang="en-US" sz="1600" dirty="0">
                <a:solidFill>
                  <a:schemeClr val="tx1"/>
                </a:solidFill>
              </a:rPr>
              <a:t> categories</a:t>
            </a:r>
          </a:p>
        </p:txBody>
      </p:sp>
      <p:sp>
        <p:nvSpPr>
          <p:cNvPr id="10" name="Rectangle 9">
            <a:extLst>
              <a:ext uri="{FF2B5EF4-FFF2-40B4-BE49-F238E27FC236}">
                <a16:creationId xmlns:a16="http://schemas.microsoft.com/office/drawing/2014/main" id="{0622AA4C-FD7C-EAF4-4258-13C9931E16B1}"/>
              </a:ext>
            </a:extLst>
          </p:cNvPr>
          <p:cNvSpPr/>
          <p:nvPr/>
        </p:nvSpPr>
        <p:spPr>
          <a:xfrm>
            <a:off x="9125551" y="2099972"/>
            <a:ext cx="2871150" cy="2094276"/>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tx1"/>
                </a:solidFill>
              </a:rPr>
              <a:t>A </a:t>
            </a:r>
            <a:r>
              <a:rPr lang="en-US" b="1" dirty="0" err="1">
                <a:solidFill>
                  <a:schemeClr val="tx1"/>
                </a:solidFill>
              </a:rPr>
              <a:t>Treemap</a:t>
            </a:r>
            <a:r>
              <a:rPr lang="en-US" dirty="0">
                <a:solidFill>
                  <a:schemeClr val="tx1"/>
                </a:solidFill>
              </a:rPr>
              <a:t> showing the total </a:t>
            </a:r>
            <a:r>
              <a:rPr lang="en-US" dirty="0" err="1">
                <a:solidFill>
                  <a:schemeClr val="tx1"/>
                </a:solidFill>
              </a:rPr>
              <a:t>price_usd</a:t>
            </a:r>
            <a:r>
              <a:rPr lang="en-US" dirty="0">
                <a:solidFill>
                  <a:schemeClr val="tx1"/>
                </a:solidFill>
              </a:rPr>
              <a:t> (Revenue) where the size of the blocks is determined by the </a:t>
            </a:r>
            <a:r>
              <a:rPr lang="en-US" dirty="0" err="1">
                <a:solidFill>
                  <a:schemeClr val="tx1"/>
                </a:solidFill>
              </a:rPr>
              <a:t>utm_source</a:t>
            </a:r>
            <a:endParaRPr lang="en-US" dirty="0">
              <a:solidFill>
                <a:schemeClr val="tx1"/>
              </a:solidFill>
            </a:endParaRPr>
          </a:p>
        </p:txBody>
      </p:sp>
      <p:sp>
        <p:nvSpPr>
          <p:cNvPr id="12" name="Rectangle 11">
            <a:extLst>
              <a:ext uri="{FF2B5EF4-FFF2-40B4-BE49-F238E27FC236}">
                <a16:creationId xmlns:a16="http://schemas.microsoft.com/office/drawing/2014/main" id="{CA691591-DC8C-0F24-B100-98C454BA6EB4}"/>
              </a:ext>
            </a:extLst>
          </p:cNvPr>
          <p:cNvSpPr/>
          <p:nvPr/>
        </p:nvSpPr>
        <p:spPr>
          <a:xfrm>
            <a:off x="9125551" y="4270248"/>
            <a:ext cx="2871376" cy="2014828"/>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dirty="0">
                <a:solidFill>
                  <a:schemeClr val="tx1"/>
                </a:solidFill>
              </a:rPr>
              <a:t>New v/s Repeat Channel Patterns:</a:t>
            </a:r>
            <a:r>
              <a:rPr lang="en-US" sz="1600" dirty="0">
                <a:solidFill>
                  <a:schemeClr val="tx1"/>
                </a:solidFill>
              </a:rPr>
              <a:t> A </a:t>
            </a:r>
            <a:r>
              <a:rPr lang="en-US" sz="1600" b="1" dirty="0">
                <a:solidFill>
                  <a:schemeClr val="tx1"/>
                </a:solidFill>
              </a:rPr>
              <a:t>100% Stacked Bar Chart</a:t>
            </a:r>
            <a:r>
              <a:rPr lang="en-US" sz="1600" dirty="0">
                <a:solidFill>
                  <a:schemeClr val="tx1"/>
                </a:solidFill>
              </a:rPr>
              <a:t> showing </a:t>
            </a:r>
            <a:r>
              <a:rPr lang="en-US" sz="1600" dirty="0" err="1">
                <a:solidFill>
                  <a:schemeClr val="tx1"/>
                </a:solidFill>
              </a:rPr>
              <a:t>utm_source</a:t>
            </a:r>
            <a:r>
              <a:rPr lang="en-US" sz="1600" dirty="0">
                <a:solidFill>
                  <a:schemeClr val="tx1"/>
                </a:solidFill>
              </a:rPr>
              <a:t> on the Y-axis and the percentage of New vs. Repeat sessions on the X-axis. </a:t>
            </a:r>
          </a:p>
        </p:txBody>
      </p:sp>
      <p:sp>
        <p:nvSpPr>
          <p:cNvPr id="13" name="Rectangle 12">
            <a:extLst>
              <a:ext uri="{FF2B5EF4-FFF2-40B4-BE49-F238E27FC236}">
                <a16:creationId xmlns:a16="http://schemas.microsoft.com/office/drawing/2014/main" id="{C3CBDC91-40E5-3A1D-10B8-E3C6817EBA36}"/>
              </a:ext>
            </a:extLst>
          </p:cNvPr>
          <p:cNvSpPr/>
          <p:nvPr/>
        </p:nvSpPr>
        <p:spPr>
          <a:xfrm>
            <a:off x="3864003" y="2097124"/>
            <a:ext cx="2755393" cy="2097124"/>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tx1"/>
                </a:solidFill>
              </a:rPr>
              <a:t>A </a:t>
            </a:r>
            <a:r>
              <a:rPr lang="en-US" b="1" dirty="0">
                <a:solidFill>
                  <a:schemeClr val="tx1"/>
                </a:solidFill>
              </a:rPr>
              <a:t>Stacked Area Chart</a:t>
            </a:r>
            <a:r>
              <a:rPr lang="en-US" dirty="0">
                <a:solidFill>
                  <a:schemeClr val="tx1"/>
                </a:solidFill>
              </a:rPr>
              <a:t> showing session volume over time, segmented by </a:t>
            </a:r>
            <a:r>
              <a:rPr lang="en-US" dirty="0" err="1">
                <a:solidFill>
                  <a:schemeClr val="tx1"/>
                </a:solidFill>
              </a:rPr>
              <a:t>device_type</a:t>
            </a:r>
            <a:endParaRPr lang="en-US" dirty="0">
              <a:solidFill>
                <a:schemeClr val="tx1"/>
              </a:solidFill>
            </a:endParaRPr>
          </a:p>
        </p:txBody>
      </p:sp>
      <p:sp>
        <p:nvSpPr>
          <p:cNvPr id="14" name="Rectangle 13">
            <a:extLst>
              <a:ext uri="{FF2B5EF4-FFF2-40B4-BE49-F238E27FC236}">
                <a16:creationId xmlns:a16="http://schemas.microsoft.com/office/drawing/2014/main" id="{4336BE90-9171-D0AE-4FFA-3668907EA306}"/>
              </a:ext>
            </a:extLst>
          </p:cNvPr>
          <p:cNvSpPr/>
          <p:nvPr/>
        </p:nvSpPr>
        <p:spPr>
          <a:xfrm>
            <a:off x="3876195" y="4285088"/>
            <a:ext cx="2731011" cy="2014828"/>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solidFill>
                  <a:schemeClr val="tx1"/>
                </a:solidFill>
              </a:rPr>
              <a:t>A </a:t>
            </a:r>
            <a:r>
              <a:rPr lang="en-US" b="1" dirty="0">
                <a:solidFill>
                  <a:schemeClr val="tx1"/>
                </a:solidFill>
              </a:rPr>
              <a:t>Pie Chart</a:t>
            </a:r>
            <a:r>
              <a:rPr lang="en-US" dirty="0">
                <a:solidFill>
                  <a:schemeClr val="tx1"/>
                </a:solidFill>
              </a:rPr>
              <a:t> or </a:t>
            </a:r>
            <a:r>
              <a:rPr lang="en-US" b="1" dirty="0">
                <a:solidFill>
                  <a:schemeClr val="tx1"/>
                </a:solidFill>
              </a:rPr>
              <a:t>Donut Chart</a:t>
            </a:r>
            <a:r>
              <a:rPr lang="en-US" dirty="0">
                <a:solidFill>
                  <a:schemeClr val="tx1"/>
                </a:solidFill>
              </a:rPr>
              <a:t> showing the split between NEW AND </a:t>
            </a:r>
            <a:r>
              <a:rPr lang="en-IN" dirty="0">
                <a:solidFill>
                  <a:schemeClr val="tx1"/>
                </a:solidFill>
              </a:rPr>
              <a:t>Repeat</a:t>
            </a:r>
          </a:p>
        </p:txBody>
      </p:sp>
      <p:sp>
        <p:nvSpPr>
          <p:cNvPr id="9" name="Rectangle 8">
            <a:extLst>
              <a:ext uri="{FF2B5EF4-FFF2-40B4-BE49-F238E27FC236}">
                <a16:creationId xmlns:a16="http://schemas.microsoft.com/office/drawing/2014/main" id="{4D365DEC-7D12-4922-BA27-190937CF56EB}"/>
              </a:ext>
            </a:extLst>
          </p:cNvPr>
          <p:cNvSpPr/>
          <p:nvPr/>
        </p:nvSpPr>
        <p:spPr>
          <a:xfrm>
            <a:off x="6675897" y="2097124"/>
            <a:ext cx="2393152" cy="2097124"/>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dirty="0">
                <a:solidFill>
                  <a:schemeClr val="tx1"/>
                </a:solidFill>
              </a:rPr>
              <a:t>A </a:t>
            </a:r>
            <a:r>
              <a:rPr lang="en-US" sz="1600" b="1" dirty="0">
                <a:solidFill>
                  <a:schemeClr val="tx1"/>
                </a:solidFill>
              </a:rPr>
              <a:t>Scatter Plot</a:t>
            </a:r>
            <a:r>
              <a:rPr lang="en-US" sz="1600" dirty="0">
                <a:solidFill>
                  <a:schemeClr val="tx1"/>
                </a:solidFill>
              </a:rPr>
              <a:t> comparing "Cost per Session" (if available) or "Revenue per Session" against "Conversion Rate" for different </a:t>
            </a:r>
            <a:r>
              <a:rPr lang="en-US" sz="1600" dirty="0" err="1">
                <a:solidFill>
                  <a:schemeClr val="tx1"/>
                </a:solidFill>
              </a:rPr>
              <a:t>utm_content</a:t>
            </a:r>
            <a:r>
              <a:rPr lang="en-US" sz="1600" dirty="0">
                <a:solidFill>
                  <a:schemeClr val="tx1"/>
                </a:solidFill>
              </a:rPr>
              <a:t> tags</a:t>
            </a:r>
          </a:p>
        </p:txBody>
      </p:sp>
      <p:sp>
        <p:nvSpPr>
          <p:cNvPr id="11" name="Rectangle 10">
            <a:extLst>
              <a:ext uri="{FF2B5EF4-FFF2-40B4-BE49-F238E27FC236}">
                <a16:creationId xmlns:a16="http://schemas.microsoft.com/office/drawing/2014/main" id="{69E0F090-7101-ACDC-FD02-13308D08C105}"/>
              </a:ext>
            </a:extLst>
          </p:cNvPr>
          <p:cNvSpPr/>
          <p:nvPr/>
        </p:nvSpPr>
        <p:spPr>
          <a:xfrm>
            <a:off x="6688088" y="4270772"/>
            <a:ext cx="2380961" cy="2014828"/>
          </a:xfrm>
          <a:prstGeom prst="rect">
            <a:avLst/>
          </a:prstGeom>
          <a:solidFill>
            <a:schemeClr val="bg2">
              <a:lumMod val="10000"/>
              <a:lumOff val="9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dirty="0">
                <a:solidFill>
                  <a:schemeClr val="tx1"/>
                </a:solidFill>
              </a:rPr>
              <a:t>A </a:t>
            </a:r>
            <a:r>
              <a:rPr lang="en-US" sz="1600" b="1" dirty="0">
                <a:solidFill>
                  <a:schemeClr val="tx1"/>
                </a:solidFill>
              </a:rPr>
              <a:t>Histogram</a:t>
            </a:r>
            <a:r>
              <a:rPr lang="en-US" sz="1600" dirty="0">
                <a:solidFill>
                  <a:schemeClr val="tx1"/>
                </a:solidFill>
              </a:rPr>
              <a:t> showing the "Time Between Sessions" for repeat customers.</a:t>
            </a:r>
          </a:p>
        </p:txBody>
      </p:sp>
    </p:spTree>
    <p:extLst>
      <p:ext uri="{BB962C8B-B14F-4D97-AF65-F5344CB8AC3E}">
        <p14:creationId xmlns:p14="http://schemas.microsoft.com/office/powerpoint/2010/main" val="31055760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604C5-5B6F-6465-2637-9B31D66EB43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30B4825-ADD3-8AAA-5EBB-2BAC2FB86E06}"/>
              </a:ext>
            </a:extLst>
          </p:cNvPr>
          <p:cNvSpPr txBox="1"/>
          <p:nvPr/>
        </p:nvSpPr>
        <p:spPr>
          <a:xfrm>
            <a:off x="0" y="193887"/>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3200" dirty="0"/>
              <a:t>What technology stack do you want to use and why?</a:t>
            </a:r>
            <a:endParaRPr lang="en-IN" sz="3200" dirty="0">
              <a:sym typeface="Arial"/>
            </a:endParaRPr>
          </a:p>
        </p:txBody>
      </p:sp>
      <p:sp>
        <p:nvSpPr>
          <p:cNvPr id="3" name="TextBox 2">
            <a:extLst>
              <a:ext uri="{FF2B5EF4-FFF2-40B4-BE49-F238E27FC236}">
                <a16:creationId xmlns:a16="http://schemas.microsoft.com/office/drawing/2014/main" id="{31270AC8-43BD-B8AF-A7EA-D2AC84D97797}"/>
              </a:ext>
            </a:extLst>
          </p:cNvPr>
          <p:cNvSpPr txBox="1"/>
          <p:nvPr/>
        </p:nvSpPr>
        <p:spPr>
          <a:xfrm>
            <a:off x="0" y="778662"/>
            <a:ext cx="12071758" cy="4524315"/>
          </a:xfrm>
          <a:prstGeom prst="rect">
            <a:avLst/>
          </a:prstGeom>
          <a:noFill/>
        </p:spPr>
        <p:txBody>
          <a:bodyPr wrap="square">
            <a:spAutoFit/>
          </a:bodyPr>
          <a:lstStyle/>
          <a:p>
            <a:r>
              <a:rPr lang="en-IN" b="1" dirty="0"/>
              <a:t>Proposed Technology Stack</a:t>
            </a:r>
          </a:p>
          <a:p>
            <a:endParaRPr lang="en-IN" b="1" dirty="0"/>
          </a:p>
          <a:p>
            <a:r>
              <a:rPr lang="en-IN" b="1" dirty="0"/>
              <a:t>Python (Pandas/NumPy): </a:t>
            </a:r>
            <a:r>
              <a:rPr lang="en-IN" dirty="0"/>
              <a:t>Used for data manipulation and cleaning. Python allows for reproducible workflows, making it easy to update the analysis as new monthly data arrives.</a:t>
            </a:r>
          </a:p>
          <a:p>
            <a:endParaRPr lang="en-IN" dirty="0"/>
          </a:p>
          <a:p>
            <a:r>
              <a:rPr lang="en-IN" b="1" dirty="0"/>
              <a:t>Google </a:t>
            </a:r>
            <a:r>
              <a:rPr lang="en-IN" b="1" dirty="0" err="1"/>
              <a:t>Colab</a:t>
            </a:r>
            <a:r>
              <a:rPr lang="en-IN" b="1" dirty="0"/>
              <a:t> / </a:t>
            </a:r>
            <a:r>
              <a:rPr lang="en-IN" b="1" dirty="0" err="1"/>
              <a:t>Jupyter</a:t>
            </a:r>
            <a:r>
              <a:rPr lang="en-IN" b="1" dirty="0"/>
              <a:t> Notebooks: </a:t>
            </a:r>
            <a:r>
              <a:rPr lang="en-IN" dirty="0"/>
              <a:t>The primary development environment. It provides a collaborative space to combine code, visualizations, and documentation in one place.</a:t>
            </a:r>
          </a:p>
          <a:p>
            <a:endParaRPr lang="en-IN" dirty="0"/>
          </a:p>
          <a:p>
            <a:r>
              <a:rPr lang="en-IN" b="1" dirty="0"/>
              <a:t>Matplotlib &amp; Seaborn: </a:t>
            </a:r>
            <a:r>
              <a:rPr lang="en-IN" dirty="0"/>
              <a:t>The core visualization libraries. These were chosen to create clean, professional charts that clearly communicate trends like the "hockey stick" revenue growth.</a:t>
            </a:r>
          </a:p>
          <a:p>
            <a:endParaRPr lang="en-IN" dirty="0"/>
          </a:p>
          <a:p>
            <a:r>
              <a:rPr lang="en-IN" b="1" dirty="0"/>
              <a:t>SQL (SSMS): </a:t>
            </a:r>
            <a:r>
              <a:rPr lang="en-IN" dirty="0"/>
              <a:t>Used for data querying. While the current data is in CSV format, SQL is the "language of business" and is essential for joining large tables like </a:t>
            </a:r>
            <a:r>
              <a:rPr lang="en-IN" dirty="0" err="1"/>
              <a:t>website_pageviews</a:t>
            </a:r>
            <a:r>
              <a:rPr lang="en-IN" dirty="0"/>
              <a:t> efficiently.</a:t>
            </a:r>
          </a:p>
          <a:p>
            <a:endParaRPr lang="en-IN" dirty="0"/>
          </a:p>
          <a:p>
            <a:r>
              <a:rPr lang="en-IN" b="1" dirty="0"/>
              <a:t>Power BI : </a:t>
            </a:r>
            <a:r>
              <a:rPr lang="en-IN" dirty="0"/>
              <a:t>Proposed for the final dashboarding. While Python is great for EDA, these tools allow Cindy and her stakeholders to interact with the data in real-time without writing code.</a:t>
            </a:r>
          </a:p>
        </p:txBody>
      </p:sp>
    </p:spTree>
    <p:extLst>
      <p:ext uri="{BB962C8B-B14F-4D97-AF65-F5344CB8AC3E}">
        <p14:creationId xmlns:p14="http://schemas.microsoft.com/office/powerpoint/2010/main" val="38929936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803B91D-5C02-48C0-DF6E-84767A9F9558}"/>
              </a:ext>
            </a:extLst>
          </p:cNvPr>
          <p:cNvSpPr txBox="1"/>
          <p:nvPr/>
        </p:nvSpPr>
        <p:spPr>
          <a:xfrm>
            <a:off x="0" y="193963"/>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3200" dirty="0">
                <a:sym typeface="Arial"/>
              </a:rPr>
              <a:t>Data Discrepancies (1/4)</a:t>
            </a:r>
          </a:p>
        </p:txBody>
      </p:sp>
      <p:sp>
        <p:nvSpPr>
          <p:cNvPr id="6" name="TextBox 5">
            <a:extLst>
              <a:ext uri="{FF2B5EF4-FFF2-40B4-BE49-F238E27FC236}">
                <a16:creationId xmlns:a16="http://schemas.microsoft.com/office/drawing/2014/main" id="{C7901697-0742-39DE-F2D5-D55F5CBE9E03}"/>
              </a:ext>
            </a:extLst>
          </p:cNvPr>
          <p:cNvSpPr txBox="1"/>
          <p:nvPr/>
        </p:nvSpPr>
        <p:spPr>
          <a:xfrm>
            <a:off x="0" y="950112"/>
            <a:ext cx="11838963" cy="1631216"/>
          </a:xfrm>
          <a:prstGeom prst="rect">
            <a:avLst/>
          </a:prstGeom>
          <a:noFill/>
        </p:spPr>
        <p:txBody>
          <a:bodyPr wrap="square">
            <a:spAutoFit/>
          </a:bodyPr>
          <a:lstStyle/>
          <a:p>
            <a:r>
              <a:rPr lang="en-IN" sz="2400" b="1" i="0" u="none" strike="noStrike" baseline="0" dirty="0">
                <a:solidFill>
                  <a:srgbClr val="000000"/>
                </a:solidFill>
                <a:latin typeface="Calibri" panose="020F0502020204030204" pitchFamily="34" charset="0"/>
              </a:rPr>
              <a:t>Orders Database: </a:t>
            </a:r>
            <a:endParaRPr lang="en-IN" sz="2400" b="0" i="0" u="none" strike="noStrike" baseline="0" dirty="0">
              <a:solidFill>
                <a:srgbClr val="000000"/>
              </a:solidFill>
              <a:latin typeface="Calibri" panose="020F0502020204030204" pitchFamily="34" charset="0"/>
            </a:endParaRPr>
          </a:p>
          <a:p>
            <a:endParaRPr lang="en-IN" sz="2000" b="1" i="0" u="none" strike="noStrike" baseline="0" dirty="0">
              <a:solidFill>
                <a:srgbClr val="000000"/>
              </a:solidFill>
              <a:latin typeface="Calibri" panose="020F0502020204030204" pitchFamily="34" charset="0"/>
            </a:endParaRPr>
          </a:p>
          <a:p>
            <a:r>
              <a:rPr lang="en-IN" sz="2000" b="1" i="0" u="none" strike="noStrike" baseline="0" dirty="0">
                <a:solidFill>
                  <a:srgbClr val="000000"/>
                </a:solidFill>
                <a:latin typeface="Calibri" panose="020F0502020204030204" pitchFamily="34" charset="0"/>
              </a:rPr>
              <a:t>Orders : </a:t>
            </a:r>
            <a:endParaRPr lang="en-IN" sz="2000" b="0" i="0" u="none" strike="noStrike" baseline="0" dirty="0">
              <a:solidFill>
                <a:srgbClr val="000000"/>
              </a:solidFill>
              <a:latin typeface="Calibri" panose="020F0502020204030204" pitchFamily="34" charset="0"/>
            </a:endParaRPr>
          </a:p>
          <a:p>
            <a:r>
              <a:rPr lang="en-US" sz="1800" b="0" i="0" u="none" strike="noStrike" baseline="0" dirty="0">
                <a:solidFill>
                  <a:srgbClr val="000000"/>
                </a:solidFill>
                <a:latin typeface="Calibri" panose="020F0502020204030204" pitchFamily="34" charset="0"/>
              </a:rPr>
              <a:t>Records consist of customers' orders with order id, time when the order is created, website session id, unique user id, product id, count of products purchased, price (revenue), and cost in USD. </a:t>
            </a:r>
            <a:endParaRPr lang="en-IN" dirty="0"/>
          </a:p>
        </p:txBody>
      </p:sp>
      <p:pic>
        <p:nvPicPr>
          <p:cNvPr id="1026" name="Picture 2">
            <a:extLst>
              <a:ext uri="{FF2B5EF4-FFF2-40B4-BE49-F238E27FC236}">
                <a16:creationId xmlns:a16="http://schemas.microsoft.com/office/drawing/2014/main" id="{0555F972-9CB1-CEB3-1C4C-7679130AAE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645731"/>
            <a:ext cx="12192000" cy="2016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51775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40DC-ABD0-BA07-BA42-9D211689AD4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4C97AC9-36DB-B0A9-448D-DB3A99642F83}"/>
              </a:ext>
            </a:extLst>
          </p:cNvPr>
          <p:cNvSpPr txBox="1"/>
          <p:nvPr/>
        </p:nvSpPr>
        <p:spPr>
          <a:xfrm>
            <a:off x="0" y="193963"/>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3200" dirty="0">
                <a:sym typeface="Arial"/>
              </a:rPr>
              <a:t>Data Discrepancies (2/4)</a:t>
            </a:r>
          </a:p>
        </p:txBody>
      </p:sp>
      <p:sp>
        <p:nvSpPr>
          <p:cNvPr id="3" name="TextBox 2">
            <a:extLst>
              <a:ext uri="{FF2B5EF4-FFF2-40B4-BE49-F238E27FC236}">
                <a16:creationId xmlns:a16="http://schemas.microsoft.com/office/drawing/2014/main" id="{E91CF29A-0748-B8AA-06F0-7D9F31394337}"/>
              </a:ext>
            </a:extLst>
          </p:cNvPr>
          <p:cNvSpPr txBox="1"/>
          <p:nvPr/>
        </p:nvSpPr>
        <p:spPr>
          <a:xfrm>
            <a:off x="0" y="778738"/>
            <a:ext cx="12080147" cy="1323439"/>
          </a:xfrm>
          <a:prstGeom prst="rect">
            <a:avLst/>
          </a:prstGeom>
          <a:noFill/>
        </p:spPr>
        <p:txBody>
          <a:bodyPr wrap="square">
            <a:spAutoFit/>
          </a:bodyPr>
          <a:lstStyle/>
          <a:p>
            <a:pPr algn="l"/>
            <a:r>
              <a:rPr lang="en-IN" sz="2400" b="1" i="0" u="none" strike="noStrike" baseline="0" dirty="0">
                <a:latin typeface="Calibri-Bold"/>
              </a:rPr>
              <a:t>Orders Database:</a:t>
            </a:r>
          </a:p>
          <a:p>
            <a:pPr algn="l"/>
            <a:r>
              <a:rPr lang="en-IN" sz="2000" b="1" i="0" u="none" strike="noStrike" baseline="0" dirty="0">
                <a:latin typeface="Calibri-Bold"/>
              </a:rPr>
              <a:t> </a:t>
            </a:r>
            <a:r>
              <a:rPr lang="en-IN" sz="2000" b="1" i="0" u="none" strike="noStrike" baseline="0" dirty="0" err="1">
                <a:latin typeface="Calibri-Bold"/>
              </a:rPr>
              <a:t>Order_items</a:t>
            </a:r>
            <a:r>
              <a:rPr lang="en-IN" sz="2000" b="1" i="0" u="none" strike="noStrike" baseline="0" dirty="0">
                <a:latin typeface="Calibri-Bold"/>
              </a:rPr>
              <a:t> :</a:t>
            </a:r>
          </a:p>
          <a:p>
            <a:pPr algn="l"/>
            <a:r>
              <a:rPr lang="en-US" sz="1800" b="0" i="0" u="none" strike="noStrike" baseline="0" dirty="0">
                <a:latin typeface="Calibri" panose="020F0502020204030204" pitchFamily="34" charset="0"/>
              </a:rPr>
              <a:t>Records show various items ordered by customer with order item id, when the order is created, whether it is primary or nonprimary item, product info, individual product price, and cost in USD</a:t>
            </a:r>
            <a:r>
              <a:rPr lang="en-US" sz="800" b="1" i="0" u="none" strike="noStrike" baseline="0" dirty="0">
                <a:latin typeface="Calibri-Bold"/>
              </a:rPr>
              <a:t>.</a:t>
            </a:r>
            <a:endParaRPr lang="en-IN" dirty="0"/>
          </a:p>
        </p:txBody>
      </p:sp>
      <p:pic>
        <p:nvPicPr>
          <p:cNvPr id="4098" name="Picture 2">
            <a:extLst>
              <a:ext uri="{FF2B5EF4-FFF2-40B4-BE49-F238E27FC236}">
                <a16:creationId xmlns:a16="http://schemas.microsoft.com/office/drawing/2014/main" id="{F05BBC60-52EA-2D80-986D-2AE4CE028C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775" y="2183859"/>
            <a:ext cx="10115550" cy="190476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E147ABE-00B1-85C9-47A0-22FD1209E87E}"/>
              </a:ext>
            </a:extLst>
          </p:cNvPr>
          <p:cNvSpPr txBox="1"/>
          <p:nvPr/>
        </p:nvSpPr>
        <p:spPr>
          <a:xfrm>
            <a:off x="132215" y="4170310"/>
            <a:ext cx="11176145" cy="400110"/>
          </a:xfrm>
          <a:prstGeom prst="rect">
            <a:avLst/>
          </a:prstGeom>
          <a:noFill/>
        </p:spPr>
        <p:txBody>
          <a:bodyPr wrap="square">
            <a:spAutoFit/>
          </a:bodyPr>
          <a:lstStyle/>
          <a:p>
            <a:r>
              <a:rPr lang="en-US" sz="2000" b="1" i="0" u="none" strike="noStrike" baseline="0" dirty="0" err="1">
                <a:latin typeface="Calibri-Bold"/>
              </a:rPr>
              <a:t>order_item_refunds</a:t>
            </a:r>
            <a:r>
              <a:rPr lang="en-US" sz="2000" b="1" i="0" u="none" strike="noStrike" baseline="0" dirty="0">
                <a:latin typeface="Calibri-Bold"/>
              </a:rPr>
              <a:t> : </a:t>
            </a:r>
            <a:r>
              <a:rPr lang="en-US" sz="1800" b="0" i="0" u="none" strike="noStrike" baseline="0" dirty="0">
                <a:latin typeface="Calibri" panose="020F0502020204030204" pitchFamily="34" charset="0"/>
              </a:rPr>
              <a:t>Refund information including when creation date and time and refund amount in USD.</a:t>
            </a:r>
            <a:endParaRPr lang="en-IN" dirty="0"/>
          </a:p>
        </p:txBody>
      </p:sp>
      <p:pic>
        <p:nvPicPr>
          <p:cNvPr id="4100" name="Picture 4">
            <a:extLst>
              <a:ext uri="{FF2B5EF4-FFF2-40B4-BE49-F238E27FC236}">
                <a16:creationId xmlns:a16="http://schemas.microsoft.com/office/drawing/2014/main" id="{492CA8FF-3641-39C7-3655-CB042A9B49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140" y="4652102"/>
            <a:ext cx="10039350" cy="1647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51872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25993-9DAC-6830-0B3E-BFAE00F9C67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7F60EC6-01A6-734F-06AF-ACAF8D0957E3}"/>
              </a:ext>
            </a:extLst>
          </p:cNvPr>
          <p:cNvSpPr txBox="1"/>
          <p:nvPr/>
        </p:nvSpPr>
        <p:spPr>
          <a:xfrm>
            <a:off x="0" y="193963"/>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3200" dirty="0">
                <a:sym typeface="Arial"/>
              </a:rPr>
              <a:t>Data Discrepancies (3/4)</a:t>
            </a:r>
          </a:p>
        </p:txBody>
      </p:sp>
      <p:sp>
        <p:nvSpPr>
          <p:cNvPr id="3" name="TextBox 2">
            <a:extLst>
              <a:ext uri="{FF2B5EF4-FFF2-40B4-BE49-F238E27FC236}">
                <a16:creationId xmlns:a16="http://schemas.microsoft.com/office/drawing/2014/main" id="{3612CBA4-33EC-61ED-B021-17968030C776}"/>
              </a:ext>
            </a:extLst>
          </p:cNvPr>
          <p:cNvSpPr txBox="1"/>
          <p:nvPr/>
        </p:nvSpPr>
        <p:spPr>
          <a:xfrm>
            <a:off x="0" y="778738"/>
            <a:ext cx="12192000" cy="1323439"/>
          </a:xfrm>
          <a:prstGeom prst="rect">
            <a:avLst/>
          </a:prstGeom>
          <a:noFill/>
        </p:spPr>
        <p:txBody>
          <a:bodyPr wrap="square">
            <a:spAutoFit/>
          </a:bodyPr>
          <a:lstStyle/>
          <a:p>
            <a:r>
              <a:rPr lang="en-IN" sz="2400" b="1" i="0" u="none" strike="noStrike" baseline="0" dirty="0">
                <a:solidFill>
                  <a:srgbClr val="000000"/>
                </a:solidFill>
                <a:latin typeface="Calibri" panose="020F0502020204030204" pitchFamily="34" charset="0"/>
              </a:rPr>
              <a:t>Website Database: </a:t>
            </a:r>
            <a:endParaRPr lang="en-IN" sz="2400" b="0" i="0" u="none" strike="noStrike" baseline="0" dirty="0">
              <a:solidFill>
                <a:srgbClr val="000000"/>
              </a:solidFill>
              <a:latin typeface="Calibri" panose="020F0502020204030204" pitchFamily="34" charset="0"/>
            </a:endParaRPr>
          </a:p>
          <a:p>
            <a:r>
              <a:rPr lang="en-US" sz="2000" b="1" i="0" u="none" strike="noStrike" baseline="0" dirty="0" err="1">
                <a:solidFill>
                  <a:srgbClr val="000000"/>
                </a:solidFill>
                <a:latin typeface="Calibri" panose="020F0502020204030204" pitchFamily="34" charset="0"/>
              </a:rPr>
              <a:t>website_sessions</a:t>
            </a:r>
            <a:r>
              <a:rPr lang="en-US" sz="2000" b="1" i="0" u="none" strike="noStrike" baseline="0" dirty="0">
                <a:solidFill>
                  <a:srgbClr val="000000"/>
                </a:solidFill>
                <a:latin typeface="Calibri" panose="020F0502020204030204" pitchFamily="34" charset="0"/>
              </a:rPr>
              <a:t> : </a:t>
            </a:r>
            <a:r>
              <a:rPr lang="en-US" sz="1800" b="0" i="0" u="none" strike="noStrike" baseline="0" dirty="0">
                <a:solidFill>
                  <a:srgbClr val="000000"/>
                </a:solidFill>
                <a:latin typeface="Calibri" panose="020F0502020204030204" pitchFamily="34" charset="0"/>
              </a:rPr>
              <a:t>Table is showing where the traffic is coming from and which source is helping to generate the orders. Records consist of unique website session id, UTM (Urchin Tracking Module) fields. UTMs tracking parameters used by Google Analytics to track paid marketing activity. </a:t>
            </a:r>
          </a:p>
        </p:txBody>
      </p:sp>
      <p:pic>
        <p:nvPicPr>
          <p:cNvPr id="3074" name="Picture 2">
            <a:extLst>
              <a:ext uri="{FF2B5EF4-FFF2-40B4-BE49-F238E27FC236}">
                <a16:creationId xmlns:a16="http://schemas.microsoft.com/office/drawing/2014/main" id="{BD5E808E-7CBD-A428-0023-2F6C8DFDFC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02177"/>
            <a:ext cx="12192000" cy="16478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01390FB-E513-2B0A-11F3-72D6BCFC585D}"/>
              </a:ext>
            </a:extLst>
          </p:cNvPr>
          <p:cNvSpPr txBox="1"/>
          <p:nvPr/>
        </p:nvSpPr>
        <p:spPr>
          <a:xfrm>
            <a:off x="-65714" y="3860135"/>
            <a:ext cx="8546984" cy="400110"/>
          </a:xfrm>
          <a:prstGeom prst="rect">
            <a:avLst/>
          </a:prstGeom>
          <a:noFill/>
        </p:spPr>
        <p:txBody>
          <a:bodyPr wrap="square">
            <a:spAutoFit/>
          </a:bodyPr>
          <a:lstStyle/>
          <a:p>
            <a:r>
              <a:rPr lang="en-US" sz="2000" b="1" i="0" u="none" strike="noStrike" baseline="0" dirty="0" err="1">
                <a:latin typeface="Calibri-Bold"/>
              </a:rPr>
              <a:t>website_pageviews</a:t>
            </a:r>
            <a:r>
              <a:rPr lang="en-US" sz="2000" b="1" i="0" u="none" strike="noStrike" baseline="0" dirty="0">
                <a:latin typeface="Calibri-Bold"/>
              </a:rPr>
              <a:t>: </a:t>
            </a:r>
            <a:r>
              <a:rPr lang="en-US" sz="1800" b="0" i="0" u="none" strike="noStrike" baseline="0" dirty="0">
                <a:latin typeface="Calibri" panose="020F0502020204030204" pitchFamily="34" charset="0"/>
              </a:rPr>
              <a:t>It consists of website session id, pageview URL.</a:t>
            </a:r>
            <a:endParaRPr lang="en-IN" dirty="0"/>
          </a:p>
        </p:txBody>
      </p:sp>
      <p:pic>
        <p:nvPicPr>
          <p:cNvPr id="3076" name="Picture 4">
            <a:extLst>
              <a:ext uri="{FF2B5EF4-FFF2-40B4-BE49-F238E27FC236}">
                <a16:creationId xmlns:a16="http://schemas.microsoft.com/office/drawing/2014/main" id="{39813850-3744-B36A-E94B-D8C5286BA9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431437"/>
            <a:ext cx="9202723" cy="1819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73662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336F6-CBDD-719D-421C-A0F10A0E032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B08A9DE-458C-20E4-5B1C-D0C7F0CCF5CE}"/>
              </a:ext>
            </a:extLst>
          </p:cNvPr>
          <p:cNvSpPr txBox="1"/>
          <p:nvPr/>
        </p:nvSpPr>
        <p:spPr>
          <a:xfrm>
            <a:off x="0" y="193963"/>
            <a:ext cx="12192000" cy="58477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IN" sz="3200" dirty="0">
                <a:sym typeface="Arial"/>
              </a:rPr>
              <a:t>Data Discrepancies (4/4)</a:t>
            </a:r>
          </a:p>
        </p:txBody>
      </p:sp>
      <p:sp>
        <p:nvSpPr>
          <p:cNvPr id="3" name="TextBox 2">
            <a:extLst>
              <a:ext uri="{FF2B5EF4-FFF2-40B4-BE49-F238E27FC236}">
                <a16:creationId xmlns:a16="http://schemas.microsoft.com/office/drawing/2014/main" id="{5E7E18E2-6709-CDEF-9EC3-EFD1F1756AB2}"/>
              </a:ext>
            </a:extLst>
          </p:cNvPr>
          <p:cNvSpPr txBox="1"/>
          <p:nvPr/>
        </p:nvSpPr>
        <p:spPr>
          <a:xfrm>
            <a:off x="73404" y="922383"/>
            <a:ext cx="9204820" cy="1107996"/>
          </a:xfrm>
          <a:prstGeom prst="rect">
            <a:avLst/>
          </a:prstGeom>
          <a:noFill/>
        </p:spPr>
        <p:txBody>
          <a:bodyPr wrap="square">
            <a:spAutoFit/>
          </a:bodyPr>
          <a:lstStyle/>
          <a:p>
            <a:pPr algn="l"/>
            <a:r>
              <a:rPr lang="en-IN" sz="2400" b="1" i="0" u="none" strike="noStrike" baseline="0" dirty="0">
                <a:latin typeface="Calibri-Bold"/>
              </a:rPr>
              <a:t>Products Database:</a:t>
            </a:r>
          </a:p>
          <a:p>
            <a:pPr algn="l"/>
            <a:r>
              <a:rPr lang="en-IN" sz="2400" b="1" i="0" u="none" strike="noStrike" baseline="0" dirty="0">
                <a:latin typeface="Calibri-Bold"/>
              </a:rPr>
              <a:t>Products :</a:t>
            </a:r>
          </a:p>
          <a:p>
            <a:pPr algn="l"/>
            <a:r>
              <a:rPr lang="en-US" sz="1800" b="0" i="0" u="none" strike="noStrike" baseline="0" dirty="0">
                <a:latin typeface="Calibri" panose="020F0502020204030204" pitchFamily="34" charset="0"/>
              </a:rPr>
              <a:t>It consists of product id, creation date of product in system, and product name.</a:t>
            </a:r>
            <a:endParaRPr lang="en-IN" dirty="0"/>
          </a:p>
        </p:txBody>
      </p:sp>
      <p:pic>
        <p:nvPicPr>
          <p:cNvPr id="2050" name="Picture 2">
            <a:extLst>
              <a:ext uri="{FF2B5EF4-FFF2-40B4-BE49-F238E27FC236}">
                <a16:creationId xmlns:a16="http://schemas.microsoft.com/office/drawing/2014/main" id="{9D8AE5EF-7E00-E718-87EB-2962262097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216" y="2174024"/>
            <a:ext cx="6286500" cy="201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87266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91F797-51CB-F14C-256B-BA45541E8625}"/>
              </a:ext>
            </a:extLst>
          </p:cNvPr>
          <p:cNvSpPr txBox="1"/>
          <p:nvPr/>
        </p:nvSpPr>
        <p:spPr>
          <a:xfrm>
            <a:off x="0" y="2089419"/>
            <a:ext cx="12192000" cy="76944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lvl1pPr>
          </a:lstStyle>
          <a:p>
            <a:r>
              <a:rPr lang="en-US" sz="4400" dirty="0"/>
              <a:t>Detailed list of exploratory data analysis </a:t>
            </a:r>
            <a:endParaRPr lang="en-IN" sz="4400" dirty="0">
              <a:sym typeface="Arial"/>
            </a:endParaRPr>
          </a:p>
        </p:txBody>
      </p:sp>
    </p:spTree>
    <p:extLst>
      <p:ext uri="{BB962C8B-B14F-4D97-AF65-F5344CB8AC3E}">
        <p14:creationId xmlns:p14="http://schemas.microsoft.com/office/powerpoint/2010/main" val="29223492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03B91D-5C02-48C0-DF6E-84767A9F9558}"/>
              </a:ext>
            </a:extLst>
          </p:cNvPr>
          <p:cNvSpPr txBox="1"/>
          <p:nvPr/>
        </p:nvSpPr>
        <p:spPr>
          <a:xfrm>
            <a:off x="0" y="2299779"/>
            <a:ext cx="12192000" cy="76944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lvl1pPr>
          </a:lstStyle>
          <a:p>
            <a:r>
              <a:rPr lang="en-IN" sz="4400" dirty="0">
                <a:sym typeface="Arial"/>
              </a:rPr>
              <a:t>EDA</a:t>
            </a:r>
          </a:p>
        </p:txBody>
      </p:sp>
    </p:spTree>
    <p:extLst>
      <p:ext uri="{BB962C8B-B14F-4D97-AF65-F5344CB8AC3E}">
        <p14:creationId xmlns:p14="http://schemas.microsoft.com/office/powerpoint/2010/main" val="41132254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63518E6-FE7A-BAF6-75DD-223E0FFFFD24}"/>
              </a:ext>
            </a:extLst>
          </p:cNvPr>
          <p:cNvSpPr txBox="1"/>
          <p:nvPr/>
        </p:nvSpPr>
        <p:spPr>
          <a:xfrm>
            <a:off x="0" y="95207"/>
            <a:ext cx="12192000" cy="4616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lvl1pPr>
          </a:lstStyle>
          <a:p>
            <a:r>
              <a:rPr lang="en-IN" sz="2400" dirty="0"/>
              <a:t>E-Commerce Performance &amp; Conversion Insights</a:t>
            </a:r>
            <a:endParaRPr lang="en-IN" sz="2400" dirty="0">
              <a:sym typeface="Arial"/>
            </a:endParaRPr>
          </a:p>
        </p:txBody>
      </p:sp>
      <p:pic>
        <p:nvPicPr>
          <p:cNvPr id="4" name="Picture 3">
            <a:extLst>
              <a:ext uri="{FF2B5EF4-FFF2-40B4-BE49-F238E27FC236}">
                <a16:creationId xmlns:a16="http://schemas.microsoft.com/office/drawing/2014/main" id="{852B17B6-DC34-C3C2-5736-856FF20030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07371"/>
            <a:ext cx="12192000" cy="5225143"/>
          </a:xfrm>
          <a:prstGeom prst="rect">
            <a:avLst/>
          </a:prstGeom>
        </p:spPr>
      </p:pic>
    </p:spTree>
    <p:extLst>
      <p:ext uri="{BB962C8B-B14F-4D97-AF65-F5344CB8AC3E}">
        <p14:creationId xmlns:p14="http://schemas.microsoft.com/office/powerpoint/2010/main" val="21665878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B3312F-4C6F-BD4F-D2DC-92F145170241}"/>
              </a:ext>
            </a:extLst>
          </p:cNvPr>
          <p:cNvSpPr txBox="1"/>
          <p:nvPr/>
        </p:nvSpPr>
        <p:spPr>
          <a:xfrm>
            <a:off x="0" y="95207"/>
            <a:ext cx="12192000" cy="4616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lvl1pPr>
          </a:lstStyle>
          <a:p>
            <a:r>
              <a:rPr lang="en-IN" sz="2400" dirty="0"/>
              <a:t>E-Commerce Performance &amp; Conversion Insights</a:t>
            </a:r>
            <a:endParaRPr lang="en-IN" sz="2400" dirty="0">
              <a:sym typeface="Arial"/>
            </a:endParaRPr>
          </a:p>
        </p:txBody>
      </p:sp>
      <p:sp>
        <p:nvSpPr>
          <p:cNvPr id="6" name="TextBox 5">
            <a:extLst>
              <a:ext uri="{FF2B5EF4-FFF2-40B4-BE49-F238E27FC236}">
                <a16:creationId xmlns:a16="http://schemas.microsoft.com/office/drawing/2014/main" id="{4CA4389F-2986-BD89-F17D-F4D69CCA7486}"/>
              </a:ext>
            </a:extLst>
          </p:cNvPr>
          <p:cNvSpPr txBox="1"/>
          <p:nvPr/>
        </p:nvSpPr>
        <p:spPr>
          <a:xfrm>
            <a:off x="81793" y="1060288"/>
            <a:ext cx="10966508" cy="2031325"/>
          </a:xfrm>
          <a:prstGeom prst="rect">
            <a:avLst/>
          </a:prstGeom>
          <a:noFill/>
        </p:spPr>
        <p:txBody>
          <a:bodyPr wrap="square">
            <a:spAutoFit/>
          </a:bodyPr>
          <a:lstStyle/>
          <a:p>
            <a:pPr>
              <a:buNone/>
            </a:pPr>
            <a:r>
              <a:rPr lang="en-US" b="1" dirty="0"/>
              <a:t>Executive Summary (Business Health)</a:t>
            </a:r>
            <a:endParaRPr lang="en-US" dirty="0"/>
          </a:p>
          <a:p>
            <a:r>
              <a:rPr lang="en-US" b="1" dirty="0"/>
              <a:t>Revenue Trajectory:</a:t>
            </a:r>
            <a:r>
              <a:rPr lang="en-US" dirty="0"/>
              <a:t> Sustained month-over-month growth throughout the period, indicating successful market expansion and brand adoption.</a:t>
            </a:r>
          </a:p>
          <a:p>
            <a:r>
              <a:rPr lang="en-US" b="1" dirty="0"/>
              <a:t>Product Performance:</a:t>
            </a:r>
            <a:r>
              <a:rPr lang="en-US" dirty="0"/>
              <a:t> </a:t>
            </a:r>
            <a:r>
              <a:rPr lang="en-US" i="1" dirty="0"/>
              <a:t>The Original Mr. Fuzzy</a:t>
            </a:r>
            <a:r>
              <a:rPr lang="en-US" dirty="0"/>
              <a:t> remains the primary revenue driver, while </a:t>
            </a:r>
            <a:r>
              <a:rPr lang="en-US" i="1" dirty="0"/>
              <a:t>The Hudson River Mini Bear</a:t>
            </a:r>
            <a:r>
              <a:rPr lang="en-US" dirty="0"/>
              <a:t> maintains the highest quality rating (lowest refund rate at 1.28%).</a:t>
            </a:r>
          </a:p>
          <a:p>
            <a:pPr>
              <a:buNone/>
            </a:pPr>
            <a:r>
              <a:rPr lang="en-US" b="1" dirty="0"/>
              <a:t>Strategic Deep Dive: Conversion by Device Type</a:t>
            </a:r>
            <a:r>
              <a:rPr lang="en-US" dirty="0"/>
              <a:t> Data analysis reveals a significant performance disparity between Desktop and Mobile platforms:</a:t>
            </a:r>
          </a:p>
        </p:txBody>
      </p:sp>
      <p:graphicFrame>
        <p:nvGraphicFramePr>
          <p:cNvPr id="7" name="Table 6">
            <a:extLst>
              <a:ext uri="{FF2B5EF4-FFF2-40B4-BE49-F238E27FC236}">
                <a16:creationId xmlns:a16="http://schemas.microsoft.com/office/drawing/2014/main" id="{3B38D345-FF8E-01C0-91CE-5C42CCD10BF3}"/>
              </a:ext>
            </a:extLst>
          </p:cNvPr>
          <p:cNvGraphicFramePr>
            <a:graphicFrameLocks noGrp="1"/>
          </p:cNvGraphicFramePr>
          <p:nvPr>
            <p:extLst>
              <p:ext uri="{D42A27DB-BD31-4B8C-83A1-F6EECF244321}">
                <p14:modId xmlns:p14="http://schemas.microsoft.com/office/powerpoint/2010/main" val="3053762439"/>
              </p:ext>
            </p:extLst>
          </p:nvPr>
        </p:nvGraphicFramePr>
        <p:xfrm>
          <a:off x="435528" y="4829990"/>
          <a:ext cx="10515600" cy="1219392"/>
        </p:xfrm>
        <a:graphic>
          <a:graphicData uri="http://schemas.openxmlformats.org/drawingml/2006/table">
            <a:tbl>
              <a:tblPr/>
              <a:tblGrid>
                <a:gridCol w="2628900">
                  <a:extLst>
                    <a:ext uri="{9D8B030D-6E8A-4147-A177-3AD203B41FA5}">
                      <a16:colId xmlns:a16="http://schemas.microsoft.com/office/drawing/2014/main" val="1534087406"/>
                    </a:ext>
                  </a:extLst>
                </a:gridCol>
                <a:gridCol w="2628900">
                  <a:extLst>
                    <a:ext uri="{9D8B030D-6E8A-4147-A177-3AD203B41FA5}">
                      <a16:colId xmlns:a16="http://schemas.microsoft.com/office/drawing/2014/main" val="4293635295"/>
                    </a:ext>
                  </a:extLst>
                </a:gridCol>
                <a:gridCol w="2628900">
                  <a:extLst>
                    <a:ext uri="{9D8B030D-6E8A-4147-A177-3AD203B41FA5}">
                      <a16:colId xmlns:a16="http://schemas.microsoft.com/office/drawing/2014/main" val="1331805211"/>
                    </a:ext>
                  </a:extLst>
                </a:gridCol>
                <a:gridCol w="2628900">
                  <a:extLst>
                    <a:ext uri="{9D8B030D-6E8A-4147-A177-3AD203B41FA5}">
                      <a16:colId xmlns:a16="http://schemas.microsoft.com/office/drawing/2014/main" val="662545061"/>
                    </a:ext>
                  </a:extLst>
                </a:gridCol>
              </a:tblGrid>
              <a:tr h="0">
                <a:tc>
                  <a:txBody>
                    <a:bodyPr/>
                    <a:lstStyle/>
                    <a:p>
                      <a:pPr rtl="0">
                        <a:buNone/>
                      </a:pPr>
                      <a:r>
                        <a:rPr lang="en-IN" b="1">
                          <a:solidFill>
                            <a:srgbClr val="1F1F1F"/>
                          </a:solidFill>
                          <a:effectLst/>
                          <a:latin typeface="Google Sans Text"/>
                        </a:rPr>
                        <a:t>Device Type</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Total Sessions</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Total Orders</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Conversion Rate (CVR)</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61170472"/>
                  </a:ext>
                </a:extLst>
              </a:tr>
              <a:tr h="0">
                <a:tc>
                  <a:txBody>
                    <a:bodyPr/>
                    <a:lstStyle/>
                    <a:p>
                      <a:pPr rtl="0">
                        <a:buNone/>
                      </a:pPr>
                      <a:r>
                        <a:rPr lang="en-IN" b="1" dirty="0">
                          <a:solidFill>
                            <a:srgbClr val="1F1F1F"/>
                          </a:solidFill>
                          <a:effectLst/>
                          <a:latin typeface="Google Sans Text"/>
                        </a:rPr>
                        <a:t>Desktop</a:t>
                      </a:r>
                      <a:endParaRPr lang="en-IN"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327,027</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27,805</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8.50%</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44828791"/>
                  </a:ext>
                </a:extLst>
              </a:tr>
              <a:tr h="0">
                <a:tc>
                  <a:txBody>
                    <a:bodyPr/>
                    <a:lstStyle/>
                    <a:p>
                      <a:pPr rtl="0">
                        <a:buNone/>
                      </a:pPr>
                      <a:r>
                        <a:rPr lang="en-IN" b="1">
                          <a:solidFill>
                            <a:srgbClr val="1F1F1F"/>
                          </a:solidFill>
                          <a:effectLst/>
                          <a:latin typeface="Google Sans Text"/>
                        </a:rPr>
                        <a:t>Mobile</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145,844</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4,508</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dirty="0">
                          <a:solidFill>
                            <a:srgbClr val="1F1F1F"/>
                          </a:solidFill>
                          <a:effectLst/>
                          <a:latin typeface="Google Sans Text"/>
                        </a:rPr>
                        <a:t>3.09%</a:t>
                      </a:r>
                      <a:endParaRPr lang="en-IN"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32265163"/>
                  </a:ext>
                </a:extLst>
              </a:tr>
            </a:tbl>
          </a:graphicData>
        </a:graphic>
      </p:graphicFrame>
      <p:sp>
        <p:nvSpPr>
          <p:cNvPr id="9" name="TextBox 8">
            <a:extLst>
              <a:ext uri="{FF2B5EF4-FFF2-40B4-BE49-F238E27FC236}">
                <a16:creationId xmlns:a16="http://schemas.microsoft.com/office/drawing/2014/main" id="{CE133651-FCD5-FA1B-3668-04DC15B1A7F7}"/>
              </a:ext>
            </a:extLst>
          </p:cNvPr>
          <p:cNvSpPr txBox="1"/>
          <p:nvPr/>
        </p:nvSpPr>
        <p:spPr>
          <a:xfrm>
            <a:off x="0" y="3250113"/>
            <a:ext cx="11945923" cy="1200329"/>
          </a:xfrm>
          <a:prstGeom prst="rect">
            <a:avLst/>
          </a:prstGeom>
          <a:noFill/>
        </p:spPr>
        <p:txBody>
          <a:bodyPr wrap="square">
            <a:spAutoFit/>
          </a:bodyPr>
          <a:lstStyle/>
          <a:p>
            <a:pPr>
              <a:buNone/>
            </a:pPr>
            <a:r>
              <a:rPr lang="en-US" b="1" dirty="0"/>
              <a:t>Data-Driven Observations</a:t>
            </a:r>
            <a:endParaRPr lang="en-US" dirty="0"/>
          </a:p>
          <a:p>
            <a:pPr>
              <a:buFont typeface="Arial" panose="020B0604020202020204" pitchFamily="34" charset="0"/>
              <a:buChar char="•"/>
            </a:pPr>
            <a:r>
              <a:rPr lang="en-US" b="1" dirty="0"/>
              <a:t>The Conversion Gap:</a:t>
            </a:r>
            <a:r>
              <a:rPr lang="en-US" dirty="0"/>
              <a:t> Desktop users are </a:t>
            </a:r>
            <a:r>
              <a:rPr lang="en-US" b="1" dirty="0"/>
              <a:t>2.7x more likely</a:t>
            </a:r>
            <a:r>
              <a:rPr lang="en-US" dirty="0"/>
              <a:t> to complete a purchase than mobile users.</a:t>
            </a:r>
          </a:p>
          <a:p>
            <a:pPr>
              <a:buFont typeface="Arial" panose="020B0604020202020204" pitchFamily="34" charset="0"/>
              <a:buChar char="•"/>
            </a:pPr>
            <a:r>
              <a:rPr lang="en-US" b="1" dirty="0"/>
              <a:t>Quality Risk:</a:t>
            </a:r>
            <a:r>
              <a:rPr lang="en-US" dirty="0"/>
              <a:t> </a:t>
            </a:r>
            <a:r>
              <a:rPr lang="en-US" i="1" dirty="0"/>
              <a:t>The Birthday Sugar Panda</a:t>
            </a:r>
            <a:r>
              <a:rPr lang="en-US" dirty="0"/>
              <a:t> (Product 3) exhibits a refund rate of </a:t>
            </a:r>
            <a:r>
              <a:rPr lang="en-US" b="1" dirty="0"/>
              <a:t>6.04%</a:t>
            </a:r>
            <a:r>
              <a:rPr lang="en-US" dirty="0"/>
              <a:t>, nearly triple the portfolio average, suggesting a potential manufacturing or expectation-mismatch issue.</a:t>
            </a:r>
          </a:p>
        </p:txBody>
      </p:sp>
    </p:spTree>
    <p:extLst>
      <p:ext uri="{BB962C8B-B14F-4D97-AF65-F5344CB8AC3E}">
        <p14:creationId xmlns:p14="http://schemas.microsoft.com/office/powerpoint/2010/main" val="24920994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A5040-9A90-ABFD-8217-AB335CC5836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FFF4ED-3B53-C0A6-C3BD-0E9A0D800C43}"/>
              </a:ext>
            </a:extLst>
          </p:cNvPr>
          <p:cNvSpPr txBox="1"/>
          <p:nvPr/>
        </p:nvSpPr>
        <p:spPr>
          <a:xfrm>
            <a:off x="0" y="95207"/>
            <a:ext cx="12192000" cy="4616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lvl1pPr>
          </a:lstStyle>
          <a:p>
            <a:r>
              <a:rPr lang="en-US" sz="2400" dirty="0"/>
              <a:t>E-Commerce Growth &amp; Conversion Optimization Report</a:t>
            </a:r>
            <a:endParaRPr lang="en-IN" sz="2400" dirty="0">
              <a:sym typeface="Arial"/>
            </a:endParaRPr>
          </a:p>
        </p:txBody>
      </p:sp>
      <p:pic>
        <p:nvPicPr>
          <p:cNvPr id="3074" name="Picture 2">
            <a:extLst>
              <a:ext uri="{FF2B5EF4-FFF2-40B4-BE49-F238E27FC236}">
                <a16:creationId xmlns:a16="http://schemas.microsoft.com/office/drawing/2014/main" id="{DDC5ACF7-A137-2544-5D18-58AEE95462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149" y="825662"/>
            <a:ext cx="11251603" cy="5197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47132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18DEE6E-E33E-1442-9D5E-6A9BD7912CE2}"/>
              </a:ext>
            </a:extLst>
          </p:cNvPr>
          <p:cNvSpPr txBox="1"/>
          <p:nvPr/>
        </p:nvSpPr>
        <p:spPr>
          <a:xfrm>
            <a:off x="0" y="95207"/>
            <a:ext cx="12192000" cy="4616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lvl1pPr>
          </a:lstStyle>
          <a:p>
            <a:r>
              <a:rPr lang="en-US" sz="2400" dirty="0"/>
              <a:t>E-Commerce Growth &amp; Conversion Optimization Report</a:t>
            </a:r>
            <a:endParaRPr lang="en-IN" sz="2400" dirty="0">
              <a:sym typeface="Arial"/>
            </a:endParaRPr>
          </a:p>
        </p:txBody>
      </p:sp>
      <p:graphicFrame>
        <p:nvGraphicFramePr>
          <p:cNvPr id="5" name="Table 4">
            <a:extLst>
              <a:ext uri="{FF2B5EF4-FFF2-40B4-BE49-F238E27FC236}">
                <a16:creationId xmlns:a16="http://schemas.microsoft.com/office/drawing/2014/main" id="{40345099-5275-4B4F-AF3B-47D501725DD3}"/>
              </a:ext>
            </a:extLst>
          </p:cNvPr>
          <p:cNvGraphicFramePr>
            <a:graphicFrameLocks noGrp="1"/>
          </p:cNvGraphicFramePr>
          <p:nvPr>
            <p:extLst>
              <p:ext uri="{D42A27DB-BD31-4B8C-83A1-F6EECF244321}">
                <p14:modId xmlns:p14="http://schemas.microsoft.com/office/powerpoint/2010/main" val="3799340960"/>
              </p:ext>
            </p:extLst>
          </p:nvPr>
        </p:nvGraphicFramePr>
        <p:xfrm>
          <a:off x="427139" y="4784171"/>
          <a:ext cx="10515600" cy="1219392"/>
        </p:xfrm>
        <a:graphic>
          <a:graphicData uri="http://schemas.openxmlformats.org/drawingml/2006/table">
            <a:tbl>
              <a:tblPr/>
              <a:tblGrid>
                <a:gridCol w="2628900">
                  <a:extLst>
                    <a:ext uri="{9D8B030D-6E8A-4147-A177-3AD203B41FA5}">
                      <a16:colId xmlns:a16="http://schemas.microsoft.com/office/drawing/2014/main" val="1640625972"/>
                    </a:ext>
                  </a:extLst>
                </a:gridCol>
                <a:gridCol w="2628900">
                  <a:extLst>
                    <a:ext uri="{9D8B030D-6E8A-4147-A177-3AD203B41FA5}">
                      <a16:colId xmlns:a16="http://schemas.microsoft.com/office/drawing/2014/main" val="2482597381"/>
                    </a:ext>
                  </a:extLst>
                </a:gridCol>
                <a:gridCol w="2628900">
                  <a:extLst>
                    <a:ext uri="{9D8B030D-6E8A-4147-A177-3AD203B41FA5}">
                      <a16:colId xmlns:a16="http://schemas.microsoft.com/office/drawing/2014/main" val="3057753977"/>
                    </a:ext>
                  </a:extLst>
                </a:gridCol>
                <a:gridCol w="2628900">
                  <a:extLst>
                    <a:ext uri="{9D8B030D-6E8A-4147-A177-3AD203B41FA5}">
                      <a16:colId xmlns:a16="http://schemas.microsoft.com/office/drawing/2014/main" val="3698160210"/>
                    </a:ext>
                  </a:extLst>
                </a:gridCol>
              </a:tblGrid>
              <a:tr h="0">
                <a:tc>
                  <a:txBody>
                    <a:bodyPr/>
                    <a:lstStyle/>
                    <a:p>
                      <a:pPr rtl="0">
                        <a:buNone/>
                      </a:pPr>
                      <a:r>
                        <a:rPr lang="en-IN" b="1">
                          <a:solidFill>
                            <a:srgbClr val="1F1F1F"/>
                          </a:solidFill>
                          <a:effectLst/>
                          <a:latin typeface="Google Sans Text"/>
                        </a:rPr>
                        <a:t>Device Type</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Total Sessions</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Total Orders</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Conversion Rate (CVR)</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12607343"/>
                  </a:ext>
                </a:extLst>
              </a:tr>
              <a:tr h="0">
                <a:tc>
                  <a:txBody>
                    <a:bodyPr/>
                    <a:lstStyle/>
                    <a:p>
                      <a:pPr rtl="0">
                        <a:buNone/>
                      </a:pPr>
                      <a:r>
                        <a:rPr lang="en-IN" b="1">
                          <a:solidFill>
                            <a:srgbClr val="1F1F1F"/>
                          </a:solidFill>
                          <a:effectLst/>
                          <a:latin typeface="Google Sans Text"/>
                        </a:rPr>
                        <a:t>Desktop</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327,027</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27,805</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8.50%</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14247949"/>
                  </a:ext>
                </a:extLst>
              </a:tr>
              <a:tr h="0">
                <a:tc>
                  <a:txBody>
                    <a:bodyPr/>
                    <a:lstStyle/>
                    <a:p>
                      <a:pPr rtl="0">
                        <a:buNone/>
                      </a:pPr>
                      <a:r>
                        <a:rPr lang="en-IN" b="1">
                          <a:solidFill>
                            <a:srgbClr val="1F1F1F"/>
                          </a:solidFill>
                          <a:effectLst/>
                          <a:latin typeface="Google Sans Text"/>
                        </a:rPr>
                        <a:t>Mobile</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145,844</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4,508</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dirty="0">
                          <a:solidFill>
                            <a:srgbClr val="1F1F1F"/>
                          </a:solidFill>
                          <a:effectLst/>
                          <a:latin typeface="Google Sans Text"/>
                        </a:rPr>
                        <a:t>3.09%</a:t>
                      </a:r>
                      <a:endParaRPr lang="en-IN"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69209864"/>
                  </a:ext>
                </a:extLst>
              </a:tr>
            </a:tbl>
          </a:graphicData>
        </a:graphic>
      </p:graphicFrame>
      <p:sp>
        <p:nvSpPr>
          <p:cNvPr id="7" name="TextBox 6">
            <a:extLst>
              <a:ext uri="{FF2B5EF4-FFF2-40B4-BE49-F238E27FC236}">
                <a16:creationId xmlns:a16="http://schemas.microsoft.com/office/drawing/2014/main" id="{4DCB19BB-14F1-6620-23F3-B4CA9BC69D4A}"/>
              </a:ext>
            </a:extLst>
          </p:cNvPr>
          <p:cNvSpPr txBox="1"/>
          <p:nvPr/>
        </p:nvSpPr>
        <p:spPr>
          <a:xfrm>
            <a:off x="0" y="770785"/>
            <a:ext cx="11964798" cy="3277820"/>
          </a:xfrm>
          <a:prstGeom prst="rect">
            <a:avLst/>
          </a:prstGeom>
          <a:noFill/>
        </p:spPr>
        <p:txBody>
          <a:bodyPr wrap="square">
            <a:spAutoFit/>
          </a:bodyPr>
          <a:lstStyle/>
          <a:p>
            <a:pPr>
              <a:lnSpc>
                <a:spcPct val="150000"/>
              </a:lnSpc>
              <a:buNone/>
            </a:pPr>
            <a:r>
              <a:rPr lang="en-US" b="1" dirty="0"/>
              <a:t>Executive Performance Summary</a:t>
            </a:r>
          </a:p>
          <a:p>
            <a:pPr>
              <a:lnSpc>
                <a:spcPct val="150000"/>
              </a:lnSpc>
              <a:buFont typeface="Arial" panose="020B0604020202020204" pitchFamily="34" charset="0"/>
              <a:buChar char="•"/>
            </a:pPr>
            <a:r>
              <a:rPr lang="en-US" b="1" dirty="0"/>
              <a:t>Revenue Trend:</a:t>
            </a:r>
            <a:r>
              <a:rPr lang="en-US" dirty="0"/>
              <a:t> Sustained upward growth trajectory; revenue peaks correlate with successful holiday expansion and product launches.</a:t>
            </a:r>
          </a:p>
          <a:p>
            <a:pPr>
              <a:buFont typeface="Arial" panose="020B0604020202020204" pitchFamily="34" charset="0"/>
              <a:buChar char="•"/>
            </a:pPr>
            <a:r>
              <a:rPr lang="en-US" b="1" dirty="0"/>
              <a:t>Core Driver:</a:t>
            </a:r>
            <a:r>
              <a:rPr lang="en-US" dirty="0"/>
              <a:t> </a:t>
            </a:r>
            <a:r>
              <a:rPr lang="en-US" i="1" dirty="0"/>
              <a:t>The Original Mr. Fuzzy</a:t>
            </a:r>
            <a:r>
              <a:rPr lang="en-US" dirty="0"/>
              <a:t> continues to anchor the portfolio as the highest-volume sales driver.</a:t>
            </a:r>
          </a:p>
          <a:p>
            <a:pPr>
              <a:buFont typeface="Arial" panose="020B0604020202020204" pitchFamily="34" charset="0"/>
              <a:buChar char="•"/>
            </a:pPr>
            <a:endParaRPr lang="en-US" dirty="0"/>
          </a:p>
          <a:p>
            <a:pPr>
              <a:buFont typeface="Arial" panose="020B0604020202020204" pitchFamily="34" charset="0"/>
              <a:buChar char="•"/>
            </a:pPr>
            <a:r>
              <a:rPr lang="en-US" b="1" dirty="0"/>
              <a:t>Quality Watch:</a:t>
            </a:r>
            <a:r>
              <a:rPr lang="en-US" dirty="0"/>
              <a:t> </a:t>
            </a:r>
            <a:r>
              <a:rPr lang="en-US" i="1" dirty="0"/>
              <a:t>The Birthday Sugar Panda</a:t>
            </a:r>
            <a:r>
              <a:rPr lang="en-US" dirty="0"/>
              <a:t> exhibits a </a:t>
            </a:r>
            <a:r>
              <a:rPr lang="en-US" b="1" dirty="0"/>
              <a:t>6.04% refund rate</a:t>
            </a:r>
            <a:r>
              <a:rPr lang="en-US" dirty="0"/>
              <a:t> (3x the portfolio average), requiring immediate QC investigation.</a:t>
            </a:r>
          </a:p>
          <a:p>
            <a:pPr>
              <a:buNone/>
            </a:pPr>
            <a:endParaRPr lang="en-US" dirty="0"/>
          </a:p>
          <a:p>
            <a:pPr>
              <a:buNone/>
            </a:pPr>
            <a:r>
              <a:rPr lang="en-US" b="1" dirty="0"/>
              <a:t>Deep Dive: The "Device Gap" Analysis.</a:t>
            </a:r>
          </a:p>
          <a:p>
            <a:pPr>
              <a:buNone/>
            </a:pPr>
            <a:r>
              <a:rPr lang="en-US" dirty="0"/>
              <a:t>Analysis of ~473k sessions reveals a critical performance disparity between desktop and mobile platforms:</a:t>
            </a:r>
          </a:p>
        </p:txBody>
      </p:sp>
    </p:spTree>
    <p:extLst>
      <p:ext uri="{BB962C8B-B14F-4D97-AF65-F5344CB8AC3E}">
        <p14:creationId xmlns:p14="http://schemas.microsoft.com/office/powerpoint/2010/main" val="21711942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7202002-248C-33AE-F9AB-3A483BBE07C7}"/>
              </a:ext>
            </a:extLst>
          </p:cNvPr>
          <p:cNvSpPr txBox="1"/>
          <p:nvPr/>
        </p:nvSpPr>
        <p:spPr>
          <a:xfrm>
            <a:off x="0" y="95207"/>
            <a:ext cx="12192000" cy="46166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defPPr>
              <a:defRPr lang="en-US"/>
            </a:defPPr>
            <a:lvl1pPr algn="ctr">
              <a:buClr>
                <a:srgbClr val="000000"/>
              </a:buClr>
              <a:defRPr sz="4800" cap="small"/>
            </a:lvl1pPr>
          </a:lstStyle>
          <a:p>
            <a:r>
              <a:rPr lang="en-US" sz="2400" dirty="0"/>
              <a:t>E-Commerce Growth &amp; Conversion Optimization Report</a:t>
            </a:r>
            <a:endParaRPr lang="en-IN" sz="2400" dirty="0">
              <a:sym typeface="Arial"/>
            </a:endParaRPr>
          </a:p>
        </p:txBody>
      </p:sp>
      <p:sp>
        <p:nvSpPr>
          <p:cNvPr id="6" name="TextBox 5">
            <a:extLst>
              <a:ext uri="{FF2B5EF4-FFF2-40B4-BE49-F238E27FC236}">
                <a16:creationId xmlns:a16="http://schemas.microsoft.com/office/drawing/2014/main" id="{4ACBADAA-D4EB-48A7-3998-4FE8E8D71382}"/>
              </a:ext>
            </a:extLst>
          </p:cNvPr>
          <p:cNvSpPr txBox="1"/>
          <p:nvPr/>
        </p:nvSpPr>
        <p:spPr>
          <a:xfrm>
            <a:off x="216016" y="889843"/>
            <a:ext cx="11805407" cy="4524315"/>
          </a:xfrm>
          <a:prstGeom prst="rect">
            <a:avLst/>
          </a:prstGeom>
          <a:noFill/>
        </p:spPr>
        <p:txBody>
          <a:bodyPr wrap="square">
            <a:spAutoFit/>
          </a:bodyPr>
          <a:lstStyle/>
          <a:p>
            <a:pPr>
              <a:buNone/>
            </a:pPr>
            <a:r>
              <a:rPr lang="en-US" b="1" dirty="0"/>
              <a:t>Key Insights &amp; Opportunities</a:t>
            </a:r>
          </a:p>
          <a:p>
            <a:pPr>
              <a:buNone/>
            </a:pPr>
            <a:endParaRPr lang="en-US" b="1" dirty="0"/>
          </a:p>
          <a:p>
            <a:pPr>
              <a:buFont typeface="Arial" panose="020B0604020202020204" pitchFamily="34" charset="0"/>
              <a:buChar char="•"/>
            </a:pPr>
            <a:r>
              <a:rPr lang="en-US" b="1" dirty="0"/>
              <a:t>The Conversion Leak:</a:t>
            </a:r>
            <a:r>
              <a:rPr lang="en-US" dirty="0"/>
              <a:t> Desktop users are </a:t>
            </a:r>
            <a:r>
              <a:rPr lang="en-US" b="1" dirty="0"/>
              <a:t>2.7x more likely</a:t>
            </a:r>
            <a:r>
              <a:rPr lang="en-US" dirty="0"/>
              <a:t> to complete a purchase than mobile users. Closing just 1% of this gap represents a massive untapped revenue opportunity.</a:t>
            </a:r>
          </a:p>
          <a:p>
            <a:pPr>
              <a:buFont typeface="Arial" panose="020B0604020202020204" pitchFamily="34" charset="0"/>
              <a:buChar char="•"/>
            </a:pPr>
            <a:endParaRPr lang="en-US" dirty="0"/>
          </a:p>
          <a:p>
            <a:pPr>
              <a:buFont typeface="Arial" panose="020B0604020202020204" pitchFamily="34" charset="0"/>
              <a:buChar char="•"/>
            </a:pPr>
            <a:r>
              <a:rPr lang="en-US" b="1" dirty="0"/>
              <a:t>Traffic Quality:</a:t>
            </a:r>
            <a:r>
              <a:rPr lang="en-US" dirty="0"/>
              <a:t> While mobile drives ~30% of total traffic, the current UX is failing to capture that intent, suggesting a high friction point during the mobile checkout process.</a:t>
            </a:r>
          </a:p>
          <a:p>
            <a:pPr>
              <a:buNone/>
            </a:pPr>
            <a:endParaRPr lang="en-US" b="1" dirty="0"/>
          </a:p>
          <a:p>
            <a:pPr>
              <a:buNone/>
            </a:pPr>
            <a:r>
              <a:rPr lang="en-US" b="1" dirty="0"/>
              <a:t>Strategic Recommendations</a:t>
            </a:r>
          </a:p>
          <a:p>
            <a:pPr marL="342900" indent="-342900">
              <a:buFont typeface="+mj-lt"/>
              <a:buAutoNum type="arabicPeriod"/>
            </a:pPr>
            <a:endParaRPr lang="en-US" b="1" dirty="0"/>
          </a:p>
          <a:p>
            <a:pPr marL="342900" indent="-342900">
              <a:buFont typeface="+mj-lt"/>
              <a:buAutoNum type="arabicPeriod"/>
            </a:pPr>
            <a:r>
              <a:rPr lang="en-US" b="1" dirty="0"/>
              <a:t>Mobile UX Overhaul:</a:t>
            </a:r>
            <a:r>
              <a:rPr lang="en-US" dirty="0"/>
              <a:t> Prioritize a technical audit of the mobile payment and shipping pages to reduce bounce rates.</a:t>
            </a:r>
          </a:p>
          <a:p>
            <a:pPr marL="342900" indent="-342900">
              <a:buFont typeface="+mj-lt"/>
              <a:buAutoNum type="arabicPeriod"/>
            </a:pPr>
            <a:r>
              <a:rPr lang="en-US" b="1" dirty="0"/>
              <a:t>Marketing Efficiency:</a:t>
            </a:r>
            <a:r>
              <a:rPr lang="en-US" dirty="0"/>
              <a:t> Shift aggressive bidding to </a:t>
            </a:r>
            <a:r>
              <a:rPr lang="en-US" b="1" dirty="0"/>
              <a:t>Desktop</a:t>
            </a:r>
            <a:r>
              <a:rPr lang="en-US" dirty="0"/>
              <a:t> segments for </a:t>
            </a:r>
            <a:r>
              <a:rPr lang="en-US" dirty="0" err="1"/>
              <a:t>gsearch</a:t>
            </a:r>
            <a:r>
              <a:rPr lang="en-US" dirty="0"/>
              <a:t>/</a:t>
            </a:r>
            <a:r>
              <a:rPr lang="en-US" dirty="0" err="1"/>
              <a:t>bsearch</a:t>
            </a:r>
            <a:r>
              <a:rPr lang="en-US" dirty="0"/>
              <a:t> campaigns to maximize immediate ROAS.</a:t>
            </a:r>
          </a:p>
          <a:p>
            <a:pPr marL="342900" indent="-342900">
              <a:buFont typeface="+mj-lt"/>
              <a:buAutoNum type="arabicPeriod"/>
            </a:pPr>
            <a:r>
              <a:rPr lang="en-US" b="1" dirty="0"/>
              <a:t>Product Feedback Loop:</a:t>
            </a:r>
            <a:r>
              <a:rPr lang="en-US" dirty="0"/>
              <a:t> Review customer feedback for Product 3 to determine if the high refund rate is due to shipping damage or product-description mismatch.</a:t>
            </a:r>
          </a:p>
        </p:txBody>
      </p:sp>
    </p:spTree>
    <p:extLst>
      <p:ext uri="{BB962C8B-B14F-4D97-AF65-F5344CB8AC3E}">
        <p14:creationId xmlns:p14="http://schemas.microsoft.com/office/powerpoint/2010/main" val="39504485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Bar"/>
          <p:cNvSpPr/>
          <p:nvPr/>
        </p:nvSpPr>
        <p:spPr>
          <a:xfrm>
            <a:off x="0" y="0"/>
            <a:ext cx="12192000" cy="584775"/>
          </a:xfrm>
          <a:prstGeom prst="rect">
            <a:avLst/>
          </a:prstGeom>
          <a:ln>
            <a:noFill/>
          </a:ln>
        </p:spPr>
        <p:style>
          <a:lnRef idx="3">
            <a:schemeClr val="lt1"/>
          </a:lnRef>
          <a:fillRef idx="1">
            <a:schemeClr val="accent4"/>
          </a:fillRef>
          <a:effectRef idx="1">
            <a:schemeClr val="accent4"/>
          </a:effectRef>
          <a:fontRef idx="minor">
            <a:schemeClr val="lt1"/>
          </a:fontRef>
        </p:style>
        <p:txBody>
          <a:bodyPr wrap="square" lIns="91440" tIns="45720" rIns="91440" bIns="45720">
            <a:spAutoFit/>
          </a:bodyPr>
          <a:lstStyle/>
          <a:p>
            <a:pPr algn="ctr"/>
            <a:r>
              <a:rPr lang="en-US" sz="2400" b="1" cap="small" dirty="0">
                <a:ln w="0"/>
              </a:rPr>
              <a:t>EDA Visual 1: Monthly Revenue Growth</a:t>
            </a:r>
          </a:p>
        </p:txBody>
      </p:sp>
      <p:sp>
        <p:nvSpPr>
          <p:cNvPr id="3" name="Subtitle"/>
          <p:cNvSpPr txBox="1"/>
          <p:nvPr/>
        </p:nvSpPr>
        <p:spPr>
          <a:xfrm>
            <a:off x="304800" y="609600"/>
            <a:ext cx="11582400" cy="381000"/>
          </a:xfrm>
          <a:prstGeom prst="rect">
            <a:avLst/>
          </a:prstGeom>
          <a:noFill/>
        </p:spPr>
        <p:txBody>
          <a:bodyPr wrap="square">
            <a:spAutoFit/>
          </a:bodyPr>
          <a:lstStyle/>
          <a:p>
            <a:r>
              <a:rPr lang="en-US" sz="1200" i="1" dirty="0">
                <a:solidFill>
                  <a:srgbClr val="444444"/>
                </a:solidFill>
              </a:rPr>
              <a:t>Revenue has grown significantly over the 3-year period, demonstrating strong business momentum ideal for investor confidence.</a:t>
            </a:r>
          </a:p>
        </p:txBody>
      </p:sp>
      <p:pic>
        <p:nvPicPr>
          <p:cNvPr id="4" name="ChartImage"/>
          <p:cNvPicPr>
            <a:picLocks noChangeAspect="1"/>
          </p:cNvPicPr>
          <p:nvPr/>
        </p:nvPicPr>
        <p:blipFill>
          <a:blip r:embed="rId2"/>
          <a:srcRect/>
          <a:stretch>
            <a:fillRect/>
          </a:stretch>
        </p:blipFill>
        <p:spPr>
          <a:xfrm>
            <a:off x="304800" y="1066800"/>
            <a:ext cx="11582400" cy="4724400"/>
          </a:xfrm>
          <a:prstGeom prst="rect">
            <a:avLst/>
          </a:prstGeom>
          <a:noFill/>
        </p:spPr>
      </p:pic>
      <p:sp>
        <p:nvSpPr>
          <p:cNvPr id="5" name="InsightBox"/>
          <p:cNvSpPr/>
          <p:nvPr/>
        </p:nvSpPr>
        <p:spPr>
          <a:xfrm>
            <a:off x="304800" y="5867400"/>
            <a:ext cx="11582400" cy="685800"/>
          </a:xfrm>
          <a:prstGeom prst="rect">
            <a:avLst/>
          </a:prstGeom>
          <a:solidFill>
            <a:srgbClr val="EEF4FB"/>
          </a:solidFill>
          <a:ln>
            <a:solidFill>
              <a:srgbClr val="1E2761"/>
            </a:solidFill>
          </a:ln>
        </p:spPr>
        <p:txBody>
          <a:bodyPr wrap="square" lIns="91440" tIns="45720" rIns="91440" bIns="45720">
            <a:spAutoFit/>
          </a:bodyPr>
          <a:lstStyle/>
          <a:p>
            <a:r>
              <a:rPr lang="en-US" sz="1100" b="1" dirty="0">
                <a:solidFill>
                  <a:srgbClr val="1E2761"/>
                </a:solidFill>
              </a:rPr>
              <a:t>Key Insight: Revenue shows consistent upward trajectory with seasonal peaks in Q4. Total revenue exceeds $1.9M across the full period.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Bar"/>
          <p:cNvSpPr/>
          <p:nvPr/>
        </p:nvSpPr>
        <p:spPr>
          <a:xfrm>
            <a:off x="0" y="0"/>
            <a:ext cx="12192000" cy="584775"/>
          </a:xfrm>
          <a:prstGeom prst="rect">
            <a:avLst/>
          </a:prstGeom>
          <a:ln>
            <a:noFill/>
          </a:ln>
        </p:spPr>
        <p:style>
          <a:lnRef idx="3">
            <a:schemeClr val="lt1"/>
          </a:lnRef>
          <a:fillRef idx="1">
            <a:schemeClr val="accent4"/>
          </a:fillRef>
          <a:effectRef idx="1">
            <a:schemeClr val="accent4"/>
          </a:effectRef>
          <a:fontRef idx="minor">
            <a:schemeClr val="lt1"/>
          </a:fontRef>
        </p:style>
        <p:txBody>
          <a:bodyPr wrap="square" lIns="91440" tIns="45720" rIns="91440" bIns="45720">
            <a:spAutoFit/>
          </a:bodyPr>
          <a:lstStyle/>
          <a:p>
            <a:pPr algn="ctr"/>
            <a:r>
              <a:rPr lang="en-US" sz="2400" b="1" cap="small" dirty="0">
                <a:ln w="0"/>
              </a:rPr>
              <a:t>EDA Visual 2: Device Performance Analysis</a:t>
            </a:r>
          </a:p>
        </p:txBody>
      </p:sp>
      <p:sp>
        <p:nvSpPr>
          <p:cNvPr id="3" name="Subtitle"/>
          <p:cNvSpPr txBox="1"/>
          <p:nvPr/>
        </p:nvSpPr>
        <p:spPr>
          <a:xfrm>
            <a:off x="304800" y="609600"/>
            <a:ext cx="11582400" cy="381000"/>
          </a:xfrm>
          <a:prstGeom prst="rect">
            <a:avLst/>
          </a:prstGeom>
          <a:noFill/>
        </p:spPr>
        <p:txBody>
          <a:bodyPr wrap="square">
            <a:spAutoFit/>
          </a:bodyPr>
          <a:lstStyle/>
          <a:p>
            <a:r>
              <a:rPr lang="en-US" sz="1200" i="1" dirty="0">
                <a:solidFill>
                  <a:srgbClr val="444444"/>
                </a:solidFill>
              </a:rPr>
              <a:t>Desktop users convert at nearly 3x the rate of mobile users, signaling a critical UX optimization opportunity for the mobile experience.</a:t>
            </a:r>
          </a:p>
        </p:txBody>
      </p:sp>
      <p:pic>
        <p:nvPicPr>
          <p:cNvPr id="4" name="ChartImage"/>
          <p:cNvPicPr>
            <a:picLocks noChangeAspect="1"/>
          </p:cNvPicPr>
          <p:nvPr/>
        </p:nvPicPr>
        <p:blipFill>
          <a:blip r:embed="rId2"/>
          <a:srcRect/>
          <a:stretch>
            <a:fillRect/>
          </a:stretch>
        </p:blipFill>
        <p:spPr>
          <a:xfrm>
            <a:off x="304800" y="1066800"/>
            <a:ext cx="11582400" cy="4724400"/>
          </a:xfrm>
          <a:prstGeom prst="rect">
            <a:avLst/>
          </a:prstGeom>
          <a:noFill/>
        </p:spPr>
      </p:pic>
      <p:sp>
        <p:nvSpPr>
          <p:cNvPr id="5" name="InsightBox"/>
          <p:cNvSpPr/>
          <p:nvPr/>
        </p:nvSpPr>
        <p:spPr>
          <a:xfrm>
            <a:off x="304800" y="5867400"/>
            <a:ext cx="11582400" cy="685800"/>
          </a:xfrm>
          <a:prstGeom prst="rect">
            <a:avLst/>
          </a:prstGeom>
          <a:solidFill>
            <a:srgbClr val="EEF4FB"/>
          </a:solidFill>
          <a:ln>
            <a:solidFill>
              <a:srgbClr val="1E2761"/>
            </a:solidFill>
          </a:ln>
        </p:spPr>
        <p:txBody>
          <a:bodyPr wrap="square" lIns="91440" tIns="45720" rIns="91440" bIns="45720">
            <a:spAutoFit/>
          </a:bodyPr>
          <a:lstStyle/>
          <a:p>
            <a:r>
              <a:rPr lang="en-US" sz="1100" b="1" dirty="0">
                <a:solidFill>
                  <a:srgbClr val="1E2761"/>
                </a:solidFill>
              </a:rPr>
              <a:t>Key Insight: Desktop CVR = 8.5% vs Mobile CVR = 3.1%. With 31% of sessions on mobile, improving mobile UX could unlock ~$400K+ in incremental revenue.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Bar"/>
          <p:cNvSpPr/>
          <p:nvPr/>
        </p:nvSpPr>
        <p:spPr>
          <a:xfrm>
            <a:off x="0" y="0"/>
            <a:ext cx="12192000" cy="584775"/>
          </a:xfrm>
          <a:prstGeom prst="rect">
            <a:avLst/>
          </a:prstGeom>
          <a:ln>
            <a:noFill/>
          </a:ln>
        </p:spPr>
        <p:style>
          <a:lnRef idx="3">
            <a:schemeClr val="lt1"/>
          </a:lnRef>
          <a:fillRef idx="1">
            <a:schemeClr val="accent4"/>
          </a:fillRef>
          <a:effectRef idx="1">
            <a:schemeClr val="accent4"/>
          </a:effectRef>
          <a:fontRef idx="minor">
            <a:schemeClr val="lt1"/>
          </a:fontRef>
        </p:style>
        <p:txBody>
          <a:bodyPr wrap="square" lIns="91440" tIns="45720" rIns="91440" bIns="45720">
            <a:spAutoFit/>
          </a:bodyPr>
          <a:lstStyle/>
          <a:p>
            <a:pPr algn="ctr"/>
            <a:r>
              <a:rPr lang="en-US" sz="2400" b="1" cap="small" dirty="0">
                <a:ln w="0"/>
              </a:rPr>
              <a:t>EDA Visual 3: Product Refund Rate Analysis</a:t>
            </a:r>
          </a:p>
        </p:txBody>
      </p:sp>
      <p:sp>
        <p:nvSpPr>
          <p:cNvPr id="3" name="Subtitle"/>
          <p:cNvSpPr txBox="1"/>
          <p:nvPr/>
        </p:nvSpPr>
        <p:spPr>
          <a:xfrm>
            <a:off x="304800" y="609600"/>
            <a:ext cx="11582400" cy="381000"/>
          </a:xfrm>
          <a:prstGeom prst="rect">
            <a:avLst/>
          </a:prstGeom>
          <a:noFill/>
        </p:spPr>
        <p:txBody>
          <a:bodyPr wrap="square">
            <a:spAutoFit/>
          </a:bodyPr>
          <a:lstStyle/>
          <a:p>
            <a:r>
              <a:rPr lang="en-US" sz="1200" i="1" dirty="0">
                <a:solidFill>
                  <a:srgbClr val="444444"/>
                </a:solidFill>
              </a:rPr>
              <a:t>Quality control check reveals that two products exceed average refund rates and require immediate quality or satisfaction investigation.</a:t>
            </a:r>
          </a:p>
        </p:txBody>
      </p:sp>
      <p:pic>
        <p:nvPicPr>
          <p:cNvPr id="4" name="ChartImage"/>
          <p:cNvPicPr>
            <a:picLocks noChangeAspect="1"/>
          </p:cNvPicPr>
          <p:nvPr/>
        </p:nvPicPr>
        <p:blipFill>
          <a:blip r:embed="rId2"/>
          <a:srcRect/>
          <a:stretch>
            <a:fillRect/>
          </a:stretch>
        </p:blipFill>
        <p:spPr>
          <a:xfrm>
            <a:off x="304800" y="1066800"/>
            <a:ext cx="11582400" cy="4724400"/>
          </a:xfrm>
          <a:prstGeom prst="rect">
            <a:avLst/>
          </a:prstGeom>
          <a:noFill/>
        </p:spPr>
      </p:pic>
      <p:sp>
        <p:nvSpPr>
          <p:cNvPr id="5" name="InsightBox"/>
          <p:cNvSpPr/>
          <p:nvPr/>
        </p:nvSpPr>
        <p:spPr>
          <a:xfrm>
            <a:off x="304800" y="5867400"/>
            <a:ext cx="11582400" cy="685800"/>
          </a:xfrm>
          <a:prstGeom prst="rect">
            <a:avLst/>
          </a:prstGeom>
          <a:solidFill>
            <a:srgbClr val="EEF4FB"/>
          </a:solidFill>
          <a:ln>
            <a:solidFill>
              <a:srgbClr val="1E2761"/>
            </a:solidFill>
          </a:ln>
        </p:spPr>
        <p:txBody>
          <a:bodyPr wrap="square" lIns="91440" tIns="45720" rIns="91440" bIns="45720">
            <a:spAutoFit/>
          </a:bodyPr>
          <a:lstStyle/>
          <a:p>
            <a:r>
              <a:rPr lang="en-US" sz="1100" b="1" dirty="0">
                <a:solidFill>
                  <a:srgbClr val="1E2761"/>
                </a:solidFill>
              </a:rPr>
              <a:t>Key Insight: "The Birthday Sugar Panda" (6.0%) and "The Original Mr. Fuzzy" (5.1%) have above-average refund rates. "Hudson River Mini Bear" is the healthiest at 1.3%.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Bar"/>
          <p:cNvSpPr/>
          <p:nvPr/>
        </p:nvSpPr>
        <p:spPr>
          <a:xfrm>
            <a:off x="0" y="0"/>
            <a:ext cx="12192000" cy="584775"/>
          </a:xfrm>
          <a:prstGeom prst="rect">
            <a:avLst/>
          </a:prstGeom>
          <a:ln>
            <a:noFill/>
          </a:ln>
        </p:spPr>
        <p:style>
          <a:lnRef idx="3">
            <a:schemeClr val="lt1"/>
          </a:lnRef>
          <a:fillRef idx="1">
            <a:schemeClr val="accent4"/>
          </a:fillRef>
          <a:effectRef idx="1">
            <a:schemeClr val="accent4"/>
          </a:effectRef>
          <a:fontRef idx="minor">
            <a:schemeClr val="lt1"/>
          </a:fontRef>
        </p:style>
        <p:txBody>
          <a:bodyPr wrap="square" lIns="91440" tIns="45720" rIns="91440" bIns="45720">
            <a:spAutoFit/>
          </a:bodyPr>
          <a:lstStyle/>
          <a:p>
            <a:pPr algn="ctr"/>
            <a:r>
              <a:rPr lang="en-US" sz="2400" b="1" cap="small" dirty="0">
                <a:ln w="0"/>
              </a:rPr>
              <a:t>EDA Visual 4: Traffic Source Analysis</a:t>
            </a:r>
          </a:p>
        </p:txBody>
      </p:sp>
      <p:sp>
        <p:nvSpPr>
          <p:cNvPr id="3" name="Subtitle"/>
          <p:cNvSpPr txBox="1"/>
          <p:nvPr/>
        </p:nvSpPr>
        <p:spPr>
          <a:xfrm>
            <a:off x="304800" y="609600"/>
            <a:ext cx="11582400" cy="381000"/>
          </a:xfrm>
          <a:prstGeom prst="rect">
            <a:avLst/>
          </a:prstGeom>
          <a:noFill/>
        </p:spPr>
        <p:txBody>
          <a:bodyPr wrap="square">
            <a:spAutoFit/>
          </a:bodyPr>
          <a:lstStyle/>
          <a:p>
            <a:r>
              <a:rPr lang="en-US" sz="1200" i="1" dirty="0">
                <a:solidFill>
                  <a:srgbClr val="444444"/>
                </a:solidFill>
              </a:rPr>
              <a:t>Traffic analysis reveals dominant channel mix and monthly growth trends across paid and organic sources.</a:t>
            </a:r>
          </a:p>
        </p:txBody>
      </p:sp>
      <p:pic>
        <p:nvPicPr>
          <p:cNvPr id="4" name="ChartImage"/>
          <p:cNvPicPr>
            <a:picLocks noChangeAspect="1"/>
          </p:cNvPicPr>
          <p:nvPr/>
        </p:nvPicPr>
        <p:blipFill>
          <a:blip r:embed="rId2"/>
          <a:srcRect/>
          <a:stretch>
            <a:fillRect/>
          </a:stretch>
        </p:blipFill>
        <p:spPr>
          <a:xfrm>
            <a:off x="304800" y="1066800"/>
            <a:ext cx="11582400" cy="4724400"/>
          </a:xfrm>
          <a:prstGeom prst="rect">
            <a:avLst/>
          </a:prstGeom>
          <a:noFill/>
        </p:spPr>
      </p:pic>
      <p:sp>
        <p:nvSpPr>
          <p:cNvPr id="5" name="InsightBox"/>
          <p:cNvSpPr/>
          <p:nvPr/>
        </p:nvSpPr>
        <p:spPr>
          <a:xfrm>
            <a:off x="304800" y="5867400"/>
            <a:ext cx="11582400" cy="685800"/>
          </a:xfrm>
          <a:prstGeom prst="rect">
            <a:avLst/>
          </a:prstGeom>
          <a:solidFill>
            <a:srgbClr val="EEF4FB"/>
          </a:solidFill>
          <a:ln>
            <a:solidFill>
              <a:srgbClr val="1E2761"/>
            </a:solidFill>
          </a:ln>
        </p:spPr>
        <p:txBody>
          <a:bodyPr wrap="square" lIns="91440" tIns="45720" rIns="91440" bIns="45720">
            <a:spAutoFit/>
          </a:bodyPr>
          <a:lstStyle/>
          <a:p>
            <a:r>
              <a:rPr lang="en-US" sz="1100" b="1" dirty="0">
                <a:solidFill>
                  <a:srgbClr val="1E2761"/>
                </a:solidFill>
              </a:rPr>
              <a:t>Key Insight: The top traffic source dominates with 67% of sessions. Paid channels show strong growth post-2013, while organic traffic provides a reliable baseline.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Bar"/>
          <p:cNvSpPr/>
          <p:nvPr/>
        </p:nvSpPr>
        <p:spPr>
          <a:xfrm>
            <a:off x="0" y="0"/>
            <a:ext cx="12192000" cy="584775"/>
          </a:xfrm>
          <a:prstGeom prst="rect">
            <a:avLst/>
          </a:prstGeom>
          <a:ln>
            <a:noFill/>
          </a:ln>
        </p:spPr>
        <p:style>
          <a:lnRef idx="3">
            <a:schemeClr val="lt1"/>
          </a:lnRef>
          <a:fillRef idx="1">
            <a:schemeClr val="accent4"/>
          </a:fillRef>
          <a:effectRef idx="1">
            <a:schemeClr val="accent4"/>
          </a:effectRef>
          <a:fontRef idx="minor">
            <a:schemeClr val="lt1"/>
          </a:fontRef>
        </p:style>
        <p:txBody>
          <a:bodyPr wrap="square" lIns="91440" tIns="45720" rIns="91440" bIns="45720">
            <a:spAutoFit/>
          </a:bodyPr>
          <a:lstStyle/>
          <a:p>
            <a:pPr algn="ctr"/>
            <a:r>
              <a:rPr lang="en-US" sz="2400" b="1" cap="small" dirty="0">
                <a:ln w="0"/>
              </a:rPr>
              <a:t>EDA Visual 5: Revenue, COGS &amp; Margin by Product</a:t>
            </a:r>
          </a:p>
        </p:txBody>
      </p:sp>
      <p:sp>
        <p:nvSpPr>
          <p:cNvPr id="3" name="Subtitle"/>
          <p:cNvSpPr txBox="1"/>
          <p:nvPr/>
        </p:nvSpPr>
        <p:spPr>
          <a:xfrm>
            <a:off x="304800" y="609600"/>
            <a:ext cx="11582400" cy="381000"/>
          </a:xfrm>
          <a:prstGeom prst="rect">
            <a:avLst/>
          </a:prstGeom>
          <a:noFill/>
        </p:spPr>
        <p:txBody>
          <a:bodyPr wrap="square">
            <a:spAutoFit/>
          </a:bodyPr>
          <a:lstStyle/>
          <a:p>
            <a:r>
              <a:rPr lang="en-US" sz="1200" i="1" dirty="0">
                <a:solidFill>
                  <a:srgbClr val="444444"/>
                </a:solidFill>
              </a:rPr>
              <a:t>Product profitability analysis confirms all four products maintain healthy margins, with newer products achieving higher margin percentages.</a:t>
            </a:r>
          </a:p>
        </p:txBody>
      </p:sp>
      <p:pic>
        <p:nvPicPr>
          <p:cNvPr id="4" name="ChartImage"/>
          <p:cNvPicPr>
            <a:picLocks noChangeAspect="1"/>
          </p:cNvPicPr>
          <p:nvPr/>
        </p:nvPicPr>
        <p:blipFill>
          <a:blip r:embed="rId2"/>
          <a:srcRect/>
          <a:stretch>
            <a:fillRect/>
          </a:stretch>
        </p:blipFill>
        <p:spPr>
          <a:xfrm>
            <a:off x="304800" y="1066800"/>
            <a:ext cx="11582400" cy="4724400"/>
          </a:xfrm>
          <a:prstGeom prst="rect">
            <a:avLst/>
          </a:prstGeom>
          <a:noFill/>
        </p:spPr>
      </p:pic>
      <p:sp>
        <p:nvSpPr>
          <p:cNvPr id="5" name="InsightBox"/>
          <p:cNvSpPr/>
          <p:nvPr/>
        </p:nvSpPr>
        <p:spPr>
          <a:xfrm>
            <a:off x="304800" y="5867400"/>
            <a:ext cx="11582400" cy="685800"/>
          </a:xfrm>
          <a:prstGeom prst="rect">
            <a:avLst/>
          </a:prstGeom>
          <a:solidFill>
            <a:srgbClr val="EEF4FB"/>
          </a:solidFill>
          <a:ln>
            <a:solidFill>
              <a:srgbClr val="1E2761"/>
            </a:solidFill>
          </a:ln>
        </p:spPr>
        <p:txBody>
          <a:bodyPr wrap="square" lIns="91440" tIns="45720" rIns="91440" bIns="45720">
            <a:spAutoFit/>
          </a:bodyPr>
          <a:lstStyle/>
          <a:p>
            <a:r>
              <a:rPr lang="en-US" sz="1100" b="1" dirty="0">
                <a:solidFill>
                  <a:srgbClr val="1E2761"/>
                </a:solidFill>
              </a:rPr>
              <a:t>Key Insight: "The Original Mr. Fuzzy" drives 62% of total revenue at 61% margin. "Birthday Sugar Panda" and "Hudson River Mini Bear" achieve ~68% margin — best in portfolio.</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Bar"/>
          <p:cNvSpPr/>
          <p:nvPr/>
        </p:nvSpPr>
        <p:spPr>
          <a:xfrm>
            <a:off x="0" y="0"/>
            <a:ext cx="12192000" cy="584775"/>
          </a:xfrm>
          <a:prstGeom prst="rect">
            <a:avLst/>
          </a:prstGeom>
          <a:ln>
            <a:noFill/>
          </a:ln>
        </p:spPr>
        <p:style>
          <a:lnRef idx="3">
            <a:schemeClr val="lt1"/>
          </a:lnRef>
          <a:fillRef idx="1">
            <a:schemeClr val="accent4"/>
          </a:fillRef>
          <a:effectRef idx="1">
            <a:schemeClr val="accent4"/>
          </a:effectRef>
          <a:fontRef idx="minor">
            <a:schemeClr val="lt1"/>
          </a:fontRef>
        </p:style>
        <p:txBody>
          <a:bodyPr wrap="square" lIns="91440" tIns="45720" rIns="91440" bIns="45720">
            <a:spAutoFit/>
          </a:bodyPr>
          <a:lstStyle/>
          <a:p>
            <a:pPr algn="ctr"/>
            <a:r>
              <a:rPr lang="en-US" sz="2200" b="1" cap="small" dirty="0">
                <a:ln w="0"/>
              </a:rPr>
              <a:t>Univariate Analysis 1: Order Price Distribution</a:t>
            </a:r>
          </a:p>
        </p:txBody>
      </p:sp>
      <p:sp>
        <p:nvSpPr>
          <p:cNvPr id="3" name="SubText"/>
          <p:cNvSpPr txBox="1"/>
          <p:nvPr/>
        </p:nvSpPr>
        <p:spPr>
          <a:xfrm>
            <a:off x="304800" y="609600"/>
            <a:ext cx="11582400" cy="381000"/>
          </a:xfrm>
          <a:prstGeom prst="rect">
            <a:avLst/>
          </a:prstGeom>
          <a:noFill/>
        </p:spPr>
        <p:txBody>
          <a:bodyPr wrap="square">
            <a:spAutoFit/>
          </a:bodyPr>
          <a:lstStyle/>
          <a:p>
            <a:r>
              <a:rPr lang="en-US" sz="1100" i="1" dirty="0">
                <a:solidFill>
                  <a:srgbClr val="444444"/>
                </a:solidFill>
              </a:rPr>
              <a:t>Price is heavily concentrated at $49.99 and $59.99, matching the two most popular single-product price points, with a long tail for multi-item orders.</a:t>
            </a:r>
          </a:p>
        </p:txBody>
      </p:sp>
      <p:pic>
        <p:nvPicPr>
          <p:cNvPr id="4" name="Chart"/>
          <p:cNvPicPr>
            <a:picLocks noChangeAspect="1"/>
          </p:cNvPicPr>
          <p:nvPr/>
        </p:nvPicPr>
        <p:blipFill>
          <a:blip r:embed="rId2"/>
          <a:srcRect/>
          <a:stretch>
            <a:fillRect/>
          </a:stretch>
        </p:blipFill>
        <p:spPr>
          <a:xfrm>
            <a:off x="304800" y="1066800"/>
            <a:ext cx="11582400" cy="4724400"/>
          </a:xfrm>
          <a:prstGeom prst="rect">
            <a:avLst/>
          </a:prstGeom>
          <a:noFill/>
        </p:spPr>
      </p:pic>
      <p:sp>
        <p:nvSpPr>
          <p:cNvPr id="5" name="InsightBox"/>
          <p:cNvSpPr/>
          <p:nvPr/>
        </p:nvSpPr>
        <p:spPr>
          <a:xfrm>
            <a:off x="304800" y="5867400"/>
            <a:ext cx="11582400" cy="685800"/>
          </a:xfrm>
          <a:prstGeom prst="rect">
            <a:avLst/>
          </a:prstGeom>
          <a:solidFill>
            <a:srgbClr val="EEF4FB"/>
          </a:solidFill>
          <a:ln>
            <a:solidFill>
              <a:srgbClr val="1E2761"/>
            </a:solidFill>
          </a:ln>
        </p:spPr>
        <p:txBody>
          <a:bodyPr wrap="square" lIns="91440" tIns="45720" rIns="91440" bIns="45720">
            <a:spAutoFit/>
          </a:bodyPr>
          <a:lstStyle/>
          <a:p>
            <a:r>
              <a:rPr lang="en-US" sz="1000" b="1" dirty="0">
                <a:solidFill>
                  <a:srgbClr val="1E2761"/>
                </a:solidFill>
              </a:rPr>
              <a:t>Key Insight: Median = $49.99, Mean = $59.99. The $10 gap reflects multi-item upsell. Price spans $29.99 to $109.98 showing a clear tier structure across the product range.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Bar"/>
          <p:cNvSpPr/>
          <p:nvPr/>
        </p:nvSpPr>
        <p:spPr>
          <a:xfrm>
            <a:off x="0" y="0"/>
            <a:ext cx="12192000" cy="584775"/>
          </a:xfrm>
          <a:prstGeom prst="rect">
            <a:avLst/>
          </a:prstGeom>
          <a:ln>
            <a:noFill/>
          </a:ln>
        </p:spPr>
        <p:style>
          <a:lnRef idx="3">
            <a:schemeClr val="lt1"/>
          </a:lnRef>
          <a:fillRef idx="1">
            <a:schemeClr val="accent4"/>
          </a:fillRef>
          <a:effectRef idx="1">
            <a:schemeClr val="accent4"/>
          </a:effectRef>
          <a:fontRef idx="minor">
            <a:schemeClr val="lt1"/>
          </a:fontRef>
        </p:style>
        <p:txBody>
          <a:bodyPr wrap="square" lIns="91440" tIns="45720" rIns="91440" bIns="45720">
            <a:spAutoFit/>
          </a:bodyPr>
          <a:lstStyle/>
          <a:p>
            <a:pPr algn="ctr"/>
            <a:r>
              <a:rPr lang="en-US" sz="2200" b="1" cap="small" dirty="0">
                <a:ln w="0"/>
              </a:rPr>
              <a:t>Univariate Analysis 2: Categorical Variable Distributions</a:t>
            </a:r>
          </a:p>
        </p:txBody>
      </p:sp>
      <p:sp>
        <p:nvSpPr>
          <p:cNvPr id="3" name="SubText"/>
          <p:cNvSpPr txBox="1"/>
          <p:nvPr/>
        </p:nvSpPr>
        <p:spPr>
          <a:xfrm>
            <a:off x="304800" y="609600"/>
            <a:ext cx="11582400" cy="381000"/>
          </a:xfrm>
          <a:prstGeom prst="rect">
            <a:avLst/>
          </a:prstGeom>
          <a:noFill/>
        </p:spPr>
        <p:txBody>
          <a:bodyPr wrap="square">
            <a:spAutoFit/>
          </a:bodyPr>
          <a:lstStyle/>
          <a:p>
            <a:r>
              <a:rPr lang="en-US" sz="1100" i="1" dirty="0">
                <a:solidFill>
                  <a:srgbClr val="444444"/>
                </a:solidFill>
              </a:rPr>
              <a:t>Session-level breakdown reveals desktop dominates, source 0 holds 67% of sessions, and 76% of orders are single-item purchases — a clear cross-sell opportunity.</a:t>
            </a:r>
          </a:p>
        </p:txBody>
      </p:sp>
      <p:pic>
        <p:nvPicPr>
          <p:cNvPr id="4" name="Chart"/>
          <p:cNvPicPr>
            <a:picLocks noChangeAspect="1"/>
          </p:cNvPicPr>
          <p:nvPr/>
        </p:nvPicPr>
        <p:blipFill>
          <a:blip r:embed="rId2"/>
          <a:srcRect/>
          <a:stretch>
            <a:fillRect/>
          </a:stretch>
        </p:blipFill>
        <p:spPr>
          <a:xfrm>
            <a:off x="304800" y="1066800"/>
            <a:ext cx="11582400" cy="4724400"/>
          </a:xfrm>
          <a:prstGeom prst="rect">
            <a:avLst/>
          </a:prstGeom>
          <a:noFill/>
        </p:spPr>
      </p:pic>
      <p:sp>
        <p:nvSpPr>
          <p:cNvPr id="5" name="InsightBox"/>
          <p:cNvSpPr/>
          <p:nvPr/>
        </p:nvSpPr>
        <p:spPr>
          <a:xfrm>
            <a:off x="304800" y="5867400"/>
            <a:ext cx="11582400" cy="685800"/>
          </a:xfrm>
          <a:prstGeom prst="rect">
            <a:avLst/>
          </a:prstGeom>
          <a:solidFill>
            <a:srgbClr val="EEF4FB"/>
          </a:solidFill>
          <a:ln>
            <a:solidFill>
              <a:srgbClr val="1E2761"/>
            </a:solidFill>
          </a:ln>
        </p:spPr>
        <p:txBody>
          <a:bodyPr wrap="square" lIns="91440" tIns="45720" rIns="91440" bIns="45720">
            <a:spAutoFit/>
          </a:bodyPr>
          <a:lstStyle/>
          <a:p>
            <a:r>
              <a:rPr lang="en-US" sz="1000" b="1" dirty="0">
                <a:solidFill>
                  <a:srgbClr val="1E2761"/>
                </a:solidFill>
              </a:rPr>
              <a:t>Key Insight: Desktop = 69% of sessions but drives 86% of orders. Source 0 is the dominant acquisition channel. 76% of customers buy 1 item — active cross-sell is untapped.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Bar"/>
          <p:cNvSpPr/>
          <p:nvPr/>
        </p:nvSpPr>
        <p:spPr>
          <a:xfrm>
            <a:off x="0" y="0"/>
            <a:ext cx="12192000" cy="584775"/>
          </a:xfrm>
          <a:prstGeom prst="rect">
            <a:avLst/>
          </a:prstGeom>
          <a:ln>
            <a:noFill/>
          </a:ln>
        </p:spPr>
        <p:style>
          <a:lnRef idx="3">
            <a:schemeClr val="lt1"/>
          </a:lnRef>
          <a:fillRef idx="1">
            <a:schemeClr val="accent4"/>
          </a:fillRef>
          <a:effectRef idx="1">
            <a:schemeClr val="accent4"/>
          </a:effectRef>
          <a:fontRef idx="minor">
            <a:schemeClr val="lt1"/>
          </a:fontRef>
        </p:style>
        <p:txBody>
          <a:bodyPr wrap="square" lIns="91440" tIns="45720" rIns="91440" bIns="45720">
            <a:spAutoFit/>
          </a:bodyPr>
          <a:lstStyle/>
          <a:p>
            <a:pPr algn="ctr"/>
            <a:r>
              <a:rPr lang="en-US" sz="2200" b="1" cap="small" dirty="0">
                <a:ln w="0"/>
              </a:rPr>
              <a:t>Univariate Analysis 3: Session Loyalty and Refund Amounts</a:t>
            </a:r>
          </a:p>
        </p:txBody>
      </p:sp>
      <p:sp>
        <p:nvSpPr>
          <p:cNvPr id="3" name="SubText"/>
          <p:cNvSpPr txBox="1"/>
          <p:nvPr/>
        </p:nvSpPr>
        <p:spPr>
          <a:xfrm>
            <a:off x="304800" y="609600"/>
            <a:ext cx="11582400" cy="381000"/>
          </a:xfrm>
          <a:prstGeom prst="rect">
            <a:avLst/>
          </a:prstGeom>
          <a:noFill/>
        </p:spPr>
        <p:txBody>
          <a:bodyPr wrap="square">
            <a:spAutoFit/>
          </a:bodyPr>
          <a:lstStyle/>
          <a:p>
            <a:r>
              <a:rPr lang="en-US" sz="1100" i="1" dirty="0">
                <a:solidFill>
                  <a:srgbClr val="444444"/>
                </a:solidFill>
              </a:rPr>
              <a:t>New sessions account for 83% of traffic, showing the business is still primarily acquisition-driven. Refund amounts cluster around fixed product price points.</a:t>
            </a:r>
          </a:p>
        </p:txBody>
      </p:sp>
      <p:pic>
        <p:nvPicPr>
          <p:cNvPr id="4" name="Chart"/>
          <p:cNvPicPr>
            <a:picLocks noChangeAspect="1"/>
          </p:cNvPicPr>
          <p:nvPr/>
        </p:nvPicPr>
        <p:blipFill>
          <a:blip r:embed="rId2"/>
          <a:srcRect/>
          <a:stretch>
            <a:fillRect/>
          </a:stretch>
        </p:blipFill>
        <p:spPr>
          <a:xfrm>
            <a:off x="304800" y="1066800"/>
            <a:ext cx="11582400" cy="4724400"/>
          </a:xfrm>
          <a:prstGeom prst="rect">
            <a:avLst/>
          </a:prstGeom>
          <a:noFill/>
        </p:spPr>
      </p:pic>
      <p:sp>
        <p:nvSpPr>
          <p:cNvPr id="5" name="InsightBox"/>
          <p:cNvSpPr/>
          <p:nvPr/>
        </p:nvSpPr>
        <p:spPr>
          <a:xfrm>
            <a:off x="304800" y="5867400"/>
            <a:ext cx="11582400" cy="685800"/>
          </a:xfrm>
          <a:prstGeom prst="rect">
            <a:avLst/>
          </a:prstGeom>
          <a:solidFill>
            <a:srgbClr val="EEF4FB"/>
          </a:solidFill>
          <a:ln>
            <a:solidFill>
              <a:srgbClr val="1E2761"/>
            </a:solidFill>
          </a:ln>
        </p:spPr>
        <p:txBody>
          <a:bodyPr wrap="square" lIns="91440" tIns="45720" rIns="91440" bIns="45720">
            <a:spAutoFit/>
          </a:bodyPr>
          <a:lstStyle/>
          <a:p>
            <a:r>
              <a:rPr lang="en-US" sz="1000" b="1" dirty="0">
                <a:solidFill>
                  <a:srgbClr val="1E2761"/>
                </a:solidFill>
              </a:rPr>
              <a:t>Key Insight: Only 16.6% of sessions are repeats — a loyalty growth opportunity. Refunds follow discrete price clusters matching individual product prices ($29.99, $49.99).</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Bar"/>
          <p:cNvSpPr/>
          <p:nvPr/>
        </p:nvSpPr>
        <p:spPr>
          <a:xfrm>
            <a:off x="0" y="0"/>
            <a:ext cx="12192000" cy="584775"/>
          </a:xfrm>
          <a:prstGeom prst="rect">
            <a:avLst/>
          </a:prstGeom>
          <a:ln>
            <a:noFill/>
          </a:ln>
        </p:spPr>
        <p:style>
          <a:lnRef idx="3">
            <a:schemeClr val="lt1"/>
          </a:lnRef>
          <a:fillRef idx="1">
            <a:schemeClr val="accent4"/>
          </a:fillRef>
          <a:effectRef idx="1">
            <a:schemeClr val="accent4"/>
          </a:effectRef>
          <a:fontRef idx="minor">
            <a:schemeClr val="lt1"/>
          </a:fontRef>
        </p:style>
        <p:txBody>
          <a:bodyPr wrap="square" lIns="91440" tIns="45720" rIns="91440" bIns="45720">
            <a:spAutoFit/>
          </a:bodyPr>
          <a:lstStyle/>
          <a:p>
            <a:pPr algn="ctr"/>
            <a:r>
              <a:rPr lang="en-US" sz="2200" b="1" cap="small" dirty="0">
                <a:ln w="0"/>
              </a:rPr>
              <a:t>Bivariate Analysis 1: Revenue by Traffic Source and Device</a:t>
            </a:r>
          </a:p>
        </p:txBody>
      </p:sp>
      <p:sp>
        <p:nvSpPr>
          <p:cNvPr id="3" name="SubText"/>
          <p:cNvSpPr txBox="1"/>
          <p:nvPr/>
        </p:nvSpPr>
        <p:spPr>
          <a:xfrm>
            <a:off x="304800" y="609600"/>
            <a:ext cx="11582400" cy="381000"/>
          </a:xfrm>
          <a:prstGeom prst="rect">
            <a:avLst/>
          </a:prstGeom>
          <a:noFill/>
        </p:spPr>
        <p:txBody>
          <a:bodyPr wrap="square">
            <a:spAutoFit/>
          </a:bodyPr>
          <a:lstStyle/>
          <a:p>
            <a:r>
              <a:rPr lang="en-US" sz="1100" i="1" dirty="0">
                <a:solidFill>
                  <a:srgbClr val="444444"/>
                </a:solidFill>
              </a:rPr>
              <a:t>Desktop consistently outperforms mobile across every traffic source. Source 0 on desktop generates over $1M, dwarfing all other channel-device combinations.</a:t>
            </a:r>
          </a:p>
        </p:txBody>
      </p:sp>
      <p:pic>
        <p:nvPicPr>
          <p:cNvPr id="4" name="Chart"/>
          <p:cNvPicPr>
            <a:picLocks noChangeAspect="1"/>
          </p:cNvPicPr>
          <p:nvPr/>
        </p:nvPicPr>
        <p:blipFill>
          <a:blip r:embed="rId2"/>
          <a:srcRect/>
          <a:stretch>
            <a:fillRect/>
          </a:stretch>
        </p:blipFill>
        <p:spPr>
          <a:xfrm>
            <a:off x="304800" y="1066800"/>
            <a:ext cx="11582400" cy="4724400"/>
          </a:xfrm>
          <a:prstGeom prst="rect">
            <a:avLst/>
          </a:prstGeom>
          <a:noFill/>
        </p:spPr>
      </p:pic>
      <p:sp>
        <p:nvSpPr>
          <p:cNvPr id="5" name="InsightBox"/>
          <p:cNvSpPr/>
          <p:nvPr/>
        </p:nvSpPr>
        <p:spPr>
          <a:xfrm>
            <a:off x="304800" y="5867400"/>
            <a:ext cx="11582400" cy="685800"/>
          </a:xfrm>
          <a:prstGeom prst="rect">
            <a:avLst/>
          </a:prstGeom>
          <a:solidFill>
            <a:srgbClr val="EEF4FB"/>
          </a:solidFill>
          <a:ln>
            <a:solidFill>
              <a:srgbClr val="1E2761"/>
            </a:solidFill>
          </a:ln>
        </p:spPr>
        <p:txBody>
          <a:bodyPr wrap="square" lIns="91440" tIns="45720" rIns="91440" bIns="45720">
            <a:spAutoFit/>
          </a:bodyPr>
          <a:lstStyle/>
          <a:p>
            <a:r>
              <a:rPr lang="en-US" sz="1000" b="1" dirty="0">
                <a:solidFill>
                  <a:srgbClr val="1E2761"/>
                </a:solidFill>
              </a:rPr>
              <a:t>Key Insight: Desktop drives 85% of revenue across all sources. Source 0 desktop alone = $1.08M (56% of total). Mobile under-monetises despite meaningful session volume.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Bar"/>
          <p:cNvSpPr/>
          <p:nvPr/>
        </p:nvSpPr>
        <p:spPr>
          <a:xfrm>
            <a:off x="0" y="0"/>
            <a:ext cx="12192000" cy="584775"/>
          </a:xfrm>
          <a:prstGeom prst="rect">
            <a:avLst/>
          </a:prstGeom>
          <a:ln>
            <a:noFill/>
          </a:ln>
        </p:spPr>
        <p:style>
          <a:lnRef idx="3">
            <a:schemeClr val="lt1"/>
          </a:lnRef>
          <a:fillRef idx="1">
            <a:schemeClr val="accent4"/>
          </a:fillRef>
          <a:effectRef idx="1">
            <a:schemeClr val="accent4"/>
          </a:effectRef>
          <a:fontRef idx="minor">
            <a:schemeClr val="lt1"/>
          </a:fontRef>
        </p:style>
        <p:txBody>
          <a:bodyPr wrap="square" lIns="91440" tIns="45720" rIns="91440" bIns="45720">
            <a:spAutoFit/>
          </a:bodyPr>
          <a:lstStyle/>
          <a:p>
            <a:pPr algn="ctr"/>
            <a:r>
              <a:rPr lang="en-US" sz="2200" b="1" cap="small" dirty="0">
                <a:ln w="0"/>
              </a:rPr>
              <a:t>Bivariate Analysis 2: CVR Heatmap and Sessions vs Revenue</a:t>
            </a:r>
          </a:p>
        </p:txBody>
      </p:sp>
      <p:sp>
        <p:nvSpPr>
          <p:cNvPr id="3" name="SubText"/>
          <p:cNvSpPr txBox="1"/>
          <p:nvPr/>
        </p:nvSpPr>
        <p:spPr>
          <a:xfrm>
            <a:off x="304800" y="609600"/>
            <a:ext cx="11582400" cy="381000"/>
          </a:xfrm>
          <a:prstGeom prst="rect">
            <a:avLst/>
          </a:prstGeom>
          <a:noFill/>
        </p:spPr>
        <p:txBody>
          <a:bodyPr wrap="square">
            <a:spAutoFit/>
          </a:bodyPr>
          <a:lstStyle/>
          <a:p>
            <a:r>
              <a:rPr lang="en-US" sz="1100" i="1" dirty="0">
                <a:solidFill>
                  <a:srgbClr val="444444"/>
                </a:solidFill>
              </a:rPr>
              <a:t>Source 1 achieves the highest desktop CVR at 9.9%, while mobile CVR is uniformly low (~3%) regardless of source, indicating a structural mobile experience gap.</a:t>
            </a:r>
          </a:p>
        </p:txBody>
      </p:sp>
      <p:pic>
        <p:nvPicPr>
          <p:cNvPr id="4" name="Chart"/>
          <p:cNvPicPr>
            <a:picLocks noChangeAspect="1"/>
          </p:cNvPicPr>
          <p:nvPr/>
        </p:nvPicPr>
        <p:blipFill>
          <a:blip r:embed="rId2"/>
          <a:srcRect/>
          <a:stretch>
            <a:fillRect/>
          </a:stretch>
        </p:blipFill>
        <p:spPr>
          <a:xfrm>
            <a:off x="304800" y="1066800"/>
            <a:ext cx="11582400" cy="4724400"/>
          </a:xfrm>
          <a:prstGeom prst="rect">
            <a:avLst/>
          </a:prstGeom>
          <a:noFill/>
        </p:spPr>
      </p:pic>
      <p:sp>
        <p:nvSpPr>
          <p:cNvPr id="5" name="InsightBox"/>
          <p:cNvSpPr/>
          <p:nvPr/>
        </p:nvSpPr>
        <p:spPr>
          <a:xfrm>
            <a:off x="304800" y="5867400"/>
            <a:ext cx="11582400" cy="685800"/>
          </a:xfrm>
          <a:prstGeom prst="rect">
            <a:avLst/>
          </a:prstGeom>
          <a:solidFill>
            <a:srgbClr val="EEF4FB"/>
          </a:solidFill>
          <a:ln>
            <a:solidFill>
              <a:srgbClr val="1E2761"/>
            </a:solidFill>
          </a:ln>
        </p:spPr>
        <p:txBody>
          <a:bodyPr wrap="square" lIns="91440" tIns="45720" rIns="91440" bIns="45720">
            <a:spAutoFit/>
          </a:bodyPr>
          <a:lstStyle/>
          <a:p>
            <a:r>
              <a:rPr lang="en-US" sz="1000" b="1" dirty="0">
                <a:solidFill>
                  <a:srgbClr val="1E2761"/>
                </a:solidFill>
              </a:rPr>
              <a:t>Key Insight: Desktop CVR range = 5.0-9.9% across sources. Mobile CVR is flat at ~3% regardless of source, confirming the issue is device UX, not traffic quality.</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Bar"/>
          <p:cNvSpPr/>
          <p:nvPr/>
        </p:nvSpPr>
        <p:spPr>
          <a:xfrm>
            <a:off x="0" y="0"/>
            <a:ext cx="12192000" cy="584775"/>
          </a:xfrm>
          <a:prstGeom prst="rect">
            <a:avLst/>
          </a:prstGeom>
          <a:ln>
            <a:noFill/>
          </a:ln>
        </p:spPr>
        <p:style>
          <a:lnRef idx="3">
            <a:schemeClr val="lt1"/>
          </a:lnRef>
          <a:fillRef idx="1">
            <a:schemeClr val="accent4"/>
          </a:fillRef>
          <a:effectRef idx="1">
            <a:schemeClr val="accent4"/>
          </a:effectRef>
          <a:fontRef idx="minor">
            <a:schemeClr val="lt1"/>
          </a:fontRef>
        </p:style>
        <p:txBody>
          <a:bodyPr wrap="square" lIns="91440" tIns="45720" rIns="91440" bIns="45720">
            <a:spAutoFit/>
          </a:bodyPr>
          <a:lstStyle/>
          <a:p>
            <a:pPr algn="ctr"/>
            <a:r>
              <a:rPr lang="en-US" sz="2200" b="1" cap="small" dirty="0">
                <a:ln w="0"/>
              </a:rPr>
              <a:t>Multivariate Analysis: Feature Correlation Matrix</a:t>
            </a:r>
          </a:p>
        </p:txBody>
      </p:sp>
      <p:sp>
        <p:nvSpPr>
          <p:cNvPr id="3" name="SubText"/>
          <p:cNvSpPr txBox="1"/>
          <p:nvPr/>
        </p:nvSpPr>
        <p:spPr>
          <a:xfrm>
            <a:off x="304800" y="609600"/>
            <a:ext cx="11582400" cy="381000"/>
          </a:xfrm>
          <a:prstGeom prst="rect">
            <a:avLst/>
          </a:prstGeom>
          <a:noFill/>
        </p:spPr>
        <p:txBody>
          <a:bodyPr wrap="square">
            <a:spAutoFit/>
          </a:bodyPr>
          <a:lstStyle/>
          <a:p>
            <a:r>
              <a:rPr lang="en-US" sz="1100" i="1" dirty="0">
                <a:solidFill>
                  <a:srgbClr val="444444"/>
                </a:solidFill>
              </a:rPr>
              <a:t>Price and COGS show near-perfect correlation confirming fixed-margin pricing. Desktop flag shows positive correlation with conversion, validating the device gap hypothesis.</a:t>
            </a:r>
          </a:p>
        </p:txBody>
      </p:sp>
      <p:pic>
        <p:nvPicPr>
          <p:cNvPr id="4" name="Chart"/>
          <p:cNvPicPr>
            <a:picLocks noChangeAspect="1"/>
          </p:cNvPicPr>
          <p:nvPr/>
        </p:nvPicPr>
        <p:blipFill>
          <a:blip r:embed="rId2"/>
          <a:srcRect/>
          <a:stretch>
            <a:fillRect/>
          </a:stretch>
        </p:blipFill>
        <p:spPr>
          <a:xfrm>
            <a:off x="304800" y="1066800"/>
            <a:ext cx="11582400" cy="4724400"/>
          </a:xfrm>
          <a:prstGeom prst="rect">
            <a:avLst/>
          </a:prstGeom>
          <a:noFill/>
        </p:spPr>
      </p:pic>
      <p:sp>
        <p:nvSpPr>
          <p:cNvPr id="5" name="InsightBox"/>
          <p:cNvSpPr/>
          <p:nvPr/>
        </p:nvSpPr>
        <p:spPr>
          <a:xfrm>
            <a:off x="304800" y="5867400"/>
            <a:ext cx="11582400" cy="685800"/>
          </a:xfrm>
          <a:prstGeom prst="rect">
            <a:avLst/>
          </a:prstGeom>
          <a:solidFill>
            <a:srgbClr val="EEF4FB"/>
          </a:solidFill>
          <a:ln>
            <a:solidFill>
              <a:srgbClr val="1E2761"/>
            </a:solidFill>
          </a:ln>
        </p:spPr>
        <p:txBody>
          <a:bodyPr wrap="square" lIns="91440" tIns="45720" rIns="91440" bIns="45720">
            <a:spAutoFit/>
          </a:bodyPr>
          <a:lstStyle/>
          <a:p>
            <a:r>
              <a:rPr lang="en-US" sz="1000" b="1" dirty="0">
                <a:solidFill>
                  <a:srgbClr val="1E2761"/>
                </a:solidFill>
              </a:rPr>
              <a:t>Key Insight: price_usd and cogs_usd correlation is ~1.0 (fixed margin model). is_desktop correlates positively with conversion. items_purchased is weakly correlated with price.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Bar"/>
          <p:cNvSpPr/>
          <p:nvPr/>
        </p:nvSpPr>
        <p:spPr>
          <a:xfrm>
            <a:off x="0" y="0"/>
            <a:ext cx="12192000" cy="584775"/>
          </a:xfrm>
          <a:prstGeom prst="rect">
            <a:avLst/>
          </a:prstGeom>
          <a:ln>
            <a:noFill/>
          </a:ln>
        </p:spPr>
        <p:style>
          <a:lnRef idx="3">
            <a:schemeClr val="lt1"/>
          </a:lnRef>
          <a:fillRef idx="1">
            <a:schemeClr val="accent4"/>
          </a:fillRef>
          <a:effectRef idx="1">
            <a:schemeClr val="accent4"/>
          </a:effectRef>
          <a:fontRef idx="minor">
            <a:schemeClr val="lt1"/>
          </a:fontRef>
        </p:style>
        <p:txBody>
          <a:bodyPr wrap="square" lIns="91440" tIns="45720" rIns="91440" bIns="45720">
            <a:spAutoFit/>
          </a:bodyPr>
          <a:lstStyle/>
          <a:p>
            <a:pPr algn="ctr"/>
            <a:r>
              <a:rPr lang="en-US" sz="2200" b="1" cap="small" dirty="0">
                <a:ln w="0"/>
              </a:rPr>
              <a:t>Feature Distribution 1: Product Price Spread</a:t>
            </a:r>
          </a:p>
        </p:txBody>
      </p:sp>
      <p:sp>
        <p:nvSpPr>
          <p:cNvPr id="3" name="SubText"/>
          <p:cNvSpPr txBox="1"/>
          <p:nvPr/>
        </p:nvSpPr>
        <p:spPr>
          <a:xfrm>
            <a:off x="304800" y="609600"/>
            <a:ext cx="11582400" cy="381000"/>
          </a:xfrm>
          <a:prstGeom prst="rect">
            <a:avLst/>
          </a:prstGeom>
          <a:noFill/>
        </p:spPr>
        <p:txBody>
          <a:bodyPr wrap="square">
            <a:spAutoFit/>
          </a:bodyPr>
          <a:lstStyle/>
          <a:p>
            <a:r>
              <a:rPr lang="en-US" sz="1100" i="1" dirty="0">
                <a:solidFill>
                  <a:srgbClr val="444444"/>
                </a:solidFill>
              </a:rPr>
              <a:t>Each product occupies a distinct price band with minimal overlap, confirming a deliberate good-better-best tiering strategy across the four-product portfolio.</a:t>
            </a:r>
          </a:p>
        </p:txBody>
      </p:sp>
      <p:pic>
        <p:nvPicPr>
          <p:cNvPr id="4" name="Chart"/>
          <p:cNvPicPr>
            <a:picLocks noChangeAspect="1"/>
          </p:cNvPicPr>
          <p:nvPr/>
        </p:nvPicPr>
        <p:blipFill>
          <a:blip r:embed="rId2"/>
          <a:srcRect/>
          <a:stretch>
            <a:fillRect/>
          </a:stretch>
        </p:blipFill>
        <p:spPr>
          <a:xfrm>
            <a:off x="304800" y="1066800"/>
            <a:ext cx="11582400" cy="4724400"/>
          </a:xfrm>
          <a:prstGeom prst="rect">
            <a:avLst/>
          </a:prstGeom>
          <a:noFill/>
        </p:spPr>
      </p:pic>
      <p:sp>
        <p:nvSpPr>
          <p:cNvPr id="5" name="InsightBox"/>
          <p:cNvSpPr/>
          <p:nvPr/>
        </p:nvSpPr>
        <p:spPr>
          <a:xfrm>
            <a:off x="304800" y="5867400"/>
            <a:ext cx="11582400" cy="685800"/>
          </a:xfrm>
          <a:prstGeom prst="rect">
            <a:avLst/>
          </a:prstGeom>
          <a:solidFill>
            <a:srgbClr val="EEF4FB"/>
          </a:solidFill>
          <a:ln>
            <a:solidFill>
              <a:srgbClr val="1E2761"/>
            </a:solidFill>
          </a:ln>
        </p:spPr>
        <p:txBody>
          <a:bodyPr wrap="square" lIns="91440" tIns="45720" rIns="91440" bIns="45720">
            <a:spAutoFit/>
          </a:bodyPr>
          <a:lstStyle/>
          <a:p>
            <a:r>
              <a:rPr lang="en-US" sz="1000" b="1" dirty="0">
                <a:solidFill>
                  <a:srgbClr val="1E2761"/>
                </a:solidFill>
              </a:rPr>
              <a:t>Key Insight: Products have fixed price points ($29.99, $49.99, $59.99) with no overlap. Violin shapes confirm zero price variability per product — all sold at fixed retail price.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Bar"/>
          <p:cNvSpPr/>
          <p:nvPr/>
        </p:nvSpPr>
        <p:spPr>
          <a:xfrm>
            <a:off x="0" y="0"/>
            <a:ext cx="12192000" cy="584775"/>
          </a:xfrm>
          <a:prstGeom prst="rect">
            <a:avLst/>
          </a:prstGeom>
          <a:ln>
            <a:noFill/>
          </a:ln>
        </p:spPr>
        <p:style>
          <a:lnRef idx="3">
            <a:schemeClr val="lt1"/>
          </a:lnRef>
          <a:fillRef idx="1">
            <a:schemeClr val="accent4"/>
          </a:fillRef>
          <a:effectRef idx="1">
            <a:schemeClr val="accent4"/>
          </a:effectRef>
          <a:fontRef idx="minor">
            <a:schemeClr val="lt1"/>
          </a:fontRef>
        </p:style>
        <p:txBody>
          <a:bodyPr wrap="square" lIns="91440" tIns="45720" rIns="91440" bIns="45720">
            <a:spAutoFit/>
          </a:bodyPr>
          <a:lstStyle/>
          <a:p>
            <a:pPr algn="ctr"/>
            <a:r>
              <a:rPr lang="en-US" sz="2200" b="1" cap="small" dirty="0">
                <a:ln w="0"/>
              </a:rPr>
              <a:t>Feature Distribution 2: Quarterly Revenue and Product Mix</a:t>
            </a:r>
          </a:p>
        </p:txBody>
      </p:sp>
      <p:sp>
        <p:nvSpPr>
          <p:cNvPr id="3" name="SubText"/>
          <p:cNvSpPr txBox="1"/>
          <p:nvPr/>
        </p:nvSpPr>
        <p:spPr>
          <a:xfrm>
            <a:off x="304800" y="609600"/>
            <a:ext cx="11582400" cy="381000"/>
          </a:xfrm>
          <a:prstGeom prst="rect">
            <a:avLst/>
          </a:prstGeom>
          <a:noFill/>
        </p:spPr>
        <p:txBody>
          <a:bodyPr wrap="square">
            <a:spAutoFit/>
          </a:bodyPr>
          <a:lstStyle/>
          <a:p>
            <a:r>
              <a:rPr lang="en-US" sz="1100" i="1" dirty="0">
                <a:solidFill>
                  <a:srgbClr val="444444"/>
                </a:solidFill>
              </a:rPr>
              <a:t>Revenue grows every year with strong Q4 seasonality. Product mix has diversified as newer products took a larger share from 2014 onward, validating the portfolio strategy.</a:t>
            </a:r>
          </a:p>
        </p:txBody>
      </p:sp>
      <p:pic>
        <p:nvPicPr>
          <p:cNvPr id="4" name="Chart"/>
          <p:cNvPicPr>
            <a:picLocks noChangeAspect="1"/>
          </p:cNvPicPr>
          <p:nvPr/>
        </p:nvPicPr>
        <p:blipFill>
          <a:blip r:embed="rId2"/>
          <a:srcRect/>
          <a:stretch>
            <a:fillRect/>
          </a:stretch>
        </p:blipFill>
        <p:spPr>
          <a:xfrm>
            <a:off x="304800" y="1066800"/>
            <a:ext cx="11582400" cy="4724400"/>
          </a:xfrm>
          <a:prstGeom prst="rect">
            <a:avLst/>
          </a:prstGeom>
          <a:noFill/>
        </p:spPr>
      </p:pic>
      <p:sp>
        <p:nvSpPr>
          <p:cNvPr id="5" name="InsightBox"/>
          <p:cNvSpPr/>
          <p:nvPr/>
        </p:nvSpPr>
        <p:spPr>
          <a:xfrm>
            <a:off x="304800" y="5867400"/>
            <a:ext cx="11582400" cy="685800"/>
          </a:xfrm>
          <a:prstGeom prst="rect">
            <a:avLst/>
          </a:prstGeom>
          <a:solidFill>
            <a:srgbClr val="EEF4FB"/>
          </a:solidFill>
          <a:ln>
            <a:solidFill>
              <a:srgbClr val="1E2761"/>
            </a:solidFill>
          </a:ln>
        </p:spPr>
        <p:txBody>
          <a:bodyPr wrap="square" lIns="91440" tIns="45720" rIns="91440" bIns="45720">
            <a:spAutoFit/>
          </a:bodyPr>
          <a:lstStyle/>
          <a:p>
            <a:r>
              <a:rPr lang="en-US" sz="1000" b="1" dirty="0">
                <a:solidFill>
                  <a:srgbClr val="1E2761"/>
                </a:solidFill>
              </a:rPr>
              <a:t>Key Insight: Q4 revenue is 30-40% higher than Q1 consistently. Mr. Fuzzy share declined from ~100% in 2012 to ~60% by 2015 as newer products scaled successfully.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Bar"/>
          <p:cNvSpPr/>
          <p:nvPr/>
        </p:nvSpPr>
        <p:spPr>
          <a:xfrm>
            <a:off x="0" y="0"/>
            <a:ext cx="12192000" cy="584775"/>
          </a:xfrm>
          <a:prstGeom prst="rect">
            <a:avLst/>
          </a:prstGeom>
          <a:ln>
            <a:noFill/>
          </a:ln>
        </p:spPr>
        <p:style>
          <a:lnRef idx="3">
            <a:schemeClr val="lt1"/>
          </a:lnRef>
          <a:fillRef idx="1">
            <a:schemeClr val="accent4"/>
          </a:fillRef>
          <a:effectRef idx="1">
            <a:schemeClr val="accent4"/>
          </a:effectRef>
          <a:fontRef idx="minor">
            <a:schemeClr val="lt1"/>
          </a:fontRef>
        </p:style>
        <p:txBody>
          <a:bodyPr wrap="square" lIns="91440" tIns="45720" rIns="91440" bIns="45720">
            <a:spAutoFit/>
          </a:bodyPr>
          <a:lstStyle/>
          <a:p>
            <a:pPr algn="ctr"/>
            <a:r>
              <a:rPr lang="en-US" sz="2200" b="1" cap="small" dirty="0">
                <a:ln w="0"/>
              </a:rPr>
              <a:t>Feature Distribution 3: Session Behaviour and Conversion Patterns</a:t>
            </a:r>
          </a:p>
        </p:txBody>
      </p:sp>
      <p:sp>
        <p:nvSpPr>
          <p:cNvPr id="3" name="SubText"/>
          <p:cNvSpPr txBox="1"/>
          <p:nvPr/>
        </p:nvSpPr>
        <p:spPr>
          <a:xfrm>
            <a:off x="304800" y="609600"/>
            <a:ext cx="11582400" cy="381000"/>
          </a:xfrm>
          <a:prstGeom prst="rect">
            <a:avLst/>
          </a:prstGeom>
          <a:noFill/>
        </p:spPr>
        <p:txBody>
          <a:bodyPr wrap="square">
            <a:spAutoFit/>
          </a:bodyPr>
          <a:lstStyle/>
          <a:p>
            <a:r>
              <a:rPr lang="en-US" sz="1100" i="1" dirty="0">
                <a:solidFill>
                  <a:srgbClr val="444444"/>
                </a:solidFill>
              </a:rPr>
              <a:t>Repeat desktop sessions convert at 10.4% — highest of any segment — proving that loyalty combined with desktop experience is the highest-value user cohort to target.</a:t>
            </a:r>
          </a:p>
        </p:txBody>
      </p:sp>
      <p:pic>
        <p:nvPicPr>
          <p:cNvPr id="4" name="Chart"/>
          <p:cNvPicPr>
            <a:picLocks noChangeAspect="1"/>
          </p:cNvPicPr>
          <p:nvPr/>
        </p:nvPicPr>
        <p:blipFill>
          <a:blip r:embed="rId2"/>
          <a:srcRect/>
          <a:stretch>
            <a:fillRect/>
          </a:stretch>
        </p:blipFill>
        <p:spPr>
          <a:xfrm>
            <a:off x="304800" y="1066800"/>
            <a:ext cx="11582400" cy="4724400"/>
          </a:xfrm>
          <a:prstGeom prst="rect">
            <a:avLst/>
          </a:prstGeom>
          <a:noFill/>
        </p:spPr>
      </p:pic>
      <p:sp>
        <p:nvSpPr>
          <p:cNvPr id="5" name="InsightBox"/>
          <p:cNvSpPr/>
          <p:nvPr/>
        </p:nvSpPr>
        <p:spPr>
          <a:xfrm>
            <a:off x="304800" y="5867400"/>
            <a:ext cx="11582400" cy="685800"/>
          </a:xfrm>
          <a:prstGeom prst="rect">
            <a:avLst/>
          </a:prstGeom>
          <a:solidFill>
            <a:srgbClr val="EEF4FB"/>
          </a:solidFill>
          <a:ln>
            <a:solidFill>
              <a:srgbClr val="1E2761"/>
            </a:solidFill>
          </a:ln>
        </p:spPr>
        <p:txBody>
          <a:bodyPr wrap="square" lIns="91440" tIns="45720" rIns="91440" bIns="45720">
            <a:spAutoFit/>
          </a:bodyPr>
          <a:lstStyle/>
          <a:p>
            <a:r>
              <a:rPr lang="en-US" sz="1000" b="1" dirty="0">
                <a:solidFill>
                  <a:srgbClr val="1E2761"/>
                </a:solidFill>
              </a:rPr>
              <a:t>Key Insight: Repeat desktop CVR = 10.4% vs new desktop = 8.2%. Mobile CVR is flat at ~3% for both types. Combining retention strategy with desktop UX fix delivers the highest upside.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207"/>
        <p:cNvGrpSpPr/>
        <p:nvPr/>
      </p:nvGrpSpPr>
      <p:grpSpPr>
        <a:xfrm>
          <a:off x="0" y="0"/>
          <a:ext cx="0" cy="0"/>
          <a:chOff x="0" y="0"/>
          <a:chExt cx="0" cy="0"/>
        </a:xfrm>
      </p:grpSpPr>
      <p:sp>
        <p:nvSpPr>
          <p:cNvPr id="1208" name="Google Shape;1208;p46"/>
          <p:cNvSpPr txBox="1">
            <a:spLocks noGrp="1"/>
          </p:cNvSpPr>
          <p:nvPr>
            <p:ph type="subTitle" idx="1"/>
          </p:nvPr>
        </p:nvSpPr>
        <p:spPr>
          <a:xfrm>
            <a:off x="2849000" y="2488624"/>
            <a:ext cx="6494000" cy="1056800"/>
          </a:xfrm>
          <a:prstGeom prst="rect">
            <a:avLst/>
          </a:prstGeom>
          <a:noFill/>
          <a:ln>
            <a:noFill/>
          </a:ln>
        </p:spPr>
        <p:txBody>
          <a:bodyPr spcFirstLastPara="1" wrap="square" lIns="121900" tIns="121900" rIns="121900" bIns="121900" anchor="ctr" anchorCtr="0">
            <a:normAutofit fontScale="92500" lnSpcReduction="10000"/>
          </a:bodyPr>
          <a:lstStyle/>
          <a:p>
            <a:pPr marL="609585" indent="-457189"/>
            <a:r>
              <a:rPr lang="en-US" sz="6400" b="1" dirty="0"/>
              <a:t>THANK YOU!</a:t>
            </a:r>
          </a:p>
        </p:txBody>
      </p:sp>
    </p:spTree>
    <p:extLst>
      <p:ext uri="{BB962C8B-B14F-4D97-AF65-F5344CB8AC3E}">
        <p14:creationId xmlns:p14="http://schemas.microsoft.com/office/powerpoint/2010/main" val="3656772840"/>
      </p:ext>
    </p:extLst>
  </p:cSld>
  <p:clrMapOvr>
    <a:masterClrMapping/>
  </p:clrMapOvr>
</p:sld>
</file>

<file path=ppt/theme/theme1.xml><?xml version="1.0" encoding="utf-8"?>
<a:theme xmlns:a="http://schemas.openxmlformats.org/drawingml/2006/main" name="Tropic">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25315</TotalTime>
  <Words>4801</Words>
  <Application>Microsoft Office PowerPoint</Application>
  <PresentationFormat>Widescreen</PresentationFormat>
  <Paragraphs>543</Paragraphs>
  <Slides>55</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55</vt:i4>
      </vt:variant>
    </vt:vector>
  </HeadingPairs>
  <TitlesOfParts>
    <vt:vector size="64" baseType="lpstr">
      <vt:lpstr>Arial</vt:lpstr>
      <vt:lpstr>Calibri</vt:lpstr>
      <vt:lpstr>Calibri-Bold</vt:lpstr>
      <vt:lpstr>Courier New</vt:lpstr>
      <vt:lpstr>Google Sans Text</vt:lpstr>
      <vt:lpstr>Open Sans</vt:lpstr>
      <vt:lpstr>PT Sans Narrow</vt:lpstr>
      <vt:lpstr>Raleway</vt:lpstr>
      <vt:lpstr>Tropic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List of Output to Generate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oorja gund</dc:creator>
  <cp:lastModifiedBy>Harsh Pathak</cp:lastModifiedBy>
  <cp:revision>624</cp:revision>
  <dcterms:created xsi:type="dcterms:W3CDTF">2025-04-04T02:52:34Z</dcterms:created>
  <dcterms:modified xsi:type="dcterms:W3CDTF">2026-03-12T09:16:42Z</dcterms:modified>
</cp:coreProperties>
</file>